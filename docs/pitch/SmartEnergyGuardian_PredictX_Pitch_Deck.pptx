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 1 — Pitch (Arya)" id="{913ae36f-e55f-2827-5d5c-c730faf44f2f}">
          <p14:sldIdLst>
            <p14:sldId id="256"/>
            <p14:sldId id="257"/>
            <p14:sldId id="258"/>
            <p14:sldId id="259"/>
          </p14:sldIdLst>
        </p14:section>
        <p14:section name="Part 2 — How it works (Suyash)" id="{4a5a117e-8bfb-02c8-5314-2810ee5f512c}">
          <p14:sldIdLst>
            <p14:sldId id="260"/>
            <p14:sldId id="261"/>
            <p14:sldId id="262"/>
            <p14:sldId id="263"/>
          </p14:sldIdLst>
        </p14:section>
        <p14:section name="Part 3 — Software &amp; status (Arjun)" id="{f0eb6b71-6944-c6fe-db5f-35391ce74b5d}">
          <p14:sldIdLst>
            <p14:sldId id="264"/>
            <p14:sldId id="265"/>
            <p14:sldId id="266"/>
            <p14:sldId id="267"/>
          </p14:sldIdLst>
        </p14:section>
        <p14:section name="Closing" id="{b54c34f8-452e-c8e4-3d2b-d8ffac017eb7}">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E2E8F0"/>
                </a:solidFill>
                <a:latin typeface="+mn-lt"/>
              </a:defRPr>
            </a:pPr>
            <a:r>
              <a:rPr sz="1200" b="0" i="0" u="none" strike="noStrike">
                <a:solidFill>
                  <a:srgbClr val="E2E8F0"/>
                </a:solidFill>
                <a:latin typeface="+mn-lt"/>
              </a:rPr>
              <a:t>Recall by anomaly type (%)</a:t>
            </a:r>
          </a:p>
        </c:rich>
      </c:tx>
      <c:layout/>
      <c:overlay val="0"/>
    </c:title>
    <c:autoTitleDeleted val="0"/>
    <c:plotArea>
      <c:layout/>
      <c:barChart>
        <c:barDir val="bar"/>
        <c:grouping val="clustered"/>
        <c:varyColors val="0"/>
        <c:ser>
          <c:idx val="0"/>
          <c:order val="0"/>
          <c:tx>
            <c:strRef>
              <c:f>Sheet1!$B$1</c:f>
              <c:strCache>
                <c:ptCount val="1"/>
                <c:pt idx="0">
                  <c:v>Recall</c:v>
                </c:pt>
              </c:strCache>
            </c:strRef>
          </c:tx>
          <c:spPr>
            <a:solidFill>
              <a:srgbClr val="22D3EE"/>
            </a:solidFill>
            <a:effectLst/>
          </c:spPr>
          <c:invertIfNegative val="0"/>
          <c:dLbls>
            <c:numFmt formatCode="0&quot;%&quot;"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cat>
            <c:multiLvlStrRef>
              <c:f>Sheet1!$A$2:$A$6</c:f>
              <c:multiLvlStrCache>
                <c:ptCount val="5"/>
                <c:lvl>
                  <c:pt idx="0">
                    <c:v>Spike</c:v>
                  </c:pt>
                  <c:pt idx="1">
                    <c:v>Low power factor</c:v>
                  </c:pt>
                  <c:pt idx="2">
                    <c:v>Phantom load</c:v>
                  </c:pt>
                  <c:pt idx="3">
                    <c:v>Over-consumption</c:v>
                  </c:pt>
                  <c:pt idx="4">
                    <c:v>Voltage fault</c:v>
                  </c:pt>
                </c:lvl>
              </c:multiLvlStrCache>
            </c:multiLvlStrRef>
          </c:cat>
          <c:val>
            <c:numRef>
              <c:f>Sheet1!$B$2:$B$6</c:f>
              <c:numCache>
                <c:formatCode>General</c:formatCode>
                <c:ptCount val="5"/>
                <c:pt idx="0">
                  <c:v>100</c:v>
                </c:pt>
                <c:pt idx="1">
                  <c:v>100</c:v>
                </c:pt>
                <c:pt idx="2">
                  <c:v>100</c:v>
                </c:pt>
                <c:pt idx="3">
                  <c:v>91</c:v>
                </c:pt>
                <c:pt idx="4">
                  <c:v>59</c:v>
                </c:pt>
              </c:numCache>
            </c:numRef>
          </c:val>
        </c:ser>
        <c:dLbls>
          <c:numFmt formatCode="0&quot;%&quot;" sourceLinked="0"/>
          <c:txPr>
            <a:bodyPr/>
            <a:lstStyle/>
            <a:p>
              <a:pPr>
                <a:defRPr b="0" i="0" strike="noStrike" sz="1000" u="none">
                  <a:solidFill>
                    <a:srgbClr val="E2E8F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000" b="0" i="0" u="none" strike="noStrike">
                <a:solidFill>
                  <a:srgbClr val="CBD5E1"/>
                </a:solidFill>
                <a:latin typeface="+mn-lt"/>
              </a:defRPr>
            </a:pPr>
            <a:endParaRPr lang="en-US"/>
          </a:p>
        </c:txPr>
        <c:crossAx val="2094734552"/>
        <c:crosses val="autoZero"/>
        <c:auto val="1"/>
        <c:lblAlgn val="ctr"/>
        <c:noMultiLvlLbl val="1"/>
      </c:catAx>
      <c:valAx>
        <c:axId val="2094734552"/>
        <c:scaling>
          <c:orientation val="minMax"/>
          <c:max val="115"/>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 (opening, ~30 s): Good morning. We are team Jack Schneider from EEE. Our project is Smart Energy Guardian — an AI-based IoT system that finds electricity being wasted in empty classrooms, labs and hostels and switches it off safely. Our mentor is Prof. Ravichandra Halagatti. Today: Arya explains the problem and idea, Suyash explains how the system works, Arjun shows the working software and our status. Quick status up front: the software is complete and working; the hardware build is in progress and will be shown in the final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 (~1.5 min): The problem — in classrooms, labs and hostels, lights, fans, projectors and ACs are often left on after people leave. Nobody tracks it room by room, so the waste only shows up in the electricity bill. Our solution has three parts. (1) Sensing: an ESP32 in every room reads occupancy (is anyone there?) and electrical values (how much power is each appliance using?). (2) Intelligence: a decision engine checks — is the room empty for long enough, is no class scheduled, is it not an essential load like a server — and an ML model watches for abnormal electrical behaviour. (3) Action: if it is real waste, a relay switches the appliance off and the dashboard shows the alert and the money and CO2 saved. The tech stack is on the right: ESP32 and sensors for hardware, Python FastAPI and scikit-learn for backend and ML, and React for the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 (~1 min): To show why this matters, take one ordinary classroom: 6 tube lights, 4 fans and one AC — about 2 kilowatts. If it stays on in an empty room for just 3 hours a day, over 220 working days that is about 1,350 units, around ₹10,800 and almost a tonne of CO2 per room per year. For 100 rooms that becomes about 1.35 lakh units and ₹10.8 lakh every year. These are our own illustrative assumptions, not measured data. In our simulated demo campus, about 16% of energy was used in empty rooms. So even small savings per room add up to a lot across a campus.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ARYA (~1.5 min): Today, rooms are switched off manually or with timers, and simple motion sensors either switch things off when someone is sitting still or never switch off at all. Nobody can see per-room waste. What is new in our approach: (1) an ML model that watches the electrical signal itself and flags faults; (2) several sensors combined on one cheap ESP32 instead of one motion sensor; (3) every decision is explainable — the dashboard shows all 20 checks, like 'is a class scheduled?', 'is it an essential load?'; (4) it is closed-loop — the relay must confirm the switch-off, and savings are tracked in kWh, rupees and CO2; (5) the software is already proven with a simulator and an ESP32 emulator, so when hardware is connected, the software does not change. Now Suyash will explain how the system works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SUYASH (~1.5 min): Our system has four layers. Layer 1, the room node: an ESP32 with an occupancy sensor, a power meter and a relay board. Every 5 seconds it sends a small JSON message: is the room occupied, and how many watts each appliance is drawing. Layer 2, the backend in Python FastAPI: it converts power into energy (kWh), works out how much was wasted in empty rooms, scores each reading with the ML model, and every 3 seconds a monitor loop runs the decision engine. Layer 3, the database: SQLite on a laptop or PostgreSQL in the cloud — it stores rooms, readings, alerts and every command for auditing. Layer 4, the React dashboard, which updates live through WebSocket. Important point: because we do not have the hardware yet, we built a simulator and an ESP32 emulator that send exactly the same messages a real ESP32 will send. So the whole software path is already tested end-to-end.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SUYASH (~1.5 min): Switching off electricity in a room where people might be is risky, so our decision engine is safety-first. It runs 4 stages. Stage 1, data quality: if the reading is old, the occupancy sensor has failed or the ESP32 is offline, we do nothing at all. Stage 2, wastage: the appliance must be ON and the room must have been empty for a minimum time, 10 minutes by default, so someone stepping out briefly is not affected. Stage 3, safety policy: we never touch essential loads like servers or fridges, we respect manual overrides, and we do not switch off if a class is scheduled now or in the next 10 minutes — in those cases we only send a recommendation. Stage 4, mode: recommend, dry-run (the default, which only logs what it would do) or auto. Real hardware switching needs three keys at once. And the ML model only advises — it can raise an alert but can never switch something off by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SUYASH (~1.5 min): For AI we use Isolation Forest from scikit-learn. In simple words, it learns what normal electrical readings look like, and readings that are easy to 'isolate' from the rest are unusual — those are anomalies. It catches five kinds of problem: over-consumption, spikes, voltage faults, low power factor, and phantom load, where power is still flowing even though the relay says OFF — that usually means a faulty relay. The model uses five features, has 200 trees, and was trained on 16,000 readings and tested on 8,000 readings it had never seen. Results: ROC-AUC 0.995, recall 86.7% (it catches about 87 out of 100 anomalies), precision 70%, and only 1.1% false alarms. Voltage faults are the weakest at 59%. To be honest with the panel: this data is generated by our simulator, so it proves the pipeline works; real accuracy will be measured after hardware data comes in. Now I'll show the end-to-end flow of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SUYASH (~1 min): This is the complete flow. Sensors measure the room, the ESP32 collects and sends the data, the intelligence layer decides, and the action layer switches the relay and updates the dashboard. Our current stage: the software is a working demo, driven by the simulator and the ESP32 emulator; the physical hardware node is in progress. We can demonstrate scenarios like a room left on while empty, an electrical anomaly, a failed sensor, an offline device, and a relay that fails or does not respond. All of this is covered by 127 automated tests. Now Arjun will show you the actual software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ARJUN (~1.5 min): This is our working dashboard. On the left, the campus overview: live power in kilowatts, energy used today, energy wasted in empty rooms — in red — carbon emitted, and in the top-right the estimated savings in kWh, rupees and CO2 after automatic shutdowns. On the right is a room page. Here the seminar room is empty but the lights, fans, projector and AC are still on. If you open the Split AC, you can see every check the decision engine ran — data quality, wastage, safety policy and mode — each with a green tick and the reason. So the operator always knows WHY the system wants to switch something off. Every screen also clearly says whether the data is simulated or from real hardware, and savings are labelled as estimates.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ARJUN (~1.5 min): Here is the automation in action. The command log at the top shows two stages: first, in dry-run mode, the system only recorded 'I would switch these 4 appliances off'. Then we switched the mode to Auto, and it sent real OFF commands to the controller, which acknowledged each one within about 3 seconds. If a relay fails or does not reply within 20 seconds, it is marked failed or timeout and an alert is raised. Below is the energy history for 7 days: blue is energy used while the room was occupied, orange is energy wasted while it was empty. On the right is the ML page with the model's metrics and recall per anomaly type. In the live demo we can show these 4 steps in about two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ARJUN (~1 min): Where we stand. The software is complete: backend, decision engine, ML model, dashboard, simulator and emulator, with 57 REST APIs, 12 dashboard pages and 127 automated tests passing. The hardware is in progress: we have finalised the components, the wiring plan and drafted the ESP32 firmware, and the communication protocol has already been tested using the emulator. The physical build has not started yet — for the final review we will procure the parts, assemble and test one room node, connect it to this same dashboard, and show a live relay shutdown with real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ARJUN (~1 min) — or ARYA if she leads hardware: This is our hardware plan. Each room gets one node: an ESP32 as the brain, a PIR or mmWave sensor for occupancy, a PZEM-004T power meter with a CT clamp to measure each appliance, a 4-channel relay board to switch them, a 5 V supply and an optional temperature sensor. Safety is designed in: we use the relay's normally-closed contact, so if the ESP32 crashes, the lights and fans stay ON — no one is left in the dark — and every OFF is verified with the power meter. Our build plan has four steps: procure, assemble and bench-test, connect to the dashboard in dry-run mode, and finally a live demo in a real room at the final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(~30 s, each person says one line about themselves): Suyash — team lead, backend, decision engine and ML. Arjun — dashboard, simulation, testing and deployment. Arya — problem research, energy analysis and hardware design. Thank our mentor, Prof. Ravichandra Halagatti, for his guidance.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Each member reads their own column in 15–20 seconds. This shows the panel that work was divided clearly: Suyash on backend and ML, Arjun on frontend, testing and deployment, Arya on research, energy calculations and hardware.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ARJUN or SUYASH (~45 s): Next steps. Immediately: build the hardware node, calibrate the model on real data and polish the dashboard for the final review. If we win, we would like to pilot it in real campus buildings with Schneider's guidance. Long term, this can become a blueprint for smart campuses, hostels and commercial buildings, with mobile alerts and multi-building reports.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ARJUN: Thank you. We are happy to take questions. (Answer questions according to ownership: architecture/backend/ML → Suyash; dashboard/testing/deployment → Arjun; problem, energy numbers, hardware → Arya.)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slideLayout" Target="../slideLayouts/slideLayout1.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1</a:t>
            </a:r>
            <a:endParaRPr lang="en-US" sz="700" dirty="0"/>
          </a:p>
        </p:txBody>
      </p:sp>
      <p:pic>
        <p:nvPicPr>
          <p:cNvPr id="6" name="Image 0" descr="preencoded.png">    </p:cNvPr>
          <p:cNvPicPr>
            <a:picLocks noChangeAspect="1"/>
          </p:cNvPicPr>
          <p:nvPr/>
        </p:nvPicPr>
        <p:blipFill>
          <a:blip r:embed="rId1"/>
          <a:stretch>
            <a:fillRect/>
          </a:stretch>
        </p:blipFill>
        <p:spPr>
          <a:xfrm>
            <a:off x="777240" y="640080"/>
            <a:ext cx="457200" cy="548640"/>
          </a:xfrm>
          <a:prstGeom prst="rect">
            <a:avLst/>
          </a:prstGeom>
        </p:spPr>
      </p:pic>
      <p:sp>
        <p:nvSpPr>
          <p:cNvPr id="7" name="Text 4"/>
          <p:cNvSpPr txBox="1"/>
          <p:nvPr/>
        </p:nvSpPr>
        <p:spPr>
          <a:xfrm>
            <a:off x="777240" y="1353312"/>
            <a:ext cx="5486400" cy="274320"/>
          </a:xfrm>
          <a:prstGeom prst="rect">
            <a:avLst/>
          </a:prstGeom>
          <a:noFill/>
          <a:ln/>
        </p:spPr>
        <p:txBody>
          <a:bodyPr wrap="square" lIns="0" tIns="0" rIns="0" bIns="0" rtlCol="0" anchor="ctr"/>
          <a:lstStyle/>
          <a:p>
            <a:pPr indent="0" marL="0">
              <a:buNone/>
            </a:pPr>
            <a:r>
              <a:rPr lang="en-US" sz="1200" b="1" spc="300" kern="0" dirty="0">
                <a:solidFill>
                  <a:srgbClr val="22D3EE"/>
                </a:solidFill>
              </a:rPr>
              <a:t>PredictX   ·   TEAM PITCH DECK</a:t>
            </a:r>
            <a:endParaRPr lang="en-US" sz="1200" dirty="0"/>
          </a:p>
        </p:txBody>
      </p:sp>
      <p:sp>
        <p:nvSpPr>
          <p:cNvPr id="8" name="Card"/>
          <p:cNvSpPr/>
          <p:nvPr/>
        </p:nvSpPr>
        <p:spPr>
          <a:xfrm>
            <a:off x="777240" y="1783080"/>
            <a:ext cx="7863840" cy="713232"/>
          </a:xfrm>
          <a:prstGeom prst="roundRect">
            <a:avLst>
              <a:gd name="adj" fmla="val 10256"/>
            </a:avLst>
          </a:prstGeom>
          <a:solidFill>
            <a:srgbClr val="2C3260"/>
          </a:solidFill>
          <a:ln w="12700">
            <a:solidFill>
              <a:srgbClr val="8391AD"/>
            </a:solidFill>
            <a:prstDash val="dash"/>
          </a:ln>
        </p:spPr>
      </p:sp>
      <p:sp>
        <p:nvSpPr>
          <p:cNvPr id="9" name="Text 6"/>
          <p:cNvSpPr txBox="1"/>
          <p:nvPr/>
        </p:nvSpPr>
        <p:spPr>
          <a:xfrm>
            <a:off x="1005840" y="1783080"/>
            <a:ext cx="7498080" cy="713232"/>
          </a:xfrm>
          <a:prstGeom prst="rect">
            <a:avLst/>
          </a:prstGeom>
          <a:noFill/>
          <a:ln/>
        </p:spPr>
        <p:txBody>
          <a:bodyPr wrap="square" lIns="0" tIns="0" rIns="0" bIns="0" rtlCol="0" anchor="ctr"/>
          <a:lstStyle/>
          <a:p>
            <a:pPr indent="0" marL="0">
              <a:buNone/>
            </a:pPr>
            <a:r>
              <a:rPr lang="en-US" sz="2600" dirty="0">
                <a:solidFill>
                  <a:srgbClr val="FFFFFF"/>
                </a:solidFill>
              </a:rPr>
              <a:t>Jack Schneider</a:t>
            </a:r>
            <a:endParaRPr lang="en-US" sz="2600" dirty="0"/>
          </a:p>
        </p:txBody>
      </p:sp>
      <p:sp>
        <p:nvSpPr>
          <p:cNvPr id="10" name="Text 7"/>
          <p:cNvSpPr txBox="1"/>
          <p:nvPr/>
        </p:nvSpPr>
        <p:spPr>
          <a:xfrm>
            <a:off x="777240" y="2743200"/>
            <a:ext cx="2743200" cy="256032"/>
          </a:xfrm>
          <a:prstGeom prst="rect">
            <a:avLst/>
          </a:prstGeom>
          <a:noFill/>
          <a:ln/>
        </p:spPr>
        <p:txBody>
          <a:bodyPr wrap="square" lIns="0" tIns="0" rIns="0" bIns="0" rtlCol="0" anchor="ctr"/>
          <a:lstStyle/>
          <a:p>
            <a:pPr indent="0" marL="0">
              <a:buNone/>
            </a:pPr>
            <a:r>
              <a:rPr lang="en-US" sz="1000" b="1" spc="200" kern="0" dirty="0">
                <a:solidFill>
                  <a:srgbClr val="CBD5E1"/>
                </a:solidFill>
              </a:rPr>
              <a:t>PROJECT</a:t>
            </a:r>
            <a:endParaRPr lang="en-US" sz="1000" dirty="0"/>
          </a:p>
        </p:txBody>
      </p:sp>
      <p:sp>
        <p:nvSpPr>
          <p:cNvPr id="11" name="Card"/>
          <p:cNvSpPr/>
          <p:nvPr/>
        </p:nvSpPr>
        <p:spPr>
          <a:xfrm>
            <a:off x="777240" y="3017520"/>
            <a:ext cx="4206240" cy="384048"/>
          </a:xfrm>
          <a:prstGeom prst="roundRect">
            <a:avLst>
              <a:gd name="adj" fmla="val 19048"/>
            </a:avLst>
          </a:prstGeom>
          <a:solidFill>
            <a:srgbClr val="2C3260"/>
          </a:solidFill>
          <a:ln w="15875">
            <a:solidFill>
              <a:srgbClr val="3B82F6"/>
            </a:solidFill>
            <a:prstDash val="solid"/>
          </a:ln>
        </p:spPr>
      </p:sp>
      <p:sp>
        <p:nvSpPr>
          <p:cNvPr id="12" name="Text 9"/>
          <p:cNvSpPr txBox="1"/>
          <p:nvPr/>
        </p:nvSpPr>
        <p:spPr>
          <a:xfrm>
            <a:off x="914400" y="3017520"/>
            <a:ext cx="4023360" cy="384048"/>
          </a:xfrm>
          <a:prstGeom prst="rect">
            <a:avLst/>
          </a:prstGeom>
          <a:noFill/>
          <a:ln/>
        </p:spPr>
        <p:txBody>
          <a:bodyPr wrap="square" lIns="0" tIns="0" rIns="0" bIns="0" rtlCol="0" anchor="ctr"/>
          <a:lstStyle/>
          <a:p>
            <a:pPr indent="0" marL="0">
              <a:buNone/>
            </a:pPr>
            <a:r>
              <a:rPr lang="en-US" sz="1300" b="1" dirty="0">
                <a:solidFill>
                  <a:srgbClr val="FFFFFF"/>
                </a:solidFill>
              </a:rPr>
              <a:t>Smart Energy Guardian</a:t>
            </a:r>
            <a:endParaRPr lang="en-US" sz="1300" dirty="0"/>
          </a:p>
        </p:txBody>
      </p:sp>
      <p:sp>
        <p:nvSpPr>
          <p:cNvPr id="13" name="Text 10"/>
          <p:cNvSpPr txBox="1"/>
          <p:nvPr/>
        </p:nvSpPr>
        <p:spPr>
          <a:xfrm>
            <a:off x="5257800" y="2743200"/>
            <a:ext cx="2743200" cy="256032"/>
          </a:xfrm>
          <a:prstGeom prst="rect">
            <a:avLst/>
          </a:prstGeom>
          <a:noFill/>
          <a:ln/>
        </p:spPr>
        <p:txBody>
          <a:bodyPr wrap="square" lIns="0" tIns="0" rIns="0" bIns="0" rtlCol="0" anchor="ctr"/>
          <a:lstStyle/>
          <a:p>
            <a:pPr indent="0" marL="0">
              <a:buNone/>
            </a:pPr>
            <a:r>
              <a:rPr lang="en-US" sz="1000" b="1" spc="200" kern="0" dirty="0">
                <a:solidFill>
                  <a:srgbClr val="CBD5E1"/>
                </a:solidFill>
              </a:rPr>
              <a:t>THEME</a:t>
            </a:r>
            <a:endParaRPr lang="en-US" sz="1000" dirty="0"/>
          </a:p>
        </p:txBody>
      </p:sp>
      <p:sp>
        <p:nvSpPr>
          <p:cNvPr id="14" name="Card"/>
          <p:cNvSpPr/>
          <p:nvPr/>
        </p:nvSpPr>
        <p:spPr>
          <a:xfrm>
            <a:off x="5257800" y="3017520"/>
            <a:ext cx="3383280" cy="384048"/>
          </a:xfrm>
          <a:prstGeom prst="roundRect">
            <a:avLst>
              <a:gd name="adj" fmla="val 19048"/>
            </a:avLst>
          </a:prstGeom>
          <a:solidFill>
            <a:srgbClr val="2C3260"/>
          </a:solidFill>
          <a:ln w="15875">
            <a:solidFill>
              <a:srgbClr val="3B82F6"/>
            </a:solidFill>
            <a:prstDash val="solid"/>
          </a:ln>
        </p:spPr>
      </p:sp>
      <p:sp>
        <p:nvSpPr>
          <p:cNvPr id="15" name="Text 12"/>
          <p:cNvSpPr txBox="1"/>
          <p:nvPr/>
        </p:nvSpPr>
        <p:spPr>
          <a:xfrm>
            <a:off x="5394960" y="3017520"/>
            <a:ext cx="3200400" cy="384048"/>
          </a:xfrm>
          <a:prstGeom prst="rect">
            <a:avLst/>
          </a:prstGeom>
          <a:noFill/>
          <a:ln/>
        </p:spPr>
        <p:txBody>
          <a:bodyPr wrap="square" lIns="0" tIns="0" rIns="0" bIns="0" rtlCol="0" anchor="ctr"/>
          <a:lstStyle/>
          <a:p>
            <a:pPr indent="0" marL="0">
              <a:buNone/>
            </a:pPr>
            <a:r>
              <a:rPr lang="en-US" sz="1100" dirty="0">
                <a:solidFill>
                  <a:srgbClr val="E2E8F0"/>
                </a:solidFill>
              </a:rPr>
              <a:t>Energy Intelligence &amp; Sustainability</a:t>
            </a:r>
            <a:endParaRPr lang="en-US" sz="1100" dirty="0"/>
          </a:p>
        </p:txBody>
      </p:sp>
      <p:sp>
        <p:nvSpPr>
          <p:cNvPr id="16" name="Text 13"/>
          <p:cNvSpPr txBox="1"/>
          <p:nvPr/>
        </p:nvSpPr>
        <p:spPr>
          <a:xfrm>
            <a:off x="777240" y="3566160"/>
            <a:ext cx="7863840" cy="320040"/>
          </a:xfrm>
          <a:prstGeom prst="rect">
            <a:avLst/>
          </a:prstGeom>
          <a:noFill/>
          <a:ln/>
        </p:spPr>
        <p:txBody>
          <a:bodyPr wrap="square" lIns="0" tIns="0" rIns="0" bIns="0" rtlCol="0" anchor="ctr"/>
          <a:lstStyle/>
          <a:p>
            <a:pPr indent="0" marL="0">
              <a:buNone/>
            </a:pPr>
            <a:r>
              <a:rPr lang="en-US" sz="1300" i="1" dirty="0">
                <a:solidFill>
                  <a:srgbClr val="CBD5E1"/>
                </a:solidFill>
              </a:rPr>
              <a:t>AI-based IoT system that finds and stops electricity wasted in empty campus rooms</a:t>
            </a:r>
            <a:endParaRPr lang="en-US" sz="1300" dirty="0"/>
          </a:p>
        </p:txBody>
      </p:sp>
      <p:sp>
        <p:nvSpPr>
          <p:cNvPr id="17" name="Card"/>
          <p:cNvSpPr/>
          <p:nvPr/>
        </p:nvSpPr>
        <p:spPr>
          <a:xfrm>
            <a:off x="777240" y="4069080"/>
            <a:ext cx="3017520" cy="347472"/>
          </a:xfrm>
          <a:prstGeom prst="roundRect">
            <a:avLst>
              <a:gd name="adj" fmla="val 50000"/>
            </a:avLst>
          </a:prstGeom>
          <a:solidFill>
            <a:srgbClr val="153B3A"/>
          </a:solidFill>
          <a:ln w="15875">
            <a:solidFill>
              <a:srgbClr val="34D399"/>
            </a:solidFill>
            <a:prstDash val="solid"/>
          </a:ln>
        </p:spPr>
      </p:sp>
      <p:pic>
        <p:nvPicPr>
          <p:cNvPr id="18" name="Image 1" descr="preencoded.png">    </p:cNvPr>
          <p:cNvPicPr>
            <a:picLocks noChangeAspect="1"/>
          </p:cNvPicPr>
          <p:nvPr/>
        </p:nvPicPr>
        <p:blipFill>
          <a:blip r:embed="rId2"/>
          <a:stretch>
            <a:fillRect/>
          </a:stretch>
        </p:blipFill>
        <p:spPr>
          <a:xfrm>
            <a:off x="914400" y="4142232"/>
            <a:ext cx="201168" cy="201168"/>
          </a:xfrm>
          <a:prstGeom prst="rect">
            <a:avLst/>
          </a:prstGeom>
        </p:spPr>
      </p:pic>
      <p:sp>
        <p:nvSpPr>
          <p:cNvPr id="19" name="Text 15"/>
          <p:cNvSpPr txBox="1"/>
          <p:nvPr/>
        </p:nvSpPr>
        <p:spPr>
          <a:xfrm>
            <a:off x="1188720" y="4069080"/>
            <a:ext cx="2560320" cy="347472"/>
          </a:xfrm>
          <a:prstGeom prst="rect">
            <a:avLst/>
          </a:prstGeom>
          <a:noFill/>
          <a:ln/>
        </p:spPr>
        <p:txBody>
          <a:bodyPr wrap="square" lIns="0" tIns="0" rIns="0" bIns="0" rtlCol="0" anchor="ctr"/>
          <a:lstStyle/>
          <a:p>
            <a:pPr indent="0" marL="0">
              <a:buNone/>
            </a:pPr>
            <a:r>
              <a:rPr lang="en-US" sz="1100" b="1" dirty="0">
                <a:solidFill>
                  <a:srgbClr val="34D399"/>
                </a:solidFill>
              </a:rPr>
              <a:t>Software prototype: working</a:t>
            </a:r>
            <a:endParaRPr lang="en-US" sz="1100" dirty="0"/>
          </a:p>
        </p:txBody>
      </p:sp>
      <p:sp>
        <p:nvSpPr>
          <p:cNvPr id="20" name="Card"/>
          <p:cNvSpPr/>
          <p:nvPr/>
        </p:nvSpPr>
        <p:spPr>
          <a:xfrm>
            <a:off x="3977640" y="4069080"/>
            <a:ext cx="3017520" cy="347472"/>
          </a:xfrm>
          <a:prstGeom prst="roundRect">
            <a:avLst>
              <a:gd name="adj" fmla="val 50000"/>
            </a:avLst>
          </a:prstGeom>
          <a:solidFill>
            <a:srgbClr val="3A3320"/>
          </a:solidFill>
          <a:ln w="15875">
            <a:solidFill>
              <a:srgbClr val="FBBF24"/>
            </a:solidFill>
            <a:prstDash val="solid"/>
          </a:ln>
        </p:spPr>
      </p:sp>
      <p:pic>
        <p:nvPicPr>
          <p:cNvPr id="21" name="Image 2" descr="preencoded.png">    </p:cNvPr>
          <p:cNvPicPr>
            <a:picLocks noChangeAspect="1"/>
          </p:cNvPicPr>
          <p:nvPr/>
        </p:nvPicPr>
        <p:blipFill>
          <a:blip r:embed="rId3"/>
          <a:stretch>
            <a:fillRect/>
          </a:stretch>
        </p:blipFill>
        <p:spPr>
          <a:xfrm>
            <a:off x="4114800" y="4142232"/>
            <a:ext cx="201168" cy="201168"/>
          </a:xfrm>
          <a:prstGeom prst="rect">
            <a:avLst/>
          </a:prstGeom>
        </p:spPr>
      </p:pic>
      <p:sp>
        <p:nvSpPr>
          <p:cNvPr id="22" name="Text 17"/>
          <p:cNvSpPr txBox="1"/>
          <p:nvPr/>
        </p:nvSpPr>
        <p:spPr>
          <a:xfrm>
            <a:off x="4389120" y="4069080"/>
            <a:ext cx="2560320" cy="347472"/>
          </a:xfrm>
          <a:prstGeom prst="rect">
            <a:avLst/>
          </a:prstGeom>
          <a:noFill/>
          <a:ln/>
        </p:spPr>
        <p:txBody>
          <a:bodyPr wrap="square" lIns="0" tIns="0" rIns="0" bIns="0" rtlCol="0" anchor="ctr"/>
          <a:lstStyle/>
          <a:p>
            <a:pPr indent="0" marL="0">
              <a:buNone/>
            </a:pPr>
            <a:r>
              <a:rPr lang="en-US" sz="1100" b="1" dirty="0">
                <a:solidFill>
                  <a:srgbClr val="FBBF24"/>
                </a:solidFill>
              </a:rPr>
              <a:t>Hardware build: in progress</a:t>
            </a:r>
            <a:endParaRPr lang="en-US" sz="1100" dirty="0"/>
          </a:p>
        </p:txBody>
      </p:sp>
      <p:pic>
        <p:nvPicPr>
          <p:cNvPr id="23" name="Image 3" descr="preencoded.png">    </p:cNvPr>
          <p:cNvPicPr>
            <a:picLocks noChangeAspect="1"/>
          </p:cNvPicPr>
          <p:nvPr/>
        </p:nvPicPr>
        <p:blipFill>
          <a:blip r:embed="rId4"/>
          <a:stretch>
            <a:fillRect/>
          </a:stretch>
        </p:blipFill>
        <p:spPr>
          <a:xfrm>
            <a:off x="777240" y="4846320"/>
            <a:ext cx="329184" cy="310896"/>
          </a:xfrm>
          <a:prstGeom prst="rect">
            <a:avLst/>
          </a:prstGeom>
        </p:spPr>
      </p:pic>
      <p:sp>
        <p:nvSpPr>
          <p:cNvPr id="24" name="Text 18"/>
          <p:cNvSpPr txBox="1"/>
          <p:nvPr/>
        </p:nvSpPr>
        <p:spPr>
          <a:xfrm>
            <a:off x="1234440" y="4846320"/>
            <a:ext cx="3017520" cy="228600"/>
          </a:xfrm>
          <a:prstGeom prst="rect">
            <a:avLst/>
          </a:prstGeom>
          <a:noFill/>
          <a:ln/>
        </p:spPr>
        <p:txBody>
          <a:bodyPr wrap="square" lIns="0" tIns="0" rIns="0" bIns="0" rtlCol="0" anchor="ctr"/>
          <a:lstStyle/>
          <a:p>
            <a:pPr indent="0" marL="0">
              <a:buNone/>
            </a:pPr>
            <a:r>
              <a:rPr lang="en-US" sz="900" b="1" spc="200" kern="0" dirty="0">
                <a:solidFill>
                  <a:srgbClr val="CBD5E1"/>
                </a:solidFill>
              </a:rPr>
              <a:t>BRANCH</a:t>
            </a:r>
            <a:endParaRPr lang="en-US" sz="900" dirty="0"/>
          </a:p>
        </p:txBody>
      </p:sp>
      <p:sp>
        <p:nvSpPr>
          <p:cNvPr id="25" name="Text 19"/>
          <p:cNvSpPr txBox="1"/>
          <p:nvPr/>
        </p:nvSpPr>
        <p:spPr>
          <a:xfrm>
            <a:off x="1234440" y="5102352"/>
            <a:ext cx="3108960" cy="274320"/>
          </a:xfrm>
          <a:prstGeom prst="rect">
            <a:avLst/>
          </a:prstGeom>
          <a:noFill/>
          <a:ln/>
        </p:spPr>
        <p:txBody>
          <a:bodyPr wrap="square" lIns="0" tIns="0" rIns="0" bIns="0" rtlCol="0" anchor="ctr"/>
          <a:lstStyle/>
          <a:p>
            <a:pPr indent="0" marL="0">
              <a:buNone/>
            </a:pPr>
            <a:r>
              <a:rPr lang="en-US" sz="1200" dirty="0">
                <a:solidFill>
                  <a:srgbClr val="FFFFFF"/>
                </a:solidFill>
              </a:rPr>
              <a:t>Electrical &amp; Electronics Engineering (EEE)</a:t>
            </a:r>
            <a:endParaRPr lang="en-US" sz="1200" dirty="0"/>
          </a:p>
        </p:txBody>
      </p:sp>
      <p:pic>
        <p:nvPicPr>
          <p:cNvPr id="26" name="Image 4" descr="preencoded.png">    </p:cNvPr>
          <p:cNvPicPr>
            <a:picLocks noChangeAspect="1"/>
          </p:cNvPicPr>
          <p:nvPr/>
        </p:nvPicPr>
        <p:blipFill>
          <a:blip r:embed="rId5"/>
          <a:stretch>
            <a:fillRect/>
          </a:stretch>
        </p:blipFill>
        <p:spPr>
          <a:xfrm>
            <a:off x="4434840" y="4846320"/>
            <a:ext cx="329184" cy="310896"/>
          </a:xfrm>
          <a:prstGeom prst="rect">
            <a:avLst/>
          </a:prstGeom>
        </p:spPr>
      </p:pic>
      <p:sp>
        <p:nvSpPr>
          <p:cNvPr id="27" name="Text 20"/>
          <p:cNvSpPr txBox="1"/>
          <p:nvPr/>
        </p:nvSpPr>
        <p:spPr>
          <a:xfrm>
            <a:off x="4892040" y="4846320"/>
            <a:ext cx="3017520" cy="228600"/>
          </a:xfrm>
          <a:prstGeom prst="rect">
            <a:avLst/>
          </a:prstGeom>
          <a:noFill/>
          <a:ln/>
        </p:spPr>
        <p:txBody>
          <a:bodyPr wrap="square" lIns="0" tIns="0" rIns="0" bIns="0" rtlCol="0" anchor="ctr"/>
          <a:lstStyle/>
          <a:p>
            <a:pPr indent="0" marL="0">
              <a:buNone/>
            </a:pPr>
            <a:r>
              <a:rPr lang="en-US" sz="900" b="1" spc="200" kern="0" dirty="0">
                <a:solidFill>
                  <a:srgbClr val="CBD5E1"/>
                </a:solidFill>
              </a:rPr>
              <a:t>TEAM SIZE</a:t>
            </a:r>
            <a:endParaRPr lang="en-US" sz="900" dirty="0"/>
          </a:p>
        </p:txBody>
      </p:sp>
      <p:sp>
        <p:nvSpPr>
          <p:cNvPr id="28" name="Text 21"/>
          <p:cNvSpPr txBox="1"/>
          <p:nvPr/>
        </p:nvSpPr>
        <p:spPr>
          <a:xfrm>
            <a:off x="4892040" y="5102352"/>
            <a:ext cx="3108960" cy="274320"/>
          </a:xfrm>
          <a:prstGeom prst="rect">
            <a:avLst/>
          </a:prstGeom>
          <a:noFill/>
          <a:ln/>
        </p:spPr>
        <p:txBody>
          <a:bodyPr wrap="square" lIns="0" tIns="0" rIns="0" bIns="0" rtlCol="0" anchor="ctr"/>
          <a:lstStyle/>
          <a:p>
            <a:pPr indent="0" marL="0">
              <a:buNone/>
            </a:pPr>
            <a:r>
              <a:rPr lang="en-US" sz="1200" i="1" dirty="0">
                <a:solidFill>
                  <a:srgbClr val="FFFFFF"/>
                </a:solidFill>
              </a:rPr>
              <a:t>3 Members — Suyash · Arjun · Arya</a:t>
            </a:r>
            <a:endParaRPr lang="en-US" sz="1200" dirty="0"/>
          </a:p>
        </p:txBody>
      </p:sp>
      <p:pic>
        <p:nvPicPr>
          <p:cNvPr id="29" name="Image 5" descr="preencoded.png">    </p:cNvPr>
          <p:cNvPicPr>
            <a:picLocks noChangeAspect="1"/>
          </p:cNvPicPr>
          <p:nvPr/>
        </p:nvPicPr>
        <p:blipFill>
          <a:blip r:embed="rId6"/>
          <a:stretch>
            <a:fillRect/>
          </a:stretch>
        </p:blipFill>
        <p:spPr>
          <a:xfrm>
            <a:off x="8092440" y="4846320"/>
            <a:ext cx="329184" cy="310896"/>
          </a:xfrm>
          <a:prstGeom prst="rect">
            <a:avLst/>
          </a:prstGeom>
        </p:spPr>
      </p:pic>
      <p:sp>
        <p:nvSpPr>
          <p:cNvPr id="30" name="Text 22"/>
          <p:cNvSpPr txBox="1"/>
          <p:nvPr/>
        </p:nvSpPr>
        <p:spPr>
          <a:xfrm>
            <a:off x="8549640" y="4846320"/>
            <a:ext cx="3017520" cy="228600"/>
          </a:xfrm>
          <a:prstGeom prst="rect">
            <a:avLst/>
          </a:prstGeom>
          <a:noFill/>
          <a:ln/>
        </p:spPr>
        <p:txBody>
          <a:bodyPr wrap="square" lIns="0" tIns="0" rIns="0" bIns="0" rtlCol="0" anchor="ctr"/>
          <a:lstStyle/>
          <a:p>
            <a:pPr indent="0" marL="0">
              <a:buNone/>
            </a:pPr>
            <a:r>
              <a:rPr lang="en-US" sz="900" b="1" spc="200" kern="0" dirty="0">
                <a:solidFill>
                  <a:srgbClr val="CBD5E1"/>
                </a:solidFill>
              </a:rPr>
              <a:t>FACULTY MENTOR</a:t>
            </a:r>
            <a:endParaRPr lang="en-US" sz="900" dirty="0"/>
          </a:p>
        </p:txBody>
      </p:sp>
      <p:sp>
        <p:nvSpPr>
          <p:cNvPr id="31" name="Text 23"/>
          <p:cNvSpPr txBox="1"/>
          <p:nvPr/>
        </p:nvSpPr>
        <p:spPr>
          <a:xfrm>
            <a:off x="8549640" y="5102352"/>
            <a:ext cx="3108960" cy="274320"/>
          </a:xfrm>
          <a:prstGeom prst="rect">
            <a:avLst/>
          </a:prstGeom>
          <a:noFill/>
          <a:ln/>
        </p:spPr>
        <p:txBody>
          <a:bodyPr wrap="square" lIns="0" tIns="0" rIns="0" bIns="0" rtlCol="0" anchor="ctr"/>
          <a:lstStyle/>
          <a:p>
            <a:pPr indent="0" marL="0">
              <a:buNone/>
            </a:pPr>
            <a:r>
              <a:rPr lang="en-US" sz="1200" dirty="0">
                <a:solidFill>
                  <a:srgbClr val="FFFFFF"/>
                </a:solidFill>
              </a:rPr>
              <a:t>Ravichandra Halagatti</a:t>
            </a:r>
            <a:endParaRPr lang="en-US" sz="1200" dirty="0"/>
          </a:p>
        </p:txBody>
      </p:sp>
      <p:sp>
        <p:nvSpPr>
          <p:cNvPr id="32" name="Shape 24"/>
          <p:cNvSpPr/>
          <p:nvPr/>
        </p:nvSpPr>
        <p:spPr>
          <a:xfrm>
            <a:off x="777240" y="5733288"/>
            <a:ext cx="10607040" cy="0"/>
          </a:xfrm>
          <a:prstGeom prst="line">
            <a:avLst/>
          </a:prstGeom>
          <a:noFill/>
          <a:ln w="9525">
            <a:solidFill>
              <a:srgbClr val="475569"/>
            </a:solidFill>
            <a:prstDash val="solid"/>
          </a:ln>
        </p:spPr>
      </p:sp>
      <p:sp>
        <p:nvSpPr>
          <p:cNvPr id="33" name="Text 25"/>
          <p:cNvSpPr txBox="1"/>
          <p:nvPr/>
        </p:nvSpPr>
        <p:spPr>
          <a:xfrm>
            <a:off x="777240" y="5897880"/>
            <a:ext cx="8229600" cy="274320"/>
          </a:xfrm>
          <a:prstGeom prst="rect">
            <a:avLst/>
          </a:prstGeom>
          <a:noFill/>
          <a:ln/>
        </p:spPr>
        <p:txBody>
          <a:bodyPr wrap="square" lIns="0" tIns="0" rIns="0" bIns="0" rtlCol="0" anchor="ctr"/>
          <a:lstStyle/>
          <a:p>
            <a:pPr indent="0" marL="0">
              <a:buNone/>
            </a:pPr>
            <a:r>
              <a:rPr lang="en-US" sz="1100" i="1" dirty="0">
                <a:solidFill>
                  <a:srgbClr val="94A3B8"/>
                </a:solidFill>
              </a:rPr>
              <a:t>Powering Predictive Intelligence  —  A PredictX Campus Hackathon Submission</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2</a:t>
            </a:r>
            <a:endParaRPr lang="en-US" sz="700" dirty="0"/>
          </a:p>
        </p:txBody>
      </p:sp>
      <p:sp>
        <p:nvSpPr>
          <p:cNvPr id="6" name="Text 4"/>
          <p:cNvSpPr txBox="1"/>
          <p:nvPr/>
        </p:nvSpPr>
        <p:spPr>
          <a:xfrm>
            <a:off x="228600" y="109728"/>
            <a:ext cx="8229600" cy="54864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Smart Energy Guardian</a:t>
            </a:r>
            <a:endParaRPr lang="en-US" sz="2800" dirty="0"/>
          </a:p>
        </p:txBody>
      </p:sp>
      <p:sp>
        <p:nvSpPr>
          <p:cNvPr id="7" name="Card"/>
          <p:cNvSpPr/>
          <p:nvPr/>
        </p:nvSpPr>
        <p:spPr>
          <a:xfrm>
            <a:off x="228600" y="713232"/>
            <a:ext cx="10881360" cy="1188720"/>
          </a:xfrm>
          <a:prstGeom prst="roundRect">
            <a:avLst>
              <a:gd name="adj" fmla="val 6154"/>
            </a:avLst>
          </a:prstGeom>
          <a:solidFill>
            <a:srgbClr val="242A52"/>
          </a:solidFill>
          <a:ln w="12700">
            <a:solidFill>
              <a:srgbClr val="8391AD"/>
            </a:solidFill>
            <a:prstDash val="dash"/>
          </a:ln>
        </p:spPr>
      </p:sp>
      <p:sp>
        <p:nvSpPr>
          <p:cNvPr id="8" name="Text 6"/>
          <p:cNvSpPr txBox="1"/>
          <p:nvPr/>
        </p:nvSpPr>
        <p:spPr>
          <a:xfrm>
            <a:off x="411480" y="786384"/>
            <a:ext cx="10515600" cy="1060704"/>
          </a:xfrm>
          <a:prstGeom prst="rect">
            <a:avLst/>
          </a:prstGeom>
          <a:noFill/>
          <a:ln/>
        </p:spPr>
        <p:txBody>
          <a:bodyPr wrap="square" rtlCol="0" anchor="ctr"/>
          <a:lstStyle/>
          <a:p>
            <a:pPr indent="0" marL="0">
              <a:spcAft>
                <a:spcPts val="400"/>
              </a:spcAft>
              <a:buNone/>
            </a:pPr>
            <a:r>
              <a:rPr lang="en-US" sz="1200" i="1" dirty="0">
                <a:solidFill>
                  <a:srgbClr val="94A3B8"/>
                </a:solidFill>
                <a:latin typeface="Calibri" pitchFamily="34" charset="0"/>
                <a:ea typeface="Calibri" pitchFamily="34" charset="-122"/>
                <a:cs typeface="Calibri" pitchFamily="34" charset="-120"/>
              </a:rPr>
              <a:t>What real-world problem are you solving, and for whom?</a:t>
            </a:r>
            <a:endParaRPr lang="en-US" sz="1300" dirty="0"/>
          </a:p>
          <a:p>
            <a:pPr indent="0" marL="0">
              <a:buNone/>
            </a:pPr>
            <a:r>
              <a:rPr lang="en-US" sz="1300" dirty="0">
                <a:solidFill>
                  <a:srgbClr val="E2E8F0"/>
                </a:solidFill>
                <a:latin typeface="Calibri" pitchFamily="34" charset="0"/>
                <a:ea typeface="Calibri" pitchFamily="34" charset="-122"/>
                <a:cs typeface="Calibri" pitchFamily="34" charset="-120"/>
              </a:rPr>
              <a:t>Institutional buildings (classrooms, labs, hostels) waste huge amounts of electricity because lights, fans and ACs keep running in empty rooms. Nobody notices until the bill arrives — facility teams have no room-level visibility, causing financial loss, extra carbon emissions and structural inefficiency.</a:t>
            </a:r>
            <a:endParaRPr lang="en-US" sz="1300" dirty="0"/>
          </a:p>
        </p:txBody>
      </p:sp>
      <p:sp>
        <p:nvSpPr>
          <p:cNvPr id="9" name="Card"/>
          <p:cNvSpPr/>
          <p:nvPr/>
        </p:nvSpPr>
        <p:spPr>
          <a:xfrm>
            <a:off x="228600" y="2057400"/>
            <a:ext cx="4800600" cy="4343400"/>
          </a:xfrm>
          <a:prstGeom prst="roundRect">
            <a:avLst>
              <a:gd name="adj" fmla="val 1684"/>
            </a:avLst>
          </a:prstGeom>
          <a:solidFill>
            <a:srgbClr val="242A52"/>
          </a:solidFill>
          <a:ln w="12700">
            <a:solidFill>
              <a:srgbClr val="8391AD"/>
            </a:solidFill>
            <a:prstDash val="dash"/>
          </a:ln>
        </p:spPr>
      </p:sp>
      <p:sp>
        <p:nvSpPr>
          <p:cNvPr id="10" name="Text 8"/>
          <p:cNvSpPr txBox="1"/>
          <p:nvPr/>
        </p:nvSpPr>
        <p:spPr>
          <a:xfrm>
            <a:off x="457200" y="2212848"/>
            <a:ext cx="3657600" cy="256032"/>
          </a:xfrm>
          <a:prstGeom prst="rect">
            <a:avLst/>
          </a:prstGeom>
          <a:noFill/>
          <a:ln/>
        </p:spPr>
        <p:txBody>
          <a:bodyPr wrap="square" lIns="0" tIns="0" rIns="0" bIns="0" rtlCol="0" anchor="ctr"/>
          <a:lstStyle/>
          <a:p>
            <a:pPr indent="0" marL="0">
              <a:buNone/>
            </a:pPr>
            <a:r>
              <a:rPr lang="en-US" sz="1000" b="1" spc="200" kern="0" dirty="0">
                <a:solidFill>
                  <a:srgbClr val="22D3EE"/>
                </a:solidFill>
              </a:rPr>
              <a:t>OUR SOLUTION</a:t>
            </a:r>
            <a:endParaRPr lang="en-US" sz="1000" dirty="0"/>
          </a:p>
        </p:txBody>
      </p:sp>
      <p:sp>
        <p:nvSpPr>
          <p:cNvPr id="11" name="Text 9"/>
          <p:cNvSpPr txBox="1"/>
          <p:nvPr/>
        </p:nvSpPr>
        <p:spPr>
          <a:xfrm>
            <a:off x="457200" y="2514600"/>
            <a:ext cx="4389120" cy="3749040"/>
          </a:xfrm>
          <a:prstGeom prst="rect">
            <a:avLst/>
          </a:prstGeom>
          <a:noFill/>
          <a:ln/>
        </p:spPr>
        <p:txBody>
          <a:bodyPr wrap="square" rtlCol="0" anchor="t"/>
          <a:lstStyle/>
          <a:p>
            <a:pPr indent="0" marL="0">
              <a:spcAft>
                <a:spcPts val="600"/>
              </a:spcAft>
              <a:buNone/>
            </a:pPr>
            <a:r>
              <a:rPr lang="en-US" sz="1250" dirty="0">
                <a:solidFill>
                  <a:srgbClr val="E2E8F0"/>
                </a:solidFill>
                <a:latin typeface="Calibri" pitchFamily="34" charset="0"/>
                <a:ea typeface="Calibri" pitchFamily="34" charset="-122"/>
                <a:cs typeface="Calibri" pitchFamily="34" charset="-120"/>
              </a:rPr>
              <a:t>A low-cost IoT + AI system that detects, analyzes and eliminates electrical energy wastage in institutional campuses.</a:t>
            </a:r>
            <a:endParaRPr lang="en-US" sz="1250" dirty="0"/>
          </a:p>
          <a:p>
            <a:pPr indent="0" marL="0">
              <a:spcAft>
                <a:spcPts val="600"/>
              </a:spcAft>
              <a:buNone/>
            </a:pPr>
            <a:r>
              <a:rPr lang="en-US" sz="1250" dirty="0">
                <a:solidFill>
                  <a:srgbClr val="E2E8F0"/>
                </a:solidFill>
                <a:latin typeface="Calibri" pitchFamily="34" charset="0"/>
                <a:ea typeface="Calibri" pitchFamily="34" charset="-122"/>
                <a:cs typeface="Calibri" pitchFamily="34" charset="-120"/>
              </a:rPr>
              <a:t>An ESP32 in each room collects real-time data from PIR/mmWave occupancy sensors, SCT-013/PZEM current &amp; power sensors and temperature modules every 5 seconds.</a:t>
            </a:r>
            <a:endParaRPr lang="en-US" sz="1250" dirty="0"/>
          </a:p>
          <a:p>
            <a:pPr indent="0" marL="0">
              <a:spcAft>
                <a:spcPts val="600"/>
              </a:spcAft>
              <a:buNone/>
            </a:pPr>
            <a:r>
              <a:rPr lang="en-US" sz="1250" dirty="0">
                <a:solidFill>
                  <a:srgbClr val="E2E8F0"/>
                </a:solidFill>
                <a:latin typeface="Calibri" pitchFamily="34" charset="0"/>
                <a:ea typeface="Calibri" pitchFamily="34" charset="-122"/>
                <a:cs typeface="Calibri" pitchFamily="34" charset="-120"/>
              </a:rPr>
              <a:t>If a room is vacant but appliances keep drawing power, the system passes a set of safety checks, executes an automated relay shut-off and sends real-time alerts to a centralized React.js web dashboard.</a:t>
            </a:r>
            <a:endParaRPr lang="en-US" sz="1250" dirty="0"/>
          </a:p>
          <a:p>
            <a:pPr indent="0" marL="0">
              <a:buNone/>
            </a:pPr>
            <a:r>
              <a:rPr lang="en-US" sz="1250" b="1" dirty="0">
                <a:solidFill>
                  <a:srgbClr val="FFFFFF"/>
                </a:solidFill>
                <a:latin typeface="Calibri" pitchFamily="34" charset="0"/>
                <a:ea typeface="Calibri" pitchFamily="34" charset="-122"/>
                <a:cs typeface="Calibri" pitchFamily="34" charset="-120"/>
              </a:rPr>
              <a:t>Output: live power, kWh used and wasted, cumulative kWh savings, ₹ cost reduction and estimated CO₂ offset — per room and campus-wide.</a:t>
            </a:r>
            <a:endParaRPr lang="en-US" sz="1250" dirty="0"/>
          </a:p>
        </p:txBody>
      </p:sp>
      <p:sp>
        <p:nvSpPr>
          <p:cNvPr id="12" name="Card"/>
          <p:cNvSpPr/>
          <p:nvPr/>
        </p:nvSpPr>
        <p:spPr>
          <a:xfrm>
            <a:off x="5230368" y="2057400"/>
            <a:ext cx="4572000" cy="4343400"/>
          </a:xfrm>
          <a:prstGeom prst="roundRect">
            <a:avLst>
              <a:gd name="adj" fmla="val 1684"/>
            </a:avLst>
          </a:prstGeom>
          <a:solidFill>
            <a:srgbClr val="242A52"/>
          </a:solidFill>
          <a:ln w="12700">
            <a:solidFill>
              <a:srgbClr val="8391AD"/>
            </a:solidFill>
            <a:prstDash val="dash"/>
          </a:ln>
        </p:spPr>
      </p:sp>
      <p:sp>
        <p:nvSpPr>
          <p:cNvPr id="13" name="Text 11"/>
          <p:cNvSpPr txBox="1"/>
          <p:nvPr/>
        </p:nvSpPr>
        <p:spPr>
          <a:xfrm>
            <a:off x="5458968" y="2212848"/>
            <a:ext cx="3657600" cy="256032"/>
          </a:xfrm>
          <a:prstGeom prst="rect">
            <a:avLst/>
          </a:prstGeom>
          <a:noFill/>
          <a:ln/>
        </p:spPr>
        <p:txBody>
          <a:bodyPr wrap="square" lIns="0" tIns="0" rIns="0" bIns="0" rtlCol="0" anchor="ctr"/>
          <a:lstStyle/>
          <a:p>
            <a:pPr indent="0" marL="0">
              <a:buNone/>
            </a:pPr>
            <a:r>
              <a:rPr lang="en-US" sz="1000" b="1" spc="200" kern="0" dirty="0">
                <a:solidFill>
                  <a:srgbClr val="22D3EE"/>
                </a:solidFill>
              </a:rPr>
              <a:t>INTELLIGENCE ENGINE</a:t>
            </a:r>
            <a:endParaRPr lang="en-US" sz="1000" dirty="0"/>
          </a:p>
        </p:txBody>
      </p:sp>
      <p:sp>
        <p:nvSpPr>
          <p:cNvPr id="14" name="Text 12"/>
          <p:cNvSpPr txBox="1"/>
          <p:nvPr/>
        </p:nvSpPr>
        <p:spPr>
          <a:xfrm>
            <a:off x="5458968" y="2514600"/>
            <a:ext cx="4160520" cy="3749040"/>
          </a:xfrm>
          <a:prstGeom prst="rect">
            <a:avLst/>
          </a:prstGeom>
          <a:noFill/>
          <a:ln/>
        </p:spPr>
        <p:txBody>
          <a:bodyPr wrap="square" rtlCol="0" anchor="t"/>
          <a:lstStyle/>
          <a:p>
            <a:pPr indent="0" marL="0">
              <a:spcAft>
                <a:spcPts val="600"/>
              </a:spcAft>
              <a:buNone/>
            </a:pPr>
            <a:r>
              <a:rPr lang="en-US" sz="1250" dirty="0">
                <a:solidFill>
                  <a:srgbClr val="E2E8F0"/>
                </a:solidFill>
                <a:latin typeface="Calibri" pitchFamily="34" charset="0"/>
                <a:ea typeface="Calibri" pitchFamily="34" charset="-122"/>
                <a:cs typeface="Calibri" pitchFamily="34" charset="-120"/>
              </a:rPr>
              <a:t>Edge-AI Intelligence Engine: an Isolation Forest anomaly detection model flags abnormal electrical behaviour — spikes, over-consumption, voltage faults, low power factor and phantom loads.</a:t>
            </a:r>
            <a:endParaRPr lang="en-US" sz="1250" dirty="0"/>
          </a:p>
          <a:p>
            <a:pPr indent="0" marL="0">
              <a:spcAft>
                <a:spcPts val="600"/>
              </a:spcAft>
              <a:buNone/>
            </a:pPr>
            <a:r>
              <a:rPr lang="en-US" sz="1250" dirty="0">
                <a:solidFill>
                  <a:srgbClr val="E2E8F0"/>
                </a:solidFill>
                <a:latin typeface="Calibri" pitchFamily="34" charset="0"/>
                <a:ea typeface="Calibri" pitchFamily="34" charset="-122"/>
                <a:cs typeface="Calibri" pitchFamily="34" charset="-120"/>
              </a:rPr>
              <a:t>A deterministic decision engine combines occupancy, vacancy time, class schedules, manual overrides and appliance rules, so necessary loads are separated from outright waste — no false positives or blind shut-offs like binary motion sensors.</a:t>
            </a:r>
            <a:endParaRPr lang="en-US" sz="1250" dirty="0"/>
          </a:p>
          <a:p>
            <a:pPr indent="0" marL="0">
              <a:buNone/>
            </a:pPr>
            <a:r>
              <a:rPr lang="en-US" sz="1250" dirty="0">
                <a:solidFill>
                  <a:srgbClr val="E2E8F0"/>
                </a:solidFill>
                <a:latin typeface="Calibri" pitchFamily="34" charset="0"/>
                <a:ea typeface="Calibri" pitchFamily="34" charset="-122"/>
                <a:cs typeface="Calibri" pitchFamily="34" charset="-120"/>
              </a:rPr>
              <a:t>Hybrid edge-cloud: the ESP32 acts locally (relay, fail-safe), the server runs analytics, and the dashboard updates live over WebSocket.</a:t>
            </a:r>
            <a:endParaRPr lang="en-US" sz="1250" dirty="0"/>
          </a:p>
        </p:txBody>
      </p:sp>
      <p:sp>
        <p:nvSpPr>
          <p:cNvPr id="15" name="Card"/>
          <p:cNvSpPr/>
          <p:nvPr/>
        </p:nvSpPr>
        <p:spPr>
          <a:xfrm>
            <a:off x="10012680" y="2020824"/>
            <a:ext cx="2011680" cy="4379976"/>
          </a:xfrm>
          <a:prstGeom prst="roundRect">
            <a:avLst>
              <a:gd name="adj" fmla="val 3636"/>
            </a:avLst>
          </a:prstGeom>
          <a:solidFill>
            <a:srgbClr val="242A52"/>
          </a:solidFill>
          <a:ln w="12700">
            <a:solidFill>
              <a:srgbClr val="8391AD"/>
            </a:solidFill>
            <a:prstDash val="dash"/>
          </a:ln>
        </p:spPr>
      </p:sp>
      <p:pic>
        <p:nvPicPr>
          <p:cNvPr id="16" name="Image 0" descr="preencoded.png">    </p:cNvPr>
          <p:cNvPicPr>
            <a:picLocks noChangeAspect="1"/>
          </p:cNvPicPr>
          <p:nvPr/>
        </p:nvPicPr>
        <p:blipFill>
          <a:blip r:embed="rId1"/>
          <a:stretch>
            <a:fillRect/>
          </a:stretch>
        </p:blipFill>
        <p:spPr>
          <a:xfrm>
            <a:off x="10168128" y="2194560"/>
            <a:ext cx="274320" cy="329184"/>
          </a:xfrm>
          <a:prstGeom prst="rect">
            <a:avLst/>
          </a:prstGeom>
        </p:spPr>
      </p:pic>
      <p:sp>
        <p:nvSpPr>
          <p:cNvPr id="17" name="Text 14"/>
          <p:cNvSpPr txBox="1"/>
          <p:nvPr/>
        </p:nvSpPr>
        <p:spPr>
          <a:xfrm>
            <a:off x="10515600" y="2194560"/>
            <a:ext cx="1463040" cy="329184"/>
          </a:xfrm>
          <a:prstGeom prst="rect">
            <a:avLst/>
          </a:prstGeom>
          <a:noFill/>
          <a:ln/>
        </p:spPr>
        <p:txBody>
          <a:bodyPr wrap="square" lIns="0" tIns="0" rIns="0" bIns="0" rtlCol="0" anchor="ctr"/>
          <a:lstStyle/>
          <a:p>
            <a:pPr indent="0" marL="0">
              <a:buNone/>
            </a:pPr>
            <a:r>
              <a:rPr lang="en-US" sz="1050" b="1" dirty="0">
                <a:solidFill>
                  <a:srgbClr val="FFFFFF"/>
                </a:solidFill>
              </a:rPr>
              <a:t>TECH STACK</a:t>
            </a:r>
            <a:endParaRPr lang="en-US" sz="1050" dirty="0"/>
          </a:p>
        </p:txBody>
      </p:sp>
      <p:sp>
        <p:nvSpPr>
          <p:cNvPr id="18" name="Text 15"/>
          <p:cNvSpPr txBox="1"/>
          <p:nvPr/>
        </p:nvSpPr>
        <p:spPr>
          <a:xfrm>
            <a:off x="10149840" y="2651760"/>
            <a:ext cx="1810512" cy="36576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CBD5E1"/>
                </a:solidFill>
              </a:rPr>
              <a:t>ESP32 microcontroller</a:t>
            </a:r>
            <a:endParaRPr lang="en-US" sz="1000" dirty="0"/>
          </a:p>
          <a:p>
            <a:pPr marL="152400" indent="-152400">
              <a:spcAft>
                <a:spcPts val="400"/>
              </a:spcAft>
              <a:buSzPct val="100000"/>
              <a:buChar char="•"/>
            </a:pPr>
            <a:r>
              <a:rPr lang="en-US" sz="1000" dirty="0">
                <a:solidFill>
                  <a:srgbClr val="CBD5E1"/>
                </a:solidFill>
              </a:rPr>
              <a:t>PIR / mmWave occupancy</a:t>
            </a:r>
            <a:endParaRPr lang="en-US" sz="1000" dirty="0"/>
          </a:p>
          <a:p>
            <a:pPr marL="152400" indent="-152400">
              <a:spcAft>
                <a:spcPts val="400"/>
              </a:spcAft>
              <a:buSzPct val="100000"/>
              <a:buChar char="•"/>
            </a:pPr>
            <a:r>
              <a:rPr lang="en-US" sz="1000" dirty="0">
                <a:solidFill>
                  <a:srgbClr val="CBD5E1"/>
                </a:solidFill>
              </a:rPr>
              <a:t>SCT-013 / PZEM-004T power sensing</a:t>
            </a:r>
            <a:endParaRPr lang="en-US" sz="1000" dirty="0"/>
          </a:p>
          <a:p>
            <a:pPr marL="152400" indent="-152400">
              <a:spcAft>
                <a:spcPts val="400"/>
              </a:spcAft>
              <a:buSzPct val="100000"/>
              <a:buChar char="•"/>
            </a:pPr>
            <a:r>
              <a:rPr lang="en-US" sz="1000" dirty="0">
                <a:solidFill>
                  <a:srgbClr val="CBD5E1"/>
                </a:solidFill>
              </a:rPr>
              <a:t>Temperature modules</a:t>
            </a:r>
            <a:endParaRPr lang="en-US" sz="1000" dirty="0"/>
          </a:p>
          <a:p>
            <a:pPr marL="152400" indent="-152400">
              <a:spcAft>
                <a:spcPts val="400"/>
              </a:spcAft>
              <a:buSzPct val="100000"/>
              <a:buChar char="•"/>
            </a:pPr>
            <a:r>
              <a:rPr lang="en-US" sz="1000" dirty="0">
                <a:solidFill>
                  <a:srgbClr val="CBD5E1"/>
                </a:solidFill>
              </a:rPr>
              <a:t>Relay-based shut-off</a:t>
            </a:r>
            <a:endParaRPr lang="en-US" sz="1000" dirty="0"/>
          </a:p>
          <a:p>
            <a:pPr marL="152400" indent="-152400">
              <a:spcAft>
                <a:spcPts val="400"/>
              </a:spcAft>
              <a:buSzPct val="100000"/>
              <a:buChar char="•"/>
            </a:pPr>
            <a:r>
              <a:rPr lang="en-US" sz="1000" dirty="0">
                <a:solidFill>
                  <a:srgbClr val="CBD5E1"/>
                </a:solidFill>
              </a:rPr>
              <a:t>Isolation Forest ML (scikit-learn)</a:t>
            </a:r>
            <a:endParaRPr lang="en-US" sz="1000" dirty="0"/>
          </a:p>
          <a:p>
            <a:pPr marL="152400" indent="-152400">
              <a:spcAft>
                <a:spcPts val="400"/>
              </a:spcAft>
              <a:buSzPct val="100000"/>
              <a:buChar char="•"/>
            </a:pPr>
            <a:r>
              <a:rPr lang="en-US" sz="1000" dirty="0">
                <a:solidFill>
                  <a:srgbClr val="CBD5E1"/>
                </a:solidFill>
              </a:rPr>
              <a:t>Python FastAPI backend</a:t>
            </a:r>
            <a:endParaRPr lang="en-US" sz="1000" dirty="0"/>
          </a:p>
          <a:p>
            <a:pPr marL="152400" indent="-152400">
              <a:spcAft>
                <a:spcPts val="400"/>
              </a:spcAft>
              <a:buSzPct val="100000"/>
              <a:buChar char="•"/>
            </a:pPr>
            <a:r>
              <a:rPr lang="en-US" sz="1000" dirty="0">
                <a:solidFill>
                  <a:srgbClr val="CBD5E1"/>
                </a:solidFill>
              </a:rPr>
              <a:t>SQLite / PostgreSQL</a:t>
            </a:r>
            <a:endParaRPr lang="en-US" sz="1000" dirty="0"/>
          </a:p>
          <a:p>
            <a:pPr marL="152400" indent="-152400">
              <a:spcAft>
                <a:spcPts val="400"/>
              </a:spcAft>
              <a:buSzPct val="100000"/>
              <a:buChar char="•"/>
            </a:pPr>
            <a:r>
              <a:rPr lang="en-US" sz="1000" dirty="0">
                <a:solidFill>
                  <a:srgbClr val="CBD5E1"/>
                </a:solidFill>
              </a:rPr>
              <a:t>React.js + TypeScript dashboard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3</a:t>
            </a:r>
            <a:endParaRPr lang="en-US" sz="700" dirty="0"/>
          </a:p>
        </p:txBody>
      </p:sp>
      <p:sp>
        <p:nvSpPr>
          <p:cNvPr id="6"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Why It Matters</a:t>
            </a:r>
            <a:endParaRPr lang="en-US" sz="3000" dirty="0"/>
          </a:p>
        </p:txBody>
      </p:sp>
      <p:sp>
        <p:nvSpPr>
          <p:cNvPr id="7"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The cost of one forgotten classroom — and of a whole campus</a:t>
            </a:r>
            <a:endParaRPr lang="en-US" sz="1200" dirty="0"/>
          </a:p>
        </p:txBody>
      </p:sp>
      <p:sp>
        <p:nvSpPr>
          <p:cNvPr id="8" name="Criteria pill"/>
          <p:cNvSpPr/>
          <p:nvPr/>
        </p:nvSpPr>
        <p:spPr>
          <a:xfrm>
            <a:off x="8869680" y="512064"/>
            <a:ext cx="2377440" cy="365760"/>
          </a:xfrm>
          <a:prstGeom prst="roundRect">
            <a:avLst>
              <a:gd name="adj" fmla="val 50000"/>
            </a:avLst>
          </a:prstGeom>
          <a:solidFill>
            <a:srgbClr val="1C3955"/>
          </a:solidFill>
          <a:ln w="15875">
            <a:solidFill>
              <a:srgbClr val="22D3EE"/>
            </a:solidFill>
            <a:prstDash val="solid"/>
          </a:ln>
        </p:spPr>
      </p:sp>
      <p:sp>
        <p:nvSpPr>
          <p:cNvPr id="9" name="Text 7"/>
          <p:cNvSpPr txBox="1"/>
          <p:nvPr/>
        </p:nvSpPr>
        <p:spPr>
          <a:xfrm>
            <a:off x="8869680" y="512064"/>
            <a:ext cx="2377440" cy="365760"/>
          </a:xfrm>
          <a:prstGeom prst="rect">
            <a:avLst/>
          </a:prstGeom>
          <a:noFill/>
          <a:ln/>
        </p:spPr>
        <p:txBody>
          <a:bodyPr wrap="square" lIns="0" tIns="0" rIns="0" bIns="0" rtlCol="0" anchor="ctr"/>
          <a:lstStyle/>
          <a:p>
            <a:pPr algn="ctr" indent="0" marL="0">
              <a:buNone/>
            </a:pPr>
            <a:r>
              <a:rPr lang="en-US" sz="900" b="1" spc="100" kern="0" dirty="0">
                <a:solidFill>
                  <a:srgbClr val="22D3EE"/>
                </a:solidFill>
              </a:rPr>
              <a:t>PROBLEM &amp; IMPACT</a:t>
            </a:r>
            <a:endParaRPr lang="en-US" sz="900" dirty="0"/>
          </a:p>
        </p:txBody>
      </p:sp>
      <p:sp>
        <p:nvSpPr>
          <p:cNvPr id="10" name="Card"/>
          <p:cNvSpPr/>
          <p:nvPr/>
        </p:nvSpPr>
        <p:spPr>
          <a:xfrm>
            <a:off x="640080" y="1691640"/>
            <a:ext cx="4206240" cy="4526280"/>
          </a:xfrm>
          <a:prstGeom prst="roundRect">
            <a:avLst>
              <a:gd name="adj" fmla="val 1739"/>
            </a:avLst>
          </a:prstGeom>
          <a:solidFill>
            <a:srgbClr val="2C3260"/>
          </a:solidFill>
          <a:ln/>
        </p:spPr>
      </p:sp>
      <p:sp>
        <p:nvSpPr>
          <p:cNvPr id="11" name="Text 9"/>
          <p:cNvSpPr txBox="1"/>
          <p:nvPr/>
        </p:nvSpPr>
        <p:spPr>
          <a:xfrm>
            <a:off x="868680" y="1874520"/>
            <a:ext cx="3657600" cy="256032"/>
          </a:xfrm>
          <a:prstGeom prst="rect">
            <a:avLst/>
          </a:prstGeom>
          <a:noFill/>
          <a:ln/>
        </p:spPr>
        <p:txBody>
          <a:bodyPr wrap="square" lIns="0" tIns="0" rIns="0" bIns="0" rtlCol="0" anchor="ctr"/>
          <a:lstStyle/>
          <a:p>
            <a:pPr indent="0" marL="0">
              <a:buNone/>
            </a:pPr>
            <a:r>
              <a:rPr lang="en-US" sz="1000" b="1" spc="200" kern="0" dirty="0">
                <a:solidFill>
                  <a:srgbClr val="CBD5E1"/>
                </a:solidFill>
              </a:rPr>
              <a:t>ONE TYPICAL CLASSROOM</a:t>
            </a:r>
            <a:endParaRPr lang="en-US" sz="1000" dirty="0"/>
          </a:p>
        </p:txBody>
      </p:sp>
      <p:sp>
        <p:nvSpPr>
          <p:cNvPr id="12" name="Text 10"/>
          <p:cNvSpPr txBox="1"/>
          <p:nvPr/>
        </p:nvSpPr>
        <p:spPr>
          <a:xfrm>
            <a:off x="868680" y="2240280"/>
            <a:ext cx="3840480" cy="2926080"/>
          </a:xfrm>
          <a:prstGeom prst="rect">
            <a:avLst/>
          </a:prstGeom>
          <a:noFill/>
          <a:ln/>
        </p:spPr>
        <p:txBody>
          <a:bodyPr wrap="square" rtlCol="0" anchor="t"/>
          <a:lstStyle/>
          <a:p>
            <a:pPr marL="152400" indent="-1524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6 tube lights × 40 W = 240 W</a:t>
            </a:r>
            <a:endParaRPr lang="en-US" sz="1300" dirty="0"/>
          </a:p>
          <a:p>
            <a:pPr marL="152400" indent="-1524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4 ceiling fans × 75 W = 300 W</a:t>
            </a:r>
            <a:endParaRPr lang="en-US" sz="1300" dirty="0"/>
          </a:p>
          <a:p>
            <a:pPr marL="152400" indent="-1524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1 split AC ≈ 1,500 W</a:t>
            </a:r>
            <a:endParaRPr lang="en-US" sz="1300" dirty="0"/>
          </a:p>
          <a:p>
            <a:pPr marL="152400" indent="-1524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Total ≈ 2.04 kW left running</a:t>
            </a:r>
            <a:endParaRPr lang="en-US" sz="1300" dirty="0"/>
          </a:p>
          <a:p>
            <a:pPr marL="152400" indent="-1524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Empty but ON ~3 h per day</a:t>
            </a:r>
            <a:endParaRPr lang="en-US" sz="1300" dirty="0"/>
          </a:p>
          <a:p>
            <a:pPr marL="152400" indent="-1524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220 working days per year</a:t>
            </a:r>
            <a:endParaRPr lang="en-US" sz="1300" dirty="0"/>
          </a:p>
          <a:p>
            <a:pPr marL="152400" indent="-152400">
              <a:spcAft>
                <a:spcPts val="800"/>
              </a:spcAft>
              <a:buSzPct val="100000"/>
              <a:buChar char="•"/>
            </a:pPr>
            <a:r>
              <a:rPr lang="en-US" sz="1300" dirty="0">
                <a:solidFill>
                  <a:srgbClr val="E2E8F0"/>
                </a:solidFill>
                <a:latin typeface="Calibri" pitchFamily="34" charset="0"/>
                <a:ea typeface="Calibri" pitchFamily="34" charset="-122"/>
                <a:cs typeface="Calibri" pitchFamily="34" charset="-120"/>
              </a:rPr>
              <a:t>Tariff ₹8/kWh · grid 0.71 kg CO₂/kWh</a:t>
            </a:r>
            <a:endParaRPr lang="en-US" sz="1300" dirty="0"/>
          </a:p>
        </p:txBody>
      </p:sp>
      <p:sp>
        <p:nvSpPr>
          <p:cNvPr id="13" name="Text 11"/>
          <p:cNvSpPr txBox="1"/>
          <p:nvPr/>
        </p:nvSpPr>
        <p:spPr>
          <a:xfrm>
            <a:off x="868680" y="5349240"/>
            <a:ext cx="3840480" cy="731520"/>
          </a:xfrm>
          <a:prstGeom prst="rect">
            <a:avLst/>
          </a:prstGeom>
          <a:noFill/>
          <a:ln/>
        </p:spPr>
        <p:txBody>
          <a:bodyPr wrap="square" lIns="0" tIns="0" rIns="0" bIns="0" rtlCol="0" anchor="ctr"/>
          <a:lstStyle/>
          <a:p>
            <a:pPr indent="0" marL="0">
              <a:buNone/>
            </a:pPr>
            <a:r>
              <a:rPr lang="en-US" sz="1050" i="1" dirty="0">
                <a:solidFill>
                  <a:srgbClr val="94A3B8"/>
                </a:solidFill>
              </a:rPr>
              <a:t>Illustrative estimate based on these assumptions — the exact figure depends on each campus.</a:t>
            </a:r>
            <a:endParaRPr lang="en-US" sz="1050" dirty="0"/>
          </a:p>
        </p:txBody>
      </p:sp>
      <p:sp>
        <p:nvSpPr>
          <p:cNvPr id="14" name="Card"/>
          <p:cNvSpPr/>
          <p:nvPr/>
        </p:nvSpPr>
        <p:spPr>
          <a:xfrm>
            <a:off x="5120640" y="1691640"/>
            <a:ext cx="2057400" cy="2377440"/>
          </a:xfrm>
          <a:prstGeom prst="roundRect">
            <a:avLst>
              <a:gd name="adj" fmla="val 3556"/>
            </a:avLst>
          </a:prstGeom>
          <a:solidFill>
            <a:srgbClr val="242A52"/>
          </a:solidFill>
          <a:ln/>
        </p:spPr>
      </p:sp>
      <p:sp>
        <p:nvSpPr>
          <p:cNvPr id="15" name="Shape 13"/>
          <p:cNvSpPr/>
          <p:nvPr/>
        </p:nvSpPr>
        <p:spPr>
          <a:xfrm>
            <a:off x="5870448" y="1874520"/>
            <a:ext cx="548640" cy="548640"/>
          </a:xfrm>
          <a:prstGeom prst="ellipse">
            <a:avLst/>
          </a:prstGeom>
          <a:solidFill>
            <a:srgbClr val="2C3260"/>
          </a:solidFill>
          <a:ln w="15875">
            <a:solidFill>
              <a:srgbClr val="3B82F6"/>
            </a:solidFill>
            <a:prstDash val="solid"/>
          </a:ln>
        </p:spPr>
      </p:sp>
      <p:pic>
        <p:nvPicPr>
          <p:cNvPr id="16" name="Image 0" descr="preencoded.png">    </p:cNvPr>
          <p:cNvPicPr>
            <a:picLocks noChangeAspect="1"/>
          </p:cNvPicPr>
          <p:nvPr/>
        </p:nvPicPr>
        <p:blipFill>
          <a:blip r:embed="rId1"/>
          <a:stretch>
            <a:fillRect/>
          </a:stretch>
        </p:blipFill>
        <p:spPr>
          <a:xfrm>
            <a:off x="6007608" y="2011680"/>
            <a:ext cx="274320" cy="274320"/>
          </a:xfrm>
          <a:prstGeom prst="rect">
            <a:avLst/>
          </a:prstGeom>
        </p:spPr>
      </p:pic>
      <p:sp>
        <p:nvSpPr>
          <p:cNvPr id="17" name="Text 14"/>
          <p:cNvSpPr txBox="1"/>
          <p:nvPr/>
        </p:nvSpPr>
        <p:spPr>
          <a:xfrm>
            <a:off x="5212080" y="2560320"/>
            <a:ext cx="1874520" cy="685800"/>
          </a:xfrm>
          <a:prstGeom prst="rect">
            <a:avLst/>
          </a:prstGeom>
          <a:noFill/>
          <a:ln/>
        </p:spPr>
        <p:txBody>
          <a:bodyPr wrap="square" lIns="0" tIns="0" rIns="0" bIns="0" rtlCol="0" anchor="ctr"/>
          <a:lstStyle/>
          <a:p>
            <a:pPr algn="ctr" indent="0" marL="0">
              <a:buNone/>
            </a:pPr>
            <a:r>
              <a:rPr lang="en-US" sz="2800" b="1" dirty="0">
                <a:solidFill>
                  <a:srgbClr val="22D3EE"/>
                </a:solidFill>
                <a:latin typeface="Cambria" pitchFamily="34" charset="0"/>
                <a:ea typeface="Cambria" pitchFamily="34" charset="-122"/>
                <a:cs typeface="Cambria" pitchFamily="34" charset="-120"/>
              </a:rPr>
              <a:t>1,346 kWh</a:t>
            </a:r>
            <a:endParaRPr lang="en-US" sz="2800" dirty="0"/>
          </a:p>
        </p:txBody>
      </p:sp>
      <p:sp>
        <p:nvSpPr>
          <p:cNvPr id="18" name="Text 15"/>
          <p:cNvSpPr txBox="1"/>
          <p:nvPr/>
        </p:nvSpPr>
        <p:spPr>
          <a:xfrm>
            <a:off x="5212080" y="3291840"/>
            <a:ext cx="1874520" cy="457200"/>
          </a:xfrm>
          <a:prstGeom prst="rect">
            <a:avLst/>
          </a:prstGeom>
          <a:noFill/>
          <a:ln/>
        </p:spPr>
        <p:txBody>
          <a:bodyPr wrap="square" lIns="0" tIns="0" rIns="0" bIns="0" rtlCol="0" anchor="ctr"/>
          <a:lstStyle/>
          <a:p>
            <a:pPr algn="ctr" indent="0" marL="0">
              <a:buNone/>
            </a:pPr>
            <a:r>
              <a:rPr lang="en-US" sz="1200" dirty="0">
                <a:solidFill>
                  <a:srgbClr val="CBD5E1"/>
                </a:solidFill>
              </a:rPr>
              <a:t>wasted per room / year</a:t>
            </a:r>
            <a:endParaRPr lang="en-US" sz="1200" dirty="0"/>
          </a:p>
        </p:txBody>
      </p:sp>
      <p:sp>
        <p:nvSpPr>
          <p:cNvPr id="19" name="Card"/>
          <p:cNvSpPr/>
          <p:nvPr/>
        </p:nvSpPr>
        <p:spPr>
          <a:xfrm>
            <a:off x="7342632" y="1691640"/>
            <a:ext cx="2057400" cy="2377440"/>
          </a:xfrm>
          <a:prstGeom prst="roundRect">
            <a:avLst>
              <a:gd name="adj" fmla="val 3556"/>
            </a:avLst>
          </a:prstGeom>
          <a:solidFill>
            <a:srgbClr val="242A52"/>
          </a:solidFill>
          <a:ln/>
        </p:spPr>
      </p:sp>
      <p:sp>
        <p:nvSpPr>
          <p:cNvPr id="20" name="Shape 17"/>
          <p:cNvSpPr/>
          <p:nvPr/>
        </p:nvSpPr>
        <p:spPr>
          <a:xfrm>
            <a:off x="8092440" y="1874520"/>
            <a:ext cx="548640" cy="548640"/>
          </a:xfrm>
          <a:prstGeom prst="ellipse">
            <a:avLst/>
          </a:prstGeom>
          <a:solidFill>
            <a:srgbClr val="2C3260"/>
          </a:solidFill>
          <a:ln w="15875">
            <a:solidFill>
              <a:srgbClr val="3B82F6"/>
            </a:solidFill>
            <a:prstDash val="solid"/>
          </a:ln>
        </p:spPr>
      </p:sp>
      <p:pic>
        <p:nvPicPr>
          <p:cNvPr id="21" name="Image 1" descr="preencoded.png">    </p:cNvPr>
          <p:cNvPicPr>
            <a:picLocks noChangeAspect="1"/>
          </p:cNvPicPr>
          <p:nvPr/>
        </p:nvPicPr>
        <p:blipFill>
          <a:blip r:embed="rId2"/>
          <a:stretch>
            <a:fillRect/>
          </a:stretch>
        </p:blipFill>
        <p:spPr>
          <a:xfrm>
            <a:off x="8229600" y="2011680"/>
            <a:ext cx="274320" cy="274320"/>
          </a:xfrm>
          <a:prstGeom prst="rect">
            <a:avLst/>
          </a:prstGeom>
        </p:spPr>
      </p:pic>
      <p:sp>
        <p:nvSpPr>
          <p:cNvPr id="22" name="Text 18"/>
          <p:cNvSpPr txBox="1"/>
          <p:nvPr/>
        </p:nvSpPr>
        <p:spPr>
          <a:xfrm>
            <a:off x="7434072" y="2560320"/>
            <a:ext cx="1874520" cy="685800"/>
          </a:xfrm>
          <a:prstGeom prst="rect">
            <a:avLst/>
          </a:prstGeom>
          <a:noFill/>
          <a:ln/>
        </p:spPr>
        <p:txBody>
          <a:bodyPr wrap="square" lIns="0" tIns="0" rIns="0" bIns="0" rtlCol="0" anchor="ctr"/>
          <a:lstStyle/>
          <a:p>
            <a:pPr algn="ctr" indent="0" marL="0">
              <a:buNone/>
            </a:pPr>
            <a:r>
              <a:rPr lang="en-US" sz="2800" b="1" dirty="0">
                <a:solidFill>
                  <a:srgbClr val="22D3EE"/>
                </a:solidFill>
                <a:latin typeface="Cambria" pitchFamily="34" charset="0"/>
                <a:ea typeface="Cambria" pitchFamily="34" charset="-122"/>
                <a:cs typeface="Cambria" pitchFamily="34" charset="-120"/>
              </a:rPr>
              <a:t>₹10,771</a:t>
            </a:r>
            <a:endParaRPr lang="en-US" sz="2800" dirty="0"/>
          </a:p>
        </p:txBody>
      </p:sp>
      <p:sp>
        <p:nvSpPr>
          <p:cNvPr id="23" name="Text 19"/>
          <p:cNvSpPr txBox="1"/>
          <p:nvPr/>
        </p:nvSpPr>
        <p:spPr>
          <a:xfrm>
            <a:off x="7434072" y="3291840"/>
            <a:ext cx="1874520" cy="457200"/>
          </a:xfrm>
          <a:prstGeom prst="rect">
            <a:avLst/>
          </a:prstGeom>
          <a:noFill/>
          <a:ln/>
        </p:spPr>
        <p:txBody>
          <a:bodyPr wrap="square" lIns="0" tIns="0" rIns="0" bIns="0" rtlCol="0" anchor="ctr"/>
          <a:lstStyle/>
          <a:p>
            <a:pPr algn="ctr" indent="0" marL="0">
              <a:buNone/>
            </a:pPr>
            <a:r>
              <a:rPr lang="en-US" sz="1200" dirty="0">
                <a:solidFill>
                  <a:srgbClr val="CBD5E1"/>
                </a:solidFill>
              </a:rPr>
              <a:t>lost per room / year</a:t>
            </a:r>
            <a:endParaRPr lang="en-US" sz="1200" dirty="0"/>
          </a:p>
        </p:txBody>
      </p:sp>
      <p:sp>
        <p:nvSpPr>
          <p:cNvPr id="24" name="Card"/>
          <p:cNvSpPr/>
          <p:nvPr/>
        </p:nvSpPr>
        <p:spPr>
          <a:xfrm>
            <a:off x="9564624" y="1691640"/>
            <a:ext cx="2057400" cy="2377440"/>
          </a:xfrm>
          <a:prstGeom prst="roundRect">
            <a:avLst>
              <a:gd name="adj" fmla="val 3556"/>
            </a:avLst>
          </a:prstGeom>
          <a:solidFill>
            <a:srgbClr val="242A52"/>
          </a:solidFill>
          <a:ln/>
        </p:spPr>
      </p:sp>
      <p:sp>
        <p:nvSpPr>
          <p:cNvPr id="25" name="Shape 21"/>
          <p:cNvSpPr/>
          <p:nvPr/>
        </p:nvSpPr>
        <p:spPr>
          <a:xfrm>
            <a:off x="10314432" y="1874520"/>
            <a:ext cx="548640" cy="548640"/>
          </a:xfrm>
          <a:prstGeom prst="ellipse">
            <a:avLst/>
          </a:prstGeom>
          <a:solidFill>
            <a:srgbClr val="2C3260"/>
          </a:solidFill>
          <a:ln w="15875">
            <a:solidFill>
              <a:srgbClr val="3B82F6"/>
            </a:solidFill>
            <a:prstDash val="solid"/>
          </a:ln>
        </p:spPr>
      </p:sp>
      <p:pic>
        <p:nvPicPr>
          <p:cNvPr id="26" name="Image 2" descr="preencoded.png">    </p:cNvPr>
          <p:cNvPicPr>
            <a:picLocks noChangeAspect="1"/>
          </p:cNvPicPr>
          <p:nvPr/>
        </p:nvPicPr>
        <p:blipFill>
          <a:blip r:embed="rId3"/>
          <a:stretch>
            <a:fillRect/>
          </a:stretch>
        </p:blipFill>
        <p:spPr>
          <a:xfrm>
            <a:off x="10451592" y="2011680"/>
            <a:ext cx="274320" cy="274320"/>
          </a:xfrm>
          <a:prstGeom prst="rect">
            <a:avLst/>
          </a:prstGeom>
        </p:spPr>
      </p:pic>
      <p:sp>
        <p:nvSpPr>
          <p:cNvPr id="27" name="Text 22"/>
          <p:cNvSpPr txBox="1"/>
          <p:nvPr/>
        </p:nvSpPr>
        <p:spPr>
          <a:xfrm>
            <a:off x="9656064" y="2560320"/>
            <a:ext cx="1874520" cy="685800"/>
          </a:xfrm>
          <a:prstGeom prst="rect">
            <a:avLst/>
          </a:prstGeom>
          <a:noFill/>
          <a:ln/>
        </p:spPr>
        <p:txBody>
          <a:bodyPr wrap="square" lIns="0" tIns="0" rIns="0" bIns="0" rtlCol="0" anchor="ctr"/>
          <a:lstStyle/>
          <a:p>
            <a:pPr algn="ctr" indent="0" marL="0">
              <a:buNone/>
            </a:pPr>
            <a:r>
              <a:rPr lang="en-US" sz="2800" b="1" dirty="0">
                <a:solidFill>
                  <a:srgbClr val="22D3EE"/>
                </a:solidFill>
                <a:latin typeface="Cambria" pitchFamily="34" charset="0"/>
                <a:ea typeface="Cambria" pitchFamily="34" charset="-122"/>
                <a:cs typeface="Cambria" pitchFamily="34" charset="-120"/>
              </a:rPr>
              <a:t>956 kg</a:t>
            </a:r>
            <a:endParaRPr lang="en-US" sz="2800" dirty="0"/>
          </a:p>
        </p:txBody>
      </p:sp>
      <p:sp>
        <p:nvSpPr>
          <p:cNvPr id="28" name="Text 23"/>
          <p:cNvSpPr txBox="1"/>
          <p:nvPr/>
        </p:nvSpPr>
        <p:spPr>
          <a:xfrm>
            <a:off x="9656064" y="3291840"/>
            <a:ext cx="1874520" cy="457200"/>
          </a:xfrm>
          <a:prstGeom prst="rect">
            <a:avLst/>
          </a:prstGeom>
          <a:noFill/>
          <a:ln/>
        </p:spPr>
        <p:txBody>
          <a:bodyPr wrap="square" lIns="0" tIns="0" rIns="0" bIns="0" rtlCol="0" anchor="ctr"/>
          <a:lstStyle/>
          <a:p>
            <a:pPr algn="ctr" indent="0" marL="0">
              <a:buNone/>
            </a:pPr>
            <a:r>
              <a:rPr lang="en-US" sz="1200" dirty="0">
                <a:solidFill>
                  <a:srgbClr val="CBD5E1"/>
                </a:solidFill>
              </a:rPr>
              <a:t>CO₂ per room / year</a:t>
            </a:r>
            <a:endParaRPr lang="en-US" sz="1200" dirty="0"/>
          </a:p>
        </p:txBody>
      </p:sp>
      <p:sp>
        <p:nvSpPr>
          <p:cNvPr id="29" name="Card"/>
          <p:cNvSpPr/>
          <p:nvPr/>
        </p:nvSpPr>
        <p:spPr>
          <a:xfrm>
            <a:off x="5120640" y="4297680"/>
            <a:ext cx="6501384" cy="1920240"/>
          </a:xfrm>
          <a:prstGeom prst="roundRect">
            <a:avLst>
              <a:gd name="adj" fmla="val 3810"/>
            </a:avLst>
          </a:prstGeom>
          <a:solidFill>
            <a:srgbClr val="242A52"/>
          </a:solidFill>
          <a:ln w="15875">
            <a:solidFill>
              <a:srgbClr val="22D3EE"/>
            </a:solidFill>
            <a:prstDash val="solid"/>
          </a:ln>
        </p:spPr>
      </p:sp>
      <p:sp>
        <p:nvSpPr>
          <p:cNvPr id="30" name="Text 25"/>
          <p:cNvSpPr txBox="1"/>
          <p:nvPr/>
        </p:nvSpPr>
        <p:spPr>
          <a:xfrm>
            <a:off x="5349240" y="4462272"/>
            <a:ext cx="4572000" cy="256032"/>
          </a:xfrm>
          <a:prstGeom prst="rect">
            <a:avLst/>
          </a:prstGeom>
          <a:noFill/>
          <a:ln/>
        </p:spPr>
        <p:txBody>
          <a:bodyPr wrap="square" lIns="0" tIns="0" rIns="0" bIns="0" rtlCol="0" anchor="ctr"/>
          <a:lstStyle/>
          <a:p>
            <a:pPr indent="0" marL="0">
              <a:buNone/>
            </a:pPr>
            <a:r>
              <a:rPr lang="en-US" sz="1000" b="1" spc="200" kern="0" dirty="0">
                <a:solidFill>
                  <a:srgbClr val="22D3EE"/>
                </a:solidFill>
              </a:rPr>
              <a:t>SCALE IT TO 100 ROOMS</a:t>
            </a:r>
            <a:endParaRPr lang="en-US" sz="1000" dirty="0"/>
          </a:p>
        </p:txBody>
      </p:sp>
      <p:sp>
        <p:nvSpPr>
          <p:cNvPr id="31" name="Text 26"/>
          <p:cNvSpPr txBox="1"/>
          <p:nvPr/>
        </p:nvSpPr>
        <p:spPr>
          <a:xfrm>
            <a:off x="5349240" y="4754880"/>
            <a:ext cx="6080760" cy="137160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Calibri" pitchFamily="34" charset="0"/>
                <a:ea typeface="Calibri" pitchFamily="34" charset="-122"/>
                <a:cs typeface="Calibri" pitchFamily="34" charset="-120"/>
              </a:rPr>
              <a:t>≈ 1.35 lakh kWh  ·  ≈ ₹10.8 lakh  ·  ≈ 96 tonnes CO₂ </a:t>
            </a:r>
            <a:endParaRPr lang="en-US" sz="1600" dirty="0"/>
          </a:p>
          <a:p>
            <a:pPr indent="0" marL="0">
              <a:spcAft>
                <a:spcPts val="600"/>
              </a:spcAft>
              <a:buNone/>
            </a:pPr>
            <a:r>
              <a:rPr lang="en-US" sz="1250" dirty="0">
                <a:solidFill>
                  <a:srgbClr val="E2E8F0"/>
                </a:solidFill>
                <a:latin typeface="Calibri" pitchFamily="34" charset="0"/>
                <a:ea typeface="Calibri" pitchFamily="34" charset="-122"/>
                <a:cs typeface="Calibri" pitchFamily="34" charset="-120"/>
              </a:rPr>
              <a:t>every single year — from rooms where nobody is even present. In our 7-day simulated demo campus, 15.9% of all energy was drawn in vacant rooms.</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4</a:t>
            </a:r>
            <a:endParaRPr lang="en-US" sz="700" dirty="0"/>
          </a:p>
        </p:txBody>
      </p:sp>
      <p:sp>
        <p:nvSpPr>
          <p:cNvPr id="6"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Innovation &amp; Differentiation</a:t>
            </a:r>
            <a:endParaRPr lang="en-US" sz="3000" dirty="0"/>
          </a:p>
        </p:txBody>
      </p:sp>
      <p:sp>
        <p:nvSpPr>
          <p:cNvPr id="7"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What makes your approach genuinely new?</a:t>
            </a:r>
            <a:endParaRPr lang="en-US" sz="1200" dirty="0"/>
          </a:p>
        </p:txBody>
      </p:sp>
      <p:sp>
        <p:nvSpPr>
          <p:cNvPr id="8" name="Criteria pill"/>
          <p:cNvSpPr/>
          <p:nvPr/>
        </p:nvSpPr>
        <p:spPr>
          <a:xfrm>
            <a:off x="8869680" y="512064"/>
            <a:ext cx="2377440" cy="365760"/>
          </a:xfrm>
          <a:prstGeom prst="roundRect">
            <a:avLst>
              <a:gd name="adj" fmla="val 50000"/>
            </a:avLst>
          </a:prstGeom>
          <a:solidFill>
            <a:srgbClr val="1C3955"/>
          </a:solidFill>
          <a:ln w="15875">
            <a:solidFill>
              <a:srgbClr val="22D3EE"/>
            </a:solidFill>
            <a:prstDash val="solid"/>
          </a:ln>
        </p:spPr>
      </p:sp>
      <p:sp>
        <p:nvSpPr>
          <p:cNvPr id="9" name="Text 7"/>
          <p:cNvSpPr txBox="1"/>
          <p:nvPr/>
        </p:nvSpPr>
        <p:spPr>
          <a:xfrm>
            <a:off x="8869680" y="512064"/>
            <a:ext cx="2377440" cy="365760"/>
          </a:xfrm>
          <a:prstGeom prst="rect">
            <a:avLst/>
          </a:prstGeom>
          <a:noFill/>
          <a:ln/>
        </p:spPr>
        <p:txBody>
          <a:bodyPr wrap="square" lIns="0" tIns="0" rIns="0" bIns="0" rtlCol="0" anchor="ctr"/>
          <a:lstStyle/>
          <a:p>
            <a:pPr algn="ctr" indent="0" marL="0">
              <a:buNone/>
            </a:pPr>
            <a:r>
              <a:rPr lang="en-US" sz="900" b="1" spc="100" kern="0" dirty="0">
                <a:solidFill>
                  <a:srgbClr val="22D3EE"/>
                </a:solidFill>
              </a:rPr>
              <a:t>INNOVATION &amp; ORIGINALITY · 25%</a:t>
            </a:r>
            <a:endParaRPr lang="en-US" sz="900" dirty="0"/>
          </a:p>
        </p:txBody>
      </p:sp>
      <p:pic>
        <p:nvPicPr>
          <p:cNvPr id="10" name="Image 0" descr="preencoded.png">    </p:cNvPr>
          <p:cNvPicPr>
            <a:picLocks noChangeAspect="1"/>
          </p:cNvPicPr>
          <p:nvPr/>
        </p:nvPicPr>
        <p:blipFill>
          <a:blip r:embed="rId1"/>
          <a:stretch>
            <a:fillRect/>
          </a:stretch>
        </p:blipFill>
        <p:spPr>
          <a:xfrm>
            <a:off x="10104120" y="932688"/>
            <a:ext cx="713232" cy="841248"/>
          </a:xfrm>
          <a:prstGeom prst="rect">
            <a:avLst/>
          </a:prstGeom>
        </p:spPr>
      </p:pic>
      <p:sp>
        <p:nvSpPr>
          <p:cNvPr id="11" name="Card"/>
          <p:cNvSpPr/>
          <p:nvPr/>
        </p:nvSpPr>
        <p:spPr>
          <a:xfrm>
            <a:off x="640080" y="1874520"/>
            <a:ext cx="5120640" cy="4434840"/>
          </a:xfrm>
          <a:prstGeom prst="roundRect">
            <a:avLst>
              <a:gd name="adj" fmla="val 1649"/>
            </a:avLst>
          </a:prstGeom>
          <a:solidFill>
            <a:srgbClr val="2C3260"/>
          </a:solidFill>
          <a:ln/>
        </p:spPr>
      </p:sp>
      <p:sp>
        <p:nvSpPr>
          <p:cNvPr id="12" name="Text 9"/>
          <p:cNvSpPr txBox="1"/>
          <p:nvPr/>
        </p:nvSpPr>
        <p:spPr>
          <a:xfrm>
            <a:off x="868680" y="2057400"/>
            <a:ext cx="3657600" cy="256032"/>
          </a:xfrm>
          <a:prstGeom prst="rect">
            <a:avLst/>
          </a:prstGeom>
          <a:noFill/>
          <a:ln/>
        </p:spPr>
        <p:txBody>
          <a:bodyPr wrap="square" lIns="0" tIns="0" rIns="0" bIns="0" rtlCol="0" anchor="ctr"/>
          <a:lstStyle/>
          <a:p>
            <a:pPr indent="0" marL="0">
              <a:buNone/>
            </a:pPr>
            <a:r>
              <a:rPr lang="en-US" sz="1000" b="1" spc="200" kern="0" dirty="0">
                <a:solidFill>
                  <a:srgbClr val="CBD5E1"/>
                </a:solidFill>
              </a:rPr>
              <a:t>TODAY'S APPROACH</a:t>
            </a:r>
            <a:endParaRPr lang="en-US" sz="1000" dirty="0"/>
          </a:p>
        </p:txBody>
      </p:sp>
      <p:sp>
        <p:nvSpPr>
          <p:cNvPr id="13" name="Text 10"/>
          <p:cNvSpPr txBox="1"/>
          <p:nvPr/>
        </p:nvSpPr>
        <p:spPr>
          <a:xfrm>
            <a:off x="868680" y="2395728"/>
            <a:ext cx="4709160" cy="3749040"/>
          </a:xfrm>
          <a:prstGeom prst="rect">
            <a:avLst/>
          </a:prstGeom>
          <a:noFill/>
          <a:ln/>
        </p:spPr>
        <p:txBody>
          <a:bodyPr wrap="square" rtlCol="0" anchor="t"/>
          <a:lstStyle/>
          <a:p>
            <a:pPr marL="152400" indent="-152400">
              <a:spcAft>
                <a:spcPts val="1000"/>
              </a:spcAft>
              <a:buSzPct val="100000"/>
              <a:buChar char="•"/>
            </a:pPr>
            <a:r>
              <a:rPr lang="en-US" sz="1250" dirty="0">
                <a:solidFill>
                  <a:srgbClr val="E2E8F0"/>
                </a:solidFill>
                <a:latin typeface="Calibri" pitchFamily="34" charset="0"/>
                <a:ea typeface="Calibri" pitchFamily="34" charset="-122"/>
                <a:cs typeface="Calibri" pitchFamily="34" charset="-120"/>
              </a:rPr>
              <a:t>Appliances are switched off manually by occupants or staff, or run on fixed timers — so empty rooms keep drawing power.</a:t>
            </a:r>
            <a:endParaRPr lang="en-US" sz="1250" dirty="0"/>
          </a:p>
          <a:p>
            <a:pPr marL="152400" indent="-152400">
              <a:spcAft>
                <a:spcPts val="1000"/>
              </a:spcAft>
              <a:buSzPct val="100000"/>
              <a:buChar char="•"/>
            </a:pPr>
            <a:r>
              <a:rPr lang="en-US" sz="1250" dirty="0">
                <a:solidFill>
                  <a:srgbClr val="E2E8F0"/>
                </a:solidFill>
                <a:latin typeface="Calibri" pitchFamily="34" charset="0"/>
                <a:ea typeface="Calibri" pitchFamily="34" charset="-122"/>
                <a:cs typeface="Calibri" pitchFamily="34" charset="-120"/>
              </a:rPr>
              <a:t>Conventional binary motion sensors trigger false positives or blind shut-offs (e.g. a lab cut off mid-experiment) and cannot tell necessary loads from waste.</a:t>
            </a:r>
            <a:endParaRPr lang="en-US" sz="1250" dirty="0"/>
          </a:p>
          <a:p>
            <a:pPr marL="152400" indent="-152400">
              <a:spcAft>
                <a:spcPts val="1000"/>
              </a:spcAft>
              <a:buSzPct val="100000"/>
              <a:buChar char="•"/>
            </a:pPr>
            <a:r>
              <a:rPr lang="en-US" sz="1250" dirty="0">
                <a:solidFill>
                  <a:srgbClr val="E2E8F0"/>
                </a:solidFill>
                <a:latin typeface="Calibri" pitchFamily="34" charset="0"/>
                <a:ea typeface="Calibri" pitchFamily="34" charset="-122"/>
                <a:cs typeface="Calibri" pitchFamily="34" charset="-120"/>
              </a:rPr>
              <a:t>No room-level visibility: savings are never measured, and faults like a stuck relay or phantom load go unnoticed.</a:t>
            </a:r>
            <a:endParaRPr lang="en-US" sz="1250" dirty="0"/>
          </a:p>
          <a:p>
            <a:pPr marL="152400" indent="-152400">
              <a:spcAft>
                <a:spcPts val="1000"/>
              </a:spcAft>
              <a:buSzPct val="100000"/>
              <a:buChar char="•"/>
            </a:pPr>
            <a:r>
              <a:rPr lang="en-US" sz="1250" dirty="0">
                <a:solidFill>
                  <a:srgbClr val="E2E8F0"/>
                </a:solidFill>
                <a:latin typeface="Calibri" pitchFamily="34" charset="0"/>
                <a:ea typeface="Calibri" pitchFamily="34" charset="-122"/>
                <a:cs typeface="Calibri" pitchFamily="34" charset="-120"/>
              </a:rPr>
              <a:t>Commercial building-management systems are costly and built for large offices, not classrooms and hostels.</a:t>
            </a:r>
            <a:endParaRPr lang="en-US" sz="1250" dirty="0"/>
          </a:p>
        </p:txBody>
      </p:sp>
      <p:sp>
        <p:nvSpPr>
          <p:cNvPr id="14" name="Card"/>
          <p:cNvSpPr/>
          <p:nvPr/>
        </p:nvSpPr>
        <p:spPr>
          <a:xfrm>
            <a:off x="6035040" y="1874520"/>
            <a:ext cx="5486400" cy="4434840"/>
          </a:xfrm>
          <a:prstGeom prst="roundRect">
            <a:avLst>
              <a:gd name="adj" fmla="val 1649"/>
            </a:avLst>
          </a:prstGeom>
          <a:solidFill>
            <a:srgbClr val="242A52"/>
          </a:solidFill>
          <a:ln w="15875">
            <a:solidFill>
              <a:srgbClr val="22D3EE"/>
            </a:solidFill>
            <a:prstDash val="solid"/>
          </a:ln>
        </p:spPr>
      </p:sp>
      <p:sp>
        <p:nvSpPr>
          <p:cNvPr id="15" name="Text 12"/>
          <p:cNvSpPr txBox="1"/>
          <p:nvPr/>
        </p:nvSpPr>
        <p:spPr>
          <a:xfrm>
            <a:off x="6263640" y="2057400"/>
            <a:ext cx="3657600" cy="256032"/>
          </a:xfrm>
          <a:prstGeom prst="rect">
            <a:avLst/>
          </a:prstGeom>
          <a:noFill/>
          <a:ln/>
        </p:spPr>
        <p:txBody>
          <a:bodyPr wrap="square" lIns="0" tIns="0" rIns="0" bIns="0" rtlCol="0" anchor="ctr"/>
          <a:lstStyle/>
          <a:p>
            <a:pPr indent="0" marL="0">
              <a:buNone/>
            </a:pPr>
            <a:r>
              <a:rPr lang="en-US" sz="1000" b="1" spc="200" kern="0" dirty="0">
                <a:solidFill>
                  <a:srgbClr val="22D3EE"/>
                </a:solidFill>
              </a:rPr>
              <a:t>YOUR APPROACH</a:t>
            </a:r>
            <a:endParaRPr lang="en-US" sz="1000" dirty="0"/>
          </a:p>
        </p:txBody>
      </p:sp>
      <p:sp>
        <p:nvSpPr>
          <p:cNvPr id="16" name="Text 13"/>
          <p:cNvSpPr txBox="1"/>
          <p:nvPr/>
        </p:nvSpPr>
        <p:spPr>
          <a:xfrm>
            <a:off x="6263640" y="2395728"/>
            <a:ext cx="5074920" cy="3840480"/>
          </a:xfrm>
          <a:prstGeom prst="rect">
            <a:avLst/>
          </a:prstGeom>
          <a:noFill/>
          <a:ln/>
        </p:spPr>
        <p:txBody>
          <a:bodyPr wrap="square" rtlCol="0" anchor="t"/>
          <a:lstStyle/>
          <a:p>
            <a:pPr indent="0" marL="0">
              <a:buNone/>
            </a:pPr>
            <a:r>
              <a:rPr lang="en-US" sz="1200" b="1" dirty="0">
                <a:solidFill>
                  <a:srgbClr val="FFFFFF"/>
                </a:solidFill>
                <a:latin typeface="Calibri" pitchFamily="34" charset="0"/>
                <a:ea typeface="Calibri" pitchFamily="34" charset="-122"/>
                <a:cs typeface="Calibri" pitchFamily="34" charset="-120"/>
              </a:rPr>
              <a:t>1.  Edge-AI Intelligence Engine: </a:t>
            </a:r>
            <a:pPr indent="0" marL="0">
              <a:spcAft>
                <a:spcPts val="800"/>
              </a:spcAft>
              <a:buNone/>
            </a:pPr>
            <a:r>
              <a:rPr lang="en-US" sz="1200" dirty="0">
                <a:solidFill>
                  <a:srgbClr val="E2E8F0"/>
                </a:solidFill>
                <a:latin typeface="Calibri" pitchFamily="34" charset="0"/>
                <a:ea typeface="Calibri" pitchFamily="34" charset="-122"/>
                <a:cs typeface="Calibri" pitchFamily="34" charset="-120"/>
              </a:rPr>
              <a:t>ML anomaly detection on electrical features catches spikes, over-consumption, voltage faults and phantom loads.</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2.  Multi-signal sensing: </a:t>
            </a:r>
            <a:pPr indent="0" marL="0">
              <a:spcAft>
                <a:spcPts val="800"/>
              </a:spcAft>
              <a:buNone/>
            </a:pPr>
            <a:r>
              <a:rPr lang="en-US" sz="1200" dirty="0">
                <a:solidFill>
                  <a:srgbClr val="E2E8F0"/>
                </a:solidFill>
                <a:latin typeface="Calibri" pitchFamily="34" charset="0"/>
                <a:ea typeface="Calibri" pitchFamily="34" charset="-122"/>
                <a:cs typeface="Calibri" pitchFamily="34" charset="-120"/>
              </a:rPr>
              <a:t>occupancy (PIR/mmWave), current &amp; power (SCT-013/PZEM) and temperature fused on a low-cost ESP32.</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3.  Explainable, safety-first decisions: </a:t>
            </a:r>
            <a:pPr indent="0" marL="0">
              <a:spcAft>
                <a:spcPts val="800"/>
              </a:spcAft>
              <a:buNone/>
            </a:pPr>
            <a:r>
              <a:rPr lang="en-US" sz="1200" dirty="0">
                <a:solidFill>
                  <a:srgbClr val="E2E8F0"/>
                </a:solidFill>
                <a:latin typeface="Calibri" pitchFamily="34" charset="0"/>
                <a:ea typeface="Calibri" pitchFamily="34" charset="-122"/>
                <a:cs typeface="Calibri" pitchFamily="34" charset="-120"/>
              </a:rPr>
              <a:t>20 checks (data freshness, schedules, overrides, essential loads) — every decision is shown check-by-check.</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4.  Closed loop: </a:t>
            </a:r>
            <a:pPr indent="0" marL="0">
              <a:spcAft>
                <a:spcPts val="800"/>
              </a:spcAft>
              <a:buNone/>
            </a:pPr>
            <a:r>
              <a:rPr lang="en-US" sz="1200" dirty="0">
                <a:solidFill>
                  <a:srgbClr val="E2E8F0"/>
                </a:solidFill>
                <a:latin typeface="Calibri" pitchFamily="34" charset="0"/>
                <a:ea typeface="Calibri" pitchFamily="34" charset="-122"/>
                <a:cs typeface="Calibri" pitchFamily="34" charset="-120"/>
              </a:rPr>
              <a:t>relay shut-off with acknowledgement &amp; timeout, real-time alerts and a dashboard tracking kWh, ₹ and CO₂ savings.</a:t>
            </a:r>
            <a:endParaRPr lang="en-US" sz="1200" dirty="0"/>
          </a:p>
          <a:p>
            <a:pPr indent="0" marL="0">
              <a:buNone/>
            </a:pPr>
            <a:r>
              <a:rPr lang="en-US" sz="1200" b="1" dirty="0">
                <a:solidFill>
                  <a:srgbClr val="FFFFFF"/>
                </a:solidFill>
                <a:latin typeface="Calibri" pitchFamily="34" charset="0"/>
                <a:ea typeface="Calibri" pitchFamily="34" charset="-122"/>
                <a:cs typeface="Calibri" pitchFamily="34" charset="-120"/>
              </a:rPr>
              <a:t>5.  Hardware-ready, deploy-anywhere: </a:t>
            </a:r>
            <a:pPr indent="0" marL="0">
              <a:spcAft>
                <a:spcPts val="800"/>
              </a:spcAft>
              <a:buNone/>
            </a:pPr>
            <a:r>
              <a:rPr lang="en-US" sz="1200" dirty="0">
                <a:solidFill>
                  <a:srgbClr val="E2E8F0"/>
                </a:solidFill>
                <a:latin typeface="Calibri" pitchFamily="34" charset="0"/>
                <a:ea typeface="Calibri" pitchFamily="34" charset="-122"/>
                <a:cs typeface="Calibri" pitchFamily="34" charset="-120"/>
              </a:rPr>
              <a:t>a simulator and ESP32 emulator use the exact device protocol, so the software is tested before a single wire is connected.</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5</a:t>
            </a:r>
            <a:endParaRPr lang="en-US" sz="700" dirty="0"/>
          </a:p>
        </p:txBody>
      </p:sp>
      <p:sp>
        <p:nvSpPr>
          <p:cNvPr id="6"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How It Works — System Architecture</a:t>
            </a:r>
            <a:endParaRPr lang="en-US" sz="3000" dirty="0"/>
          </a:p>
        </p:txBody>
      </p:sp>
      <p:sp>
        <p:nvSpPr>
          <p:cNvPr id="7"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Four layers, one data path from sensor to screen</a:t>
            </a:r>
            <a:endParaRPr lang="en-US" sz="1200" dirty="0"/>
          </a:p>
        </p:txBody>
      </p:sp>
      <p:sp>
        <p:nvSpPr>
          <p:cNvPr id="8" name="Criteria pill"/>
          <p:cNvSpPr/>
          <p:nvPr/>
        </p:nvSpPr>
        <p:spPr>
          <a:xfrm>
            <a:off x="8869680" y="512064"/>
            <a:ext cx="2377440" cy="365760"/>
          </a:xfrm>
          <a:prstGeom prst="roundRect">
            <a:avLst>
              <a:gd name="adj" fmla="val 50000"/>
            </a:avLst>
          </a:prstGeom>
          <a:solidFill>
            <a:srgbClr val="1C3955"/>
          </a:solidFill>
          <a:ln w="15875">
            <a:solidFill>
              <a:srgbClr val="22D3EE"/>
            </a:solidFill>
            <a:prstDash val="solid"/>
          </a:ln>
        </p:spPr>
      </p:sp>
      <p:sp>
        <p:nvSpPr>
          <p:cNvPr id="9" name="Text 7"/>
          <p:cNvSpPr txBox="1"/>
          <p:nvPr/>
        </p:nvSpPr>
        <p:spPr>
          <a:xfrm>
            <a:off x="8869680" y="512064"/>
            <a:ext cx="2377440" cy="365760"/>
          </a:xfrm>
          <a:prstGeom prst="rect">
            <a:avLst/>
          </a:prstGeom>
          <a:noFill/>
          <a:ln/>
        </p:spPr>
        <p:txBody>
          <a:bodyPr wrap="square" lIns="0" tIns="0" rIns="0" bIns="0" rtlCol="0" anchor="ctr"/>
          <a:lstStyle/>
          <a:p>
            <a:pPr algn="ctr" indent="0" marL="0">
              <a:buNone/>
            </a:pPr>
            <a:r>
              <a:rPr lang="en-US" sz="900" b="1" spc="100" kern="0" dirty="0">
                <a:solidFill>
                  <a:srgbClr val="22D3EE"/>
                </a:solidFill>
              </a:rPr>
              <a:t>TECHNICAL DESIGN</a:t>
            </a:r>
            <a:endParaRPr lang="en-US" sz="900" dirty="0"/>
          </a:p>
        </p:txBody>
      </p:sp>
      <p:sp>
        <p:nvSpPr>
          <p:cNvPr id="10" name="Card"/>
          <p:cNvSpPr/>
          <p:nvPr/>
        </p:nvSpPr>
        <p:spPr>
          <a:xfrm>
            <a:off x="640080" y="1691640"/>
            <a:ext cx="2487168" cy="3429000"/>
          </a:xfrm>
          <a:prstGeom prst="roundRect">
            <a:avLst>
              <a:gd name="adj" fmla="val 2941"/>
            </a:avLst>
          </a:prstGeom>
          <a:solidFill>
            <a:srgbClr val="2A3166"/>
          </a:solidFill>
          <a:ln w="15875">
            <a:solidFill>
              <a:srgbClr val="3B82F6"/>
            </a:solidFill>
            <a:prstDash val="solid"/>
          </a:ln>
        </p:spPr>
      </p:sp>
      <p:sp>
        <p:nvSpPr>
          <p:cNvPr id="11" name="Shape 9"/>
          <p:cNvSpPr/>
          <p:nvPr/>
        </p:nvSpPr>
        <p:spPr>
          <a:xfrm>
            <a:off x="822960" y="1847088"/>
            <a:ext cx="548640" cy="548640"/>
          </a:xfrm>
          <a:prstGeom prst="ellipse">
            <a:avLst/>
          </a:prstGeom>
          <a:solidFill>
            <a:srgbClr val="242A52"/>
          </a:solidFill>
          <a:ln w="15875">
            <a:solidFill>
              <a:srgbClr val="3B82F6"/>
            </a:solidFill>
            <a:prstDash val="solid"/>
          </a:ln>
        </p:spPr>
      </p:sp>
      <p:pic>
        <p:nvPicPr>
          <p:cNvPr id="12" name="Image 0" descr="preencoded.png">    </p:cNvPr>
          <p:cNvPicPr>
            <a:picLocks noChangeAspect="1"/>
          </p:cNvPicPr>
          <p:nvPr/>
        </p:nvPicPr>
        <p:blipFill>
          <a:blip r:embed="rId1"/>
          <a:stretch>
            <a:fillRect/>
          </a:stretch>
        </p:blipFill>
        <p:spPr>
          <a:xfrm>
            <a:off x="960120" y="1984248"/>
            <a:ext cx="274320" cy="274320"/>
          </a:xfrm>
          <a:prstGeom prst="rect">
            <a:avLst/>
          </a:prstGeom>
        </p:spPr>
      </p:pic>
      <p:sp>
        <p:nvSpPr>
          <p:cNvPr id="13" name="Text 10"/>
          <p:cNvSpPr txBox="1"/>
          <p:nvPr/>
        </p:nvSpPr>
        <p:spPr>
          <a:xfrm>
            <a:off x="1463040" y="1847088"/>
            <a:ext cx="1572768" cy="548640"/>
          </a:xfrm>
          <a:prstGeom prst="rect">
            <a:avLst/>
          </a:prstGeom>
          <a:noFill/>
          <a:ln/>
        </p:spPr>
        <p:txBody>
          <a:bodyPr wrap="square" lIns="0" tIns="0" rIns="0" bIns="0" rtlCol="0" anchor="ctr"/>
          <a:lstStyle/>
          <a:p>
            <a:pPr indent="0" marL="0">
              <a:buNone/>
            </a:pPr>
            <a:r>
              <a:rPr lang="en-US" sz="1300" b="1" dirty="0">
                <a:solidFill>
                  <a:srgbClr val="22D3EE"/>
                </a:solidFill>
              </a:rPr>
              <a:t>1. Room Node (Edge)</a:t>
            </a:r>
            <a:endParaRPr lang="en-US" sz="1300" dirty="0"/>
          </a:p>
        </p:txBody>
      </p:sp>
      <p:sp>
        <p:nvSpPr>
          <p:cNvPr id="14" name="Text 11"/>
          <p:cNvSpPr txBox="1"/>
          <p:nvPr/>
        </p:nvSpPr>
        <p:spPr>
          <a:xfrm>
            <a:off x="822960" y="2560320"/>
            <a:ext cx="2167128" cy="2468880"/>
          </a:xfrm>
          <a:prstGeom prst="rect">
            <a:avLst/>
          </a:prstGeom>
          <a:noFill/>
          <a:ln/>
        </p:spPr>
        <p:txBody>
          <a:bodyPr wrap="square" rtlCol="0" anchor="t"/>
          <a:lstStyle/>
          <a:p>
            <a:pPr marL="152400" indent="-1524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ESP32 + PIR + PZEM/SCT-013 + relay board</a:t>
            </a:r>
            <a:endParaRPr lang="en-US" sz="1150" dirty="0"/>
          </a:p>
          <a:p>
            <a:pPr marL="152400" indent="-1524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Sends readings every 5 s over Wi-Fi (HTTPS JSON)</a:t>
            </a:r>
            <a:endParaRPr lang="en-US" sz="1150" dirty="0"/>
          </a:p>
          <a:p>
            <a:pPr marL="152400" indent="-1524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Switches relay ON/OFF and confirms with the power meter</a:t>
            </a:r>
            <a:endParaRPr lang="en-US" sz="1150" dirty="0"/>
          </a:p>
        </p:txBody>
      </p:sp>
      <p:pic>
        <p:nvPicPr>
          <p:cNvPr id="15" name="Image 1" descr="preencoded.png">    </p:cNvPr>
          <p:cNvPicPr>
            <a:picLocks noChangeAspect="1"/>
          </p:cNvPicPr>
          <p:nvPr/>
        </p:nvPicPr>
        <p:blipFill>
          <a:blip r:embed="rId2"/>
          <a:stretch>
            <a:fillRect/>
          </a:stretch>
        </p:blipFill>
        <p:spPr>
          <a:xfrm>
            <a:off x="3191256" y="3246120"/>
            <a:ext cx="210312" cy="210312"/>
          </a:xfrm>
          <a:prstGeom prst="rect">
            <a:avLst/>
          </a:prstGeom>
        </p:spPr>
      </p:pic>
      <p:sp>
        <p:nvSpPr>
          <p:cNvPr id="16" name="Card"/>
          <p:cNvSpPr/>
          <p:nvPr/>
        </p:nvSpPr>
        <p:spPr>
          <a:xfrm>
            <a:off x="3465576" y="1691640"/>
            <a:ext cx="2487168" cy="3429000"/>
          </a:xfrm>
          <a:prstGeom prst="roundRect">
            <a:avLst>
              <a:gd name="adj" fmla="val 2941"/>
            </a:avLst>
          </a:prstGeom>
          <a:solidFill>
            <a:srgbClr val="2A3166"/>
          </a:solidFill>
          <a:ln w="15875">
            <a:solidFill>
              <a:srgbClr val="3B82F6"/>
            </a:solidFill>
            <a:prstDash val="solid"/>
          </a:ln>
        </p:spPr>
      </p:sp>
      <p:sp>
        <p:nvSpPr>
          <p:cNvPr id="17" name="Shape 13"/>
          <p:cNvSpPr/>
          <p:nvPr/>
        </p:nvSpPr>
        <p:spPr>
          <a:xfrm>
            <a:off x="3648456" y="1847088"/>
            <a:ext cx="548640" cy="548640"/>
          </a:xfrm>
          <a:prstGeom prst="ellipse">
            <a:avLst/>
          </a:prstGeom>
          <a:solidFill>
            <a:srgbClr val="242A52"/>
          </a:solidFill>
          <a:ln w="15875">
            <a:solidFill>
              <a:srgbClr val="3B82F6"/>
            </a:solidFill>
            <a:prstDash val="solid"/>
          </a:ln>
        </p:spPr>
      </p:sp>
      <p:pic>
        <p:nvPicPr>
          <p:cNvPr id="18" name="Image 2" descr="preencoded.png">    </p:cNvPr>
          <p:cNvPicPr>
            <a:picLocks noChangeAspect="1"/>
          </p:cNvPicPr>
          <p:nvPr/>
        </p:nvPicPr>
        <p:blipFill>
          <a:blip r:embed="rId3"/>
          <a:stretch>
            <a:fillRect/>
          </a:stretch>
        </p:blipFill>
        <p:spPr>
          <a:xfrm>
            <a:off x="3785616" y="1984248"/>
            <a:ext cx="274320" cy="274320"/>
          </a:xfrm>
          <a:prstGeom prst="rect">
            <a:avLst/>
          </a:prstGeom>
        </p:spPr>
      </p:pic>
      <p:sp>
        <p:nvSpPr>
          <p:cNvPr id="19" name="Text 14"/>
          <p:cNvSpPr txBox="1"/>
          <p:nvPr/>
        </p:nvSpPr>
        <p:spPr>
          <a:xfrm>
            <a:off x="4288536" y="1847088"/>
            <a:ext cx="1572768" cy="548640"/>
          </a:xfrm>
          <a:prstGeom prst="rect">
            <a:avLst/>
          </a:prstGeom>
          <a:noFill/>
          <a:ln/>
        </p:spPr>
        <p:txBody>
          <a:bodyPr wrap="square" lIns="0" tIns="0" rIns="0" bIns="0" rtlCol="0" anchor="ctr"/>
          <a:lstStyle/>
          <a:p>
            <a:pPr indent="0" marL="0">
              <a:buNone/>
            </a:pPr>
            <a:r>
              <a:rPr lang="en-US" sz="1300" b="1" dirty="0">
                <a:solidFill>
                  <a:srgbClr val="22D3EE"/>
                </a:solidFill>
              </a:rPr>
              <a:t>2. Backend (Python · FastAPI)</a:t>
            </a:r>
            <a:endParaRPr lang="en-US" sz="1300" dirty="0"/>
          </a:p>
        </p:txBody>
      </p:sp>
      <p:sp>
        <p:nvSpPr>
          <p:cNvPr id="20" name="Text 15"/>
          <p:cNvSpPr txBox="1"/>
          <p:nvPr/>
        </p:nvSpPr>
        <p:spPr>
          <a:xfrm>
            <a:off x="3648456" y="2560320"/>
            <a:ext cx="2167128" cy="2468880"/>
          </a:xfrm>
          <a:prstGeom prst="rect">
            <a:avLst/>
          </a:prstGeom>
          <a:noFill/>
          <a:ln/>
        </p:spPr>
        <p:txBody>
          <a:bodyPr wrap="square" rtlCol="0" anchor="t"/>
          <a:lstStyle/>
          <a:p>
            <a:pPr marL="152400" indent="-1524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Telemetry pipeline: kWh, waste, cost, CO₂</a:t>
            </a:r>
            <a:endParaRPr lang="en-US" sz="1150" dirty="0"/>
          </a:p>
          <a:p>
            <a:pPr marL="152400" indent="-1524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ML anomaly scoring of every reading</a:t>
            </a:r>
            <a:endParaRPr lang="en-US" sz="1150" dirty="0"/>
          </a:p>
          <a:p>
            <a:pPr marL="152400" indent="-1524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Decision engine + command service</a:t>
            </a:r>
            <a:endParaRPr lang="en-US" sz="1150" dirty="0"/>
          </a:p>
          <a:p>
            <a:pPr marL="152400" indent="-1524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Monitor loop every 3 s (offline, timeouts)</a:t>
            </a:r>
            <a:endParaRPr lang="en-US" sz="1150" dirty="0"/>
          </a:p>
        </p:txBody>
      </p:sp>
      <p:pic>
        <p:nvPicPr>
          <p:cNvPr id="21" name="Image 3" descr="preencoded.png">    </p:cNvPr>
          <p:cNvPicPr>
            <a:picLocks noChangeAspect="1"/>
          </p:cNvPicPr>
          <p:nvPr/>
        </p:nvPicPr>
        <p:blipFill>
          <a:blip r:embed="rId4"/>
          <a:stretch>
            <a:fillRect/>
          </a:stretch>
        </p:blipFill>
        <p:spPr>
          <a:xfrm>
            <a:off x="6016752" y="3246120"/>
            <a:ext cx="210312" cy="210312"/>
          </a:xfrm>
          <a:prstGeom prst="rect">
            <a:avLst/>
          </a:prstGeom>
        </p:spPr>
      </p:pic>
      <p:sp>
        <p:nvSpPr>
          <p:cNvPr id="22" name="Card"/>
          <p:cNvSpPr/>
          <p:nvPr/>
        </p:nvSpPr>
        <p:spPr>
          <a:xfrm>
            <a:off x="6291072" y="1691640"/>
            <a:ext cx="2487168" cy="3429000"/>
          </a:xfrm>
          <a:prstGeom prst="roundRect">
            <a:avLst>
              <a:gd name="adj" fmla="val 2941"/>
            </a:avLst>
          </a:prstGeom>
          <a:solidFill>
            <a:srgbClr val="2A3166"/>
          </a:solidFill>
          <a:ln w="15875">
            <a:solidFill>
              <a:srgbClr val="3B82F6"/>
            </a:solidFill>
            <a:prstDash val="solid"/>
          </a:ln>
        </p:spPr>
      </p:sp>
      <p:sp>
        <p:nvSpPr>
          <p:cNvPr id="23" name="Shape 17"/>
          <p:cNvSpPr/>
          <p:nvPr/>
        </p:nvSpPr>
        <p:spPr>
          <a:xfrm>
            <a:off x="6473952" y="1847088"/>
            <a:ext cx="548640" cy="548640"/>
          </a:xfrm>
          <a:prstGeom prst="ellipse">
            <a:avLst/>
          </a:prstGeom>
          <a:solidFill>
            <a:srgbClr val="242A52"/>
          </a:solidFill>
          <a:ln w="15875">
            <a:solidFill>
              <a:srgbClr val="3B82F6"/>
            </a:solidFill>
            <a:prstDash val="solid"/>
          </a:ln>
        </p:spPr>
      </p:sp>
      <p:pic>
        <p:nvPicPr>
          <p:cNvPr id="24" name="Image 4" descr="preencoded.png">    </p:cNvPr>
          <p:cNvPicPr>
            <a:picLocks noChangeAspect="1"/>
          </p:cNvPicPr>
          <p:nvPr/>
        </p:nvPicPr>
        <p:blipFill>
          <a:blip r:embed="rId5"/>
          <a:stretch>
            <a:fillRect/>
          </a:stretch>
        </p:blipFill>
        <p:spPr>
          <a:xfrm>
            <a:off x="6611112" y="1984248"/>
            <a:ext cx="274320" cy="274320"/>
          </a:xfrm>
          <a:prstGeom prst="rect">
            <a:avLst/>
          </a:prstGeom>
        </p:spPr>
      </p:pic>
      <p:sp>
        <p:nvSpPr>
          <p:cNvPr id="25" name="Text 18"/>
          <p:cNvSpPr txBox="1"/>
          <p:nvPr/>
        </p:nvSpPr>
        <p:spPr>
          <a:xfrm>
            <a:off x="7114032" y="1847088"/>
            <a:ext cx="1572768" cy="548640"/>
          </a:xfrm>
          <a:prstGeom prst="rect">
            <a:avLst/>
          </a:prstGeom>
          <a:noFill/>
          <a:ln/>
        </p:spPr>
        <p:txBody>
          <a:bodyPr wrap="square" lIns="0" tIns="0" rIns="0" bIns="0" rtlCol="0" anchor="ctr"/>
          <a:lstStyle/>
          <a:p>
            <a:pPr indent="0" marL="0">
              <a:buNone/>
            </a:pPr>
            <a:r>
              <a:rPr lang="en-US" sz="1300" b="1" dirty="0">
                <a:solidFill>
                  <a:srgbClr val="22D3EE"/>
                </a:solidFill>
              </a:rPr>
              <a:t>3. Database</a:t>
            </a:r>
            <a:endParaRPr lang="en-US" sz="1300" dirty="0"/>
          </a:p>
        </p:txBody>
      </p:sp>
      <p:sp>
        <p:nvSpPr>
          <p:cNvPr id="26" name="Text 19"/>
          <p:cNvSpPr txBox="1"/>
          <p:nvPr/>
        </p:nvSpPr>
        <p:spPr>
          <a:xfrm>
            <a:off x="6473952" y="2560320"/>
            <a:ext cx="2167128" cy="2468880"/>
          </a:xfrm>
          <a:prstGeom prst="rect">
            <a:avLst/>
          </a:prstGeom>
          <a:noFill/>
          <a:ln/>
        </p:spPr>
        <p:txBody>
          <a:bodyPr wrap="square" rtlCol="0" anchor="t"/>
          <a:lstStyle/>
          <a:p>
            <a:pPr marL="152400" indent="-1524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SQLite (local) or PostgreSQL / Supabase (cloud)</a:t>
            </a:r>
            <a:endParaRPr lang="en-US" sz="1150" dirty="0"/>
          </a:p>
          <a:p>
            <a:pPr marL="152400" indent="-1524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Rooms, appliances, readings, 15-min energy buckets, alerts, commands, audit log</a:t>
            </a:r>
            <a:endParaRPr lang="en-US" sz="1150" dirty="0"/>
          </a:p>
        </p:txBody>
      </p:sp>
      <p:pic>
        <p:nvPicPr>
          <p:cNvPr id="27" name="Image 5" descr="preencoded.png">    </p:cNvPr>
          <p:cNvPicPr>
            <a:picLocks noChangeAspect="1"/>
          </p:cNvPicPr>
          <p:nvPr/>
        </p:nvPicPr>
        <p:blipFill>
          <a:blip r:embed="rId6"/>
          <a:stretch>
            <a:fillRect/>
          </a:stretch>
        </p:blipFill>
        <p:spPr>
          <a:xfrm>
            <a:off x="8842248" y="3246120"/>
            <a:ext cx="210312" cy="210312"/>
          </a:xfrm>
          <a:prstGeom prst="rect">
            <a:avLst/>
          </a:prstGeom>
        </p:spPr>
      </p:pic>
      <p:sp>
        <p:nvSpPr>
          <p:cNvPr id="28" name="Card"/>
          <p:cNvSpPr/>
          <p:nvPr/>
        </p:nvSpPr>
        <p:spPr>
          <a:xfrm>
            <a:off x="9116568" y="1691640"/>
            <a:ext cx="2487168" cy="3429000"/>
          </a:xfrm>
          <a:prstGeom prst="roundRect">
            <a:avLst>
              <a:gd name="adj" fmla="val 2941"/>
            </a:avLst>
          </a:prstGeom>
          <a:solidFill>
            <a:srgbClr val="2A3166"/>
          </a:solidFill>
          <a:ln w="15875">
            <a:solidFill>
              <a:srgbClr val="3B82F6"/>
            </a:solidFill>
            <a:prstDash val="solid"/>
          </a:ln>
        </p:spPr>
      </p:sp>
      <p:sp>
        <p:nvSpPr>
          <p:cNvPr id="29" name="Shape 21"/>
          <p:cNvSpPr/>
          <p:nvPr/>
        </p:nvSpPr>
        <p:spPr>
          <a:xfrm>
            <a:off x="9299448" y="1847088"/>
            <a:ext cx="548640" cy="548640"/>
          </a:xfrm>
          <a:prstGeom prst="ellipse">
            <a:avLst/>
          </a:prstGeom>
          <a:solidFill>
            <a:srgbClr val="242A52"/>
          </a:solidFill>
          <a:ln w="15875">
            <a:solidFill>
              <a:srgbClr val="3B82F6"/>
            </a:solidFill>
            <a:prstDash val="solid"/>
          </a:ln>
        </p:spPr>
      </p:sp>
      <p:pic>
        <p:nvPicPr>
          <p:cNvPr id="30" name="Image 6" descr="preencoded.png">    </p:cNvPr>
          <p:cNvPicPr>
            <a:picLocks noChangeAspect="1"/>
          </p:cNvPicPr>
          <p:nvPr/>
        </p:nvPicPr>
        <p:blipFill>
          <a:blip r:embed="rId7"/>
          <a:stretch>
            <a:fillRect/>
          </a:stretch>
        </p:blipFill>
        <p:spPr>
          <a:xfrm>
            <a:off x="9436608" y="1984248"/>
            <a:ext cx="274320" cy="274320"/>
          </a:xfrm>
          <a:prstGeom prst="rect">
            <a:avLst/>
          </a:prstGeom>
        </p:spPr>
      </p:pic>
      <p:sp>
        <p:nvSpPr>
          <p:cNvPr id="31" name="Text 22"/>
          <p:cNvSpPr txBox="1"/>
          <p:nvPr/>
        </p:nvSpPr>
        <p:spPr>
          <a:xfrm>
            <a:off x="9939528" y="1847088"/>
            <a:ext cx="1572768" cy="548640"/>
          </a:xfrm>
          <a:prstGeom prst="rect">
            <a:avLst/>
          </a:prstGeom>
          <a:noFill/>
          <a:ln/>
        </p:spPr>
        <p:txBody>
          <a:bodyPr wrap="square" lIns="0" tIns="0" rIns="0" bIns="0" rtlCol="0" anchor="ctr"/>
          <a:lstStyle/>
          <a:p>
            <a:pPr indent="0" marL="0">
              <a:buNone/>
            </a:pPr>
            <a:r>
              <a:rPr lang="en-US" sz="1300" b="1" dirty="0">
                <a:solidFill>
                  <a:srgbClr val="22D3EE"/>
                </a:solidFill>
              </a:rPr>
              <a:t>4. Dashboard (React · TS)</a:t>
            </a:r>
            <a:endParaRPr lang="en-US" sz="1300" dirty="0"/>
          </a:p>
        </p:txBody>
      </p:sp>
      <p:sp>
        <p:nvSpPr>
          <p:cNvPr id="32" name="Text 23"/>
          <p:cNvSpPr txBox="1"/>
          <p:nvPr/>
        </p:nvSpPr>
        <p:spPr>
          <a:xfrm>
            <a:off x="9299448" y="2560320"/>
            <a:ext cx="2167128" cy="2468880"/>
          </a:xfrm>
          <a:prstGeom prst="rect">
            <a:avLst/>
          </a:prstGeom>
          <a:noFill/>
          <a:ln/>
        </p:spPr>
        <p:txBody>
          <a:bodyPr wrap="square" rtlCol="0" anchor="t"/>
          <a:lstStyle/>
          <a:p>
            <a:pPr marL="152400" indent="-1524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Live updates over WebSocket</a:t>
            </a:r>
            <a:endParaRPr lang="en-US" sz="1150" dirty="0"/>
          </a:p>
          <a:p>
            <a:pPr marL="152400" indent="-1524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12 pages: rooms, alerts, history, ML, simulation, settings</a:t>
            </a:r>
            <a:endParaRPr lang="en-US" sz="1150" dirty="0"/>
          </a:p>
          <a:p>
            <a:pPr marL="152400" indent="-152400">
              <a:spcAft>
                <a:spcPts val="600"/>
              </a:spcAft>
              <a:buSzPct val="100000"/>
              <a:buChar char="•"/>
            </a:pPr>
            <a:r>
              <a:rPr lang="en-US" sz="1150" dirty="0">
                <a:solidFill>
                  <a:srgbClr val="E2E8F0"/>
                </a:solidFill>
                <a:latin typeface="Calibri" pitchFamily="34" charset="0"/>
                <a:ea typeface="Calibri" pitchFamily="34" charset="-122"/>
                <a:cs typeface="Calibri" pitchFamily="34" charset="-120"/>
              </a:rPr>
              <a:t>Secure login: viewer / operator / admin</a:t>
            </a:r>
            <a:endParaRPr lang="en-US" sz="1150" dirty="0"/>
          </a:p>
        </p:txBody>
      </p:sp>
      <p:sp>
        <p:nvSpPr>
          <p:cNvPr id="33" name="Card"/>
          <p:cNvSpPr/>
          <p:nvPr/>
        </p:nvSpPr>
        <p:spPr>
          <a:xfrm>
            <a:off x="640080" y="5349240"/>
            <a:ext cx="10945368" cy="960120"/>
          </a:xfrm>
          <a:prstGeom prst="roundRect">
            <a:avLst>
              <a:gd name="adj" fmla="val 7619"/>
            </a:avLst>
          </a:prstGeom>
          <a:solidFill>
            <a:srgbClr val="2C3260"/>
          </a:solidFill>
          <a:ln w="12700">
            <a:solidFill>
              <a:srgbClr val="8391AD"/>
            </a:solidFill>
            <a:prstDash val="dash"/>
          </a:ln>
        </p:spPr>
      </p:sp>
      <p:pic>
        <p:nvPicPr>
          <p:cNvPr id="34" name="Image 7" descr="preencoded.png">    </p:cNvPr>
          <p:cNvPicPr>
            <a:picLocks noChangeAspect="1"/>
          </p:cNvPicPr>
          <p:nvPr/>
        </p:nvPicPr>
        <p:blipFill>
          <a:blip r:embed="rId8"/>
          <a:stretch>
            <a:fillRect/>
          </a:stretch>
        </p:blipFill>
        <p:spPr>
          <a:xfrm>
            <a:off x="868680" y="5596128"/>
            <a:ext cx="384048" cy="457200"/>
          </a:xfrm>
          <a:prstGeom prst="rect">
            <a:avLst/>
          </a:prstGeom>
        </p:spPr>
      </p:pic>
      <p:sp>
        <p:nvSpPr>
          <p:cNvPr id="35" name="Text 25"/>
          <p:cNvSpPr txBox="1"/>
          <p:nvPr/>
        </p:nvSpPr>
        <p:spPr>
          <a:xfrm>
            <a:off x="1417320" y="5413248"/>
            <a:ext cx="10012680" cy="841248"/>
          </a:xfrm>
          <a:prstGeom prst="rect">
            <a:avLst/>
          </a:prstGeom>
          <a:noFill/>
          <a:ln/>
        </p:spPr>
        <p:txBody>
          <a:bodyPr wrap="square" rtlCol="0" anchor="ctr"/>
          <a:lstStyle/>
          <a:p>
            <a:pPr indent="0" marL="0">
              <a:buNone/>
            </a:pPr>
            <a:r>
              <a:rPr lang="en-US" sz="1250" b="1" dirty="0">
                <a:solidFill>
                  <a:srgbClr val="FFFFFF"/>
                </a:solidFill>
                <a:latin typeface="Calibri" pitchFamily="34" charset="0"/>
                <a:ea typeface="Calibri" pitchFamily="34" charset="-122"/>
                <a:cs typeface="Calibri" pitchFamily="34" charset="-120"/>
              </a:rPr>
              <a:t>Tested today without hardware: </a:t>
            </a:r>
            <a:pPr indent="0" marL="0">
              <a:buNone/>
            </a:pPr>
            <a:r>
              <a:rPr lang="en-US" sz="1250" dirty="0">
                <a:solidFill>
                  <a:srgbClr val="E2E8F0"/>
                </a:solidFill>
                <a:latin typeface="Calibri" pitchFamily="34" charset="0"/>
                <a:ea typeface="Calibri" pitchFamily="34" charset="-122"/>
                <a:cs typeface="Calibri" pitchFamily="34" charset="-120"/>
              </a:rPr>
              <a:t>a built-in simulator (5 virtual rooms, 7 scenarios) and an ESP32 emulator talk to the backend using the exact same protocol as the real ESP32 — so when our hardware is ready, the software needs no changes.</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6</a:t>
            </a:r>
            <a:endParaRPr lang="en-US" sz="700" dirty="0"/>
          </a:p>
        </p:txBody>
      </p:sp>
      <p:sp>
        <p:nvSpPr>
          <p:cNvPr id="6"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Safety-First Decision Engine</a:t>
            </a:r>
            <a:endParaRPr lang="en-US" sz="3000" dirty="0"/>
          </a:p>
        </p:txBody>
      </p:sp>
      <p:sp>
        <p:nvSpPr>
          <p:cNvPr id="7"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An appliance is switched off only when every check passes</a:t>
            </a:r>
            <a:endParaRPr lang="en-US" sz="1200" dirty="0"/>
          </a:p>
        </p:txBody>
      </p:sp>
      <p:sp>
        <p:nvSpPr>
          <p:cNvPr id="8" name="Criteria pill"/>
          <p:cNvSpPr/>
          <p:nvPr/>
        </p:nvSpPr>
        <p:spPr>
          <a:xfrm>
            <a:off x="8869680" y="512064"/>
            <a:ext cx="2377440" cy="365760"/>
          </a:xfrm>
          <a:prstGeom prst="roundRect">
            <a:avLst>
              <a:gd name="adj" fmla="val 50000"/>
            </a:avLst>
          </a:prstGeom>
          <a:solidFill>
            <a:srgbClr val="1C3955"/>
          </a:solidFill>
          <a:ln w="15875">
            <a:solidFill>
              <a:srgbClr val="22D3EE"/>
            </a:solidFill>
            <a:prstDash val="solid"/>
          </a:ln>
        </p:spPr>
      </p:sp>
      <p:sp>
        <p:nvSpPr>
          <p:cNvPr id="9" name="Text 7"/>
          <p:cNvSpPr txBox="1"/>
          <p:nvPr/>
        </p:nvSpPr>
        <p:spPr>
          <a:xfrm>
            <a:off x="8869680" y="512064"/>
            <a:ext cx="2377440" cy="365760"/>
          </a:xfrm>
          <a:prstGeom prst="rect">
            <a:avLst/>
          </a:prstGeom>
          <a:noFill/>
          <a:ln/>
        </p:spPr>
        <p:txBody>
          <a:bodyPr wrap="square" lIns="0" tIns="0" rIns="0" bIns="0" rtlCol="0" anchor="ctr"/>
          <a:lstStyle/>
          <a:p>
            <a:pPr algn="ctr" indent="0" marL="0">
              <a:buNone/>
            </a:pPr>
            <a:r>
              <a:rPr lang="en-US" sz="900" b="1" spc="100" kern="0" dirty="0">
                <a:solidFill>
                  <a:srgbClr val="22D3EE"/>
                </a:solidFill>
              </a:rPr>
              <a:t>TECHNICAL DESIGN</a:t>
            </a:r>
            <a:endParaRPr lang="en-US" sz="900" dirty="0"/>
          </a:p>
        </p:txBody>
      </p:sp>
      <p:sp>
        <p:nvSpPr>
          <p:cNvPr id="10" name="Card"/>
          <p:cNvSpPr/>
          <p:nvPr/>
        </p:nvSpPr>
        <p:spPr>
          <a:xfrm>
            <a:off x="640080" y="1691640"/>
            <a:ext cx="2596896" cy="3246120"/>
          </a:xfrm>
          <a:prstGeom prst="roundRect">
            <a:avLst>
              <a:gd name="adj" fmla="val 2817"/>
            </a:avLst>
          </a:prstGeom>
          <a:solidFill>
            <a:srgbClr val="242A52"/>
          </a:solidFill>
          <a:ln/>
        </p:spPr>
      </p:sp>
      <p:sp>
        <p:nvSpPr>
          <p:cNvPr id="11" name="Shape 9"/>
          <p:cNvSpPr/>
          <p:nvPr/>
        </p:nvSpPr>
        <p:spPr>
          <a:xfrm>
            <a:off x="841248" y="1856232"/>
            <a:ext cx="502920" cy="502920"/>
          </a:xfrm>
          <a:prstGeom prst="ellipse">
            <a:avLst/>
          </a:prstGeom>
          <a:solidFill>
            <a:srgbClr val="3774DD"/>
          </a:solidFill>
          <a:ln/>
        </p:spPr>
      </p:sp>
      <p:sp>
        <p:nvSpPr>
          <p:cNvPr id="12" name="Text 10"/>
          <p:cNvSpPr txBox="1"/>
          <p:nvPr/>
        </p:nvSpPr>
        <p:spPr>
          <a:xfrm>
            <a:off x="841248" y="185623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13" name="Text 11"/>
          <p:cNvSpPr txBox="1"/>
          <p:nvPr/>
        </p:nvSpPr>
        <p:spPr>
          <a:xfrm>
            <a:off x="1463040" y="1856232"/>
            <a:ext cx="1682496" cy="502920"/>
          </a:xfrm>
          <a:prstGeom prst="rect">
            <a:avLst/>
          </a:prstGeom>
          <a:noFill/>
          <a:ln/>
        </p:spPr>
        <p:txBody>
          <a:bodyPr wrap="square" lIns="0" tIns="0" rIns="0" bIns="0" rtlCol="0" anchor="ctr"/>
          <a:lstStyle/>
          <a:p>
            <a:pPr indent="0" marL="0">
              <a:buNone/>
            </a:pPr>
            <a:r>
              <a:rPr lang="en-US" sz="1400" b="1" dirty="0">
                <a:solidFill>
                  <a:srgbClr val="22D3EE"/>
                </a:solidFill>
              </a:rPr>
              <a:t>Data Quality</a:t>
            </a:r>
            <a:endParaRPr lang="en-US" sz="1400" dirty="0"/>
          </a:p>
        </p:txBody>
      </p:sp>
      <p:sp>
        <p:nvSpPr>
          <p:cNvPr id="14" name="Text 12"/>
          <p:cNvSpPr txBox="1"/>
          <p:nvPr/>
        </p:nvSpPr>
        <p:spPr>
          <a:xfrm>
            <a:off x="841248" y="2514600"/>
            <a:ext cx="2231136" cy="1783080"/>
          </a:xfrm>
          <a:prstGeom prst="rect">
            <a:avLst/>
          </a:prstGeom>
          <a:noFill/>
          <a:ln/>
        </p:spPr>
        <p:txBody>
          <a:bodyPr wrap="square" rtlCol="0" anchor="t"/>
          <a:lstStyle/>
          <a:p>
            <a:pPr indent="0" marL="0">
              <a:spcAft>
                <a:spcPts val="600"/>
              </a:spcAft>
              <a:buNone/>
            </a:pPr>
            <a:r>
              <a:rPr lang="en-US" sz="1200" b="1" dirty="0">
                <a:solidFill>
                  <a:srgbClr val="FFFFFF"/>
                </a:solidFill>
                <a:latin typeface="Calibri" pitchFamily="34" charset="0"/>
                <a:ea typeface="Calibri" pitchFamily="34" charset="-122"/>
                <a:cs typeface="Calibri" pitchFamily="34" charset="-120"/>
              </a:rPr>
              <a:t>Is the data fresh and trustworthy?</a:t>
            </a:r>
            <a:endParaRPr lang="en-US" sz="1200" dirty="0"/>
          </a:p>
          <a:p>
            <a:pPr indent="0" marL="0">
              <a:buNone/>
            </a:pPr>
            <a:r>
              <a:rPr lang="en-US" sz="1200" dirty="0">
                <a:solidFill>
                  <a:srgbClr val="E2E8F0"/>
                </a:solidFill>
                <a:latin typeface="Calibri" pitchFamily="34" charset="0"/>
                <a:ea typeface="Calibri" pitchFamily="34" charset="-122"/>
                <a:cs typeface="Calibri" pitchFamily="34" charset="-120"/>
              </a:rPr>
              <a:t>Power reading &lt; 45 s old, occupancy known, sensor OK, ESP32 online.</a:t>
            </a:r>
            <a:endParaRPr lang="en-US" sz="1200" dirty="0"/>
          </a:p>
        </p:txBody>
      </p:sp>
      <p:sp>
        <p:nvSpPr>
          <p:cNvPr id="15" name="Text 13"/>
          <p:cNvSpPr txBox="1"/>
          <p:nvPr/>
        </p:nvSpPr>
        <p:spPr>
          <a:xfrm>
            <a:off x="841248" y="4389120"/>
            <a:ext cx="2231136" cy="365760"/>
          </a:xfrm>
          <a:prstGeom prst="rect">
            <a:avLst/>
          </a:prstGeom>
          <a:noFill/>
          <a:ln/>
        </p:spPr>
        <p:txBody>
          <a:bodyPr wrap="square" lIns="0" tIns="0" rIns="0" bIns="0" rtlCol="0" anchor="ctr"/>
          <a:lstStyle/>
          <a:p>
            <a:pPr indent="0" marL="0">
              <a:buNone/>
            </a:pPr>
            <a:r>
              <a:rPr lang="en-US" sz="1100" b="1" i="1" dirty="0">
                <a:solidFill>
                  <a:srgbClr val="FBBF24"/>
                </a:solidFill>
              </a:rPr>
              <a:t>If not → do nothing</a:t>
            </a:r>
            <a:endParaRPr lang="en-US" sz="1100" dirty="0"/>
          </a:p>
        </p:txBody>
      </p:sp>
      <p:sp>
        <p:nvSpPr>
          <p:cNvPr id="16" name="Card"/>
          <p:cNvSpPr/>
          <p:nvPr/>
        </p:nvSpPr>
        <p:spPr>
          <a:xfrm>
            <a:off x="3429000" y="1691640"/>
            <a:ext cx="2596896" cy="3246120"/>
          </a:xfrm>
          <a:prstGeom prst="roundRect">
            <a:avLst>
              <a:gd name="adj" fmla="val 2817"/>
            </a:avLst>
          </a:prstGeom>
          <a:solidFill>
            <a:srgbClr val="242A52"/>
          </a:solidFill>
          <a:ln/>
        </p:spPr>
      </p:sp>
      <p:sp>
        <p:nvSpPr>
          <p:cNvPr id="17" name="Shape 15"/>
          <p:cNvSpPr/>
          <p:nvPr/>
        </p:nvSpPr>
        <p:spPr>
          <a:xfrm>
            <a:off x="3630168" y="1856232"/>
            <a:ext cx="502920" cy="502920"/>
          </a:xfrm>
          <a:prstGeom prst="ellipse">
            <a:avLst/>
          </a:prstGeom>
          <a:solidFill>
            <a:srgbClr val="3774DD"/>
          </a:solidFill>
          <a:ln/>
        </p:spPr>
      </p:sp>
      <p:sp>
        <p:nvSpPr>
          <p:cNvPr id="18" name="Text 16"/>
          <p:cNvSpPr txBox="1"/>
          <p:nvPr/>
        </p:nvSpPr>
        <p:spPr>
          <a:xfrm>
            <a:off x="3630168" y="185623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9" name="Text 17"/>
          <p:cNvSpPr txBox="1"/>
          <p:nvPr/>
        </p:nvSpPr>
        <p:spPr>
          <a:xfrm>
            <a:off x="4251960" y="1856232"/>
            <a:ext cx="1682496" cy="502920"/>
          </a:xfrm>
          <a:prstGeom prst="rect">
            <a:avLst/>
          </a:prstGeom>
          <a:noFill/>
          <a:ln/>
        </p:spPr>
        <p:txBody>
          <a:bodyPr wrap="square" lIns="0" tIns="0" rIns="0" bIns="0" rtlCol="0" anchor="ctr"/>
          <a:lstStyle/>
          <a:p>
            <a:pPr indent="0" marL="0">
              <a:buNone/>
            </a:pPr>
            <a:r>
              <a:rPr lang="en-US" sz="1400" b="1" dirty="0">
                <a:solidFill>
                  <a:srgbClr val="22D3EE"/>
                </a:solidFill>
              </a:rPr>
              <a:t>Wastage</a:t>
            </a:r>
            <a:endParaRPr lang="en-US" sz="1400" dirty="0"/>
          </a:p>
        </p:txBody>
      </p:sp>
      <p:sp>
        <p:nvSpPr>
          <p:cNvPr id="20" name="Text 18"/>
          <p:cNvSpPr txBox="1"/>
          <p:nvPr/>
        </p:nvSpPr>
        <p:spPr>
          <a:xfrm>
            <a:off x="3630168" y="2514600"/>
            <a:ext cx="2231136" cy="1783080"/>
          </a:xfrm>
          <a:prstGeom prst="rect">
            <a:avLst/>
          </a:prstGeom>
          <a:noFill/>
          <a:ln/>
        </p:spPr>
        <p:txBody>
          <a:bodyPr wrap="square" rtlCol="0" anchor="t"/>
          <a:lstStyle/>
          <a:p>
            <a:pPr indent="0" marL="0">
              <a:spcAft>
                <a:spcPts val="600"/>
              </a:spcAft>
              <a:buNone/>
            </a:pPr>
            <a:r>
              <a:rPr lang="en-US" sz="1200" b="1" dirty="0">
                <a:solidFill>
                  <a:srgbClr val="FFFFFF"/>
                </a:solidFill>
                <a:latin typeface="Calibri" pitchFamily="34" charset="0"/>
                <a:ea typeface="Calibri" pitchFamily="34" charset="-122"/>
                <a:cs typeface="Calibri" pitchFamily="34" charset="-120"/>
              </a:rPr>
              <a:t>Is energy really being wasted?</a:t>
            </a:r>
            <a:endParaRPr lang="en-US" sz="1200" dirty="0"/>
          </a:p>
          <a:p>
            <a:pPr indent="0" marL="0">
              <a:buNone/>
            </a:pPr>
            <a:r>
              <a:rPr lang="en-US" sz="1200" dirty="0">
                <a:solidFill>
                  <a:srgbClr val="E2E8F0"/>
                </a:solidFill>
                <a:latin typeface="Calibri" pitchFamily="34" charset="0"/>
                <a:ea typeface="Calibri" pitchFamily="34" charset="-122"/>
                <a:cs typeface="Calibri" pitchFamily="34" charset="-120"/>
              </a:rPr>
              <a:t>Appliance above standby power AND room vacant for the minimum time (10 min).</a:t>
            </a:r>
            <a:endParaRPr lang="en-US" sz="1200" dirty="0"/>
          </a:p>
        </p:txBody>
      </p:sp>
      <p:sp>
        <p:nvSpPr>
          <p:cNvPr id="21" name="Text 19"/>
          <p:cNvSpPr txBox="1"/>
          <p:nvPr/>
        </p:nvSpPr>
        <p:spPr>
          <a:xfrm>
            <a:off x="3630168" y="4389120"/>
            <a:ext cx="2231136" cy="365760"/>
          </a:xfrm>
          <a:prstGeom prst="rect">
            <a:avLst/>
          </a:prstGeom>
          <a:noFill/>
          <a:ln/>
        </p:spPr>
        <p:txBody>
          <a:bodyPr wrap="square" lIns="0" tIns="0" rIns="0" bIns="0" rtlCol="0" anchor="ctr"/>
          <a:lstStyle/>
          <a:p>
            <a:pPr indent="0" marL="0">
              <a:buNone/>
            </a:pPr>
            <a:r>
              <a:rPr lang="en-US" sz="1100" b="1" i="1" dirty="0">
                <a:solidFill>
                  <a:srgbClr val="FBBF24"/>
                </a:solidFill>
              </a:rPr>
              <a:t>If not → no action</a:t>
            </a:r>
            <a:endParaRPr lang="en-US" sz="1100" dirty="0"/>
          </a:p>
        </p:txBody>
      </p:sp>
      <p:sp>
        <p:nvSpPr>
          <p:cNvPr id="22" name="Card"/>
          <p:cNvSpPr/>
          <p:nvPr/>
        </p:nvSpPr>
        <p:spPr>
          <a:xfrm>
            <a:off x="6217920" y="1691640"/>
            <a:ext cx="2596896" cy="3246120"/>
          </a:xfrm>
          <a:prstGeom prst="roundRect">
            <a:avLst>
              <a:gd name="adj" fmla="val 2817"/>
            </a:avLst>
          </a:prstGeom>
          <a:solidFill>
            <a:srgbClr val="242A52"/>
          </a:solidFill>
          <a:ln/>
        </p:spPr>
      </p:sp>
      <p:sp>
        <p:nvSpPr>
          <p:cNvPr id="23" name="Shape 21"/>
          <p:cNvSpPr/>
          <p:nvPr/>
        </p:nvSpPr>
        <p:spPr>
          <a:xfrm>
            <a:off x="6419088" y="1856232"/>
            <a:ext cx="502920" cy="502920"/>
          </a:xfrm>
          <a:prstGeom prst="ellipse">
            <a:avLst/>
          </a:prstGeom>
          <a:solidFill>
            <a:srgbClr val="3774DD"/>
          </a:solidFill>
          <a:ln/>
        </p:spPr>
      </p:sp>
      <p:sp>
        <p:nvSpPr>
          <p:cNvPr id="24" name="Text 22"/>
          <p:cNvSpPr txBox="1"/>
          <p:nvPr/>
        </p:nvSpPr>
        <p:spPr>
          <a:xfrm>
            <a:off x="6419088" y="185623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5" name="Text 23"/>
          <p:cNvSpPr txBox="1"/>
          <p:nvPr/>
        </p:nvSpPr>
        <p:spPr>
          <a:xfrm>
            <a:off x="7040880" y="1856232"/>
            <a:ext cx="1682496" cy="502920"/>
          </a:xfrm>
          <a:prstGeom prst="rect">
            <a:avLst/>
          </a:prstGeom>
          <a:noFill/>
          <a:ln/>
        </p:spPr>
        <p:txBody>
          <a:bodyPr wrap="square" lIns="0" tIns="0" rIns="0" bIns="0" rtlCol="0" anchor="ctr"/>
          <a:lstStyle/>
          <a:p>
            <a:pPr indent="0" marL="0">
              <a:buNone/>
            </a:pPr>
            <a:r>
              <a:rPr lang="en-US" sz="1400" b="1" dirty="0">
                <a:solidFill>
                  <a:srgbClr val="22D3EE"/>
                </a:solidFill>
              </a:rPr>
              <a:t>Safety Policy</a:t>
            </a:r>
            <a:endParaRPr lang="en-US" sz="1400" dirty="0"/>
          </a:p>
        </p:txBody>
      </p:sp>
      <p:sp>
        <p:nvSpPr>
          <p:cNvPr id="26" name="Text 24"/>
          <p:cNvSpPr txBox="1"/>
          <p:nvPr/>
        </p:nvSpPr>
        <p:spPr>
          <a:xfrm>
            <a:off x="6419088" y="2514600"/>
            <a:ext cx="2231136" cy="1783080"/>
          </a:xfrm>
          <a:prstGeom prst="rect">
            <a:avLst/>
          </a:prstGeom>
          <a:noFill/>
          <a:ln/>
        </p:spPr>
        <p:txBody>
          <a:bodyPr wrap="square" rtlCol="0" anchor="t"/>
          <a:lstStyle/>
          <a:p>
            <a:pPr indent="0" marL="0">
              <a:spcAft>
                <a:spcPts val="600"/>
              </a:spcAft>
              <a:buNone/>
            </a:pPr>
            <a:r>
              <a:rPr lang="en-US" sz="1200" b="1" dirty="0">
                <a:solidFill>
                  <a:srgbClr val="FFFFFF"/>
                </a:solidFill>
                <a:latin typeface="Calibri" pitchFamily="34" charset="0"/>
                <a:ea typeface="Calibri" pitchFamily="34" charset="-122"/>
                <a:cs typeface="Calibri" pitchFamily="34" charset="-120"/>
              </a:rPr>
              <a:t>Is it safe to switch off?</a:t>
            </a:r>
            <a:endParaRPr lang="en-US" sz="1200" dirty="0"/>
          </a:p>
          <a:p>
            <a:pPr indent="0" marL="0">
              <a:buNone/>
            </a:pPr>
            <a:r>
              <a:rPr lang="en-US" sz="1200" dirty="0">
                <a:solidFill>
                  <a:srgbClr val="E2E8F0"/>
                </a:solidFill>
                <a:latin typeface="Calibri" pitchFamily="34" charset="0"/>
                <a:ea typeface="Calibri" pitchFamily="34" charset="-122"/>
                <a:cs typeface="Calibri" pitchFamily="34" charset="-120"/>
              </a:rPr>
              <a:t>Not an essential load, no manual override, no class scheduled now or in 10 min, no recent manual switch-on.</a:t>
            </a:r>
            <a:endParaRPr lang="en-US" sz="1200" dirty="0"/>
          </a:p>
        </p:txBody>
      </p:sp>
      <p:sp>
        <p:nvSpPr>
          <p:cNvPr id="27" name="Text 25"/>
          <p:cNvSpPr txBox="1"/>
          <p:nvPr/>
        </p:nvSpPr>
        <p:spPr>
          <a:xfrm>
            <a:off x="6419088" y="4389120"/>
            <a:ext cx="2231136" cy="365760"/>
          </a:xfrm>
          <a:prstGeom prst="rect">
            <a:avLst/>
          </a:prstGeom>
          <a:noFill/>
          <a:ln/>
        </p:spPr>
        <p:txBody>
          <a:bodyPr wrap="square" lIns="0" tIns="0" rIns="0" bIns="0" rtlCol="0" anchor="ctr"/>
          <a:lstStyle/>
          <a:p>
            <a:pPr indent="0" marL="0">
              <a:buNone/>
            </a:pPr>
            <a:r>
              <a:rPr lang="en-US" sz="1100" b="1" i="1" dirty="0">
                <a:solidFill>
                  <a:srgbClr val="FBBF24"/>
                </a:solidFill>
              </a:rPr>
              <a:t>If not → only recommend</a:t>
            </a:r>
            <a:endParaRPr lang="en-US" sz="1100" dirty="0"/>
          </a:p>
        </p:txBody>
      </p:sp>
      <p:sp>
        <p:nvSpPr>
          <p:cNvPr id="28" name="Card"/>
          <p:cNvSpPr/>
          <p:nvPr/>
        </p:nvSpPr>
        <p:spPr>
          <a:xfrm>
            <a:off x="9006840" y="1691640"/>
            <a:ext cx="2596896" cy="3246120"/>
          </a:xfrm>
          <a:prstGeom prst="roundRect">
            <a:avLst>
              <a:gd name="adj" fmla="val 2817"/>
            </a:avLst>
          </a:prstGeom>
          <a:solidFill>
            <a:srgbClr val="242A52"/>
          </a:solidFill>
          <a:ln/>
        </p:spPr>
      </p:sp>
      <p:sp>
        <p:nvSpPr>
          <p:cNvPr id="29" name="Shape 27"/>
          <p:cNvSpPr/>
          <p:nvPr/>
        </p:nvSpPr>
        <p:spPr>
          <a:xfrm>
            <a:off x="9208008" y="1856232"/>
            <a:ext cx="502920" cy="502920"/>
          </a:xfrm>
          <a:prstGeom prst="ellipse">
            <a:avLst/>
          </a:prstGeom>
          <a:solidFill>
            <a:srgbClr val="3774DD"/>
          </a:solidFill>
          <a:ln/>
        </p:spPr>
      </p:sp>
      <p:sp>
        <p:nvSpPr>
          <p:cNvPr id="30" name="Text 28"/>
          <p:cNvSpPr txBox="1"/>
          <p:nvPr/>
        </p:nvSpPr>
        <p:spPr>
          <a:xfrm>
            <a:off x="9208008" y="1856232"/>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31" name="Text 29"/>
          <p:cNvSpPr txBox="1"/>
          <p:nvPr/>
        </p:nvSpPr>
        <p:spPr>
          <a:xfrm>
            <a:off x="9829800" y="1856232"/>
            <a:ext cx="1682496" cy="502920"/>
          </a:xfrm>
          <a:prstGeom prst="rect">
            <a:avLst/>
          </a:prstGeom>
          <a:noFill/>
          <a:ln/>
        </p:spPr>
        <p:txBody>
          <a:bodyPr wrap="square" lIns="0" tIns="0" rIns="0" bIns="0" rtlCol="0" anchor="ctr"/>
          <a:lstStyle/>
          <a:p>
            <a:pPr indent="0" marL="0">
              <a:buNone/>
            </a:pPr>
            <a:r>
              <a:rPr lang="en-US" sz="1400" b="1" dirty="0">
                <a:solidFill>
                  <a:srgbClr val="22D3EE"/>
                </a:solidFill>
              </a:rPr>
              <a:t>Mode</a:t>
            </a:r>
            <a:endParaRPr lang="en-US" sz="1400" dirty="0"/>
          </a:p>
        </p:txBody>
      </p:sp>
      <p:sp>
        <p:nvSpPr>
          <p:cNvPr id="32" name="Text 30"/>
          <p:cNvSpPr txBox="1"/>
          <p:nvPr/>
        </p:nvSpPr>
        <p:spPr>
          <a:xfrm>
            <a:off x="9208008" y="2514600"/>
            <a:ext cx="2231136" cy="1783080"/>
          </a:xfrm>
          <a:prstGeom prst="rect">
            <a:avLst/>
          </a:prstGeom>
          <a:noFill/>
          <a:ln/>
        </p:spPr>
        <p:txBody>
          <a:bodyPr wrap="square" rtlCol="0" anchor="t"/>
          <a:lstStyle/>
          <a:p>
            <a:pPr indent="0" marL="0">
              <a:spcAft>
                <a:spcPts val="600"/>
              </a:spcAft>
              <a:buNone/>
            </a:pPr>
            <a:r>
              <a:rPr lang="en-US" sz="1200" b="1" dirty="0">
                <a:solidFill>
                  <a:srgbClr val="FFFFFF"/>
                </a:solidFill>
                <a:latin typeface="Calibri" pitchFamily="34" charset="0"/>
                <a:ea typeface="Calibri" pitchFamily="34" charset="-122"/>
                <a:cs typeface="Calibri" pitchFamily="34" charset="-120"/>
              </a:rPr>
              <a:t>What are we allowed to do?</a:t>
            </a:r>
            <a:endParaRPr lang="en-US" sz="1200" dirty="0"/>
          </a:p>
          <a:p>
            <a:pPr indent="0" marL="0">
              <a:buNone/>
            </a:pPr>
            <a:r>
              <a:rPr lang="en-US" sz="1200" dirty="0">
                <a:solidFill>
                  <a:srgbClr val="E2E8F0"/>
                </a:solidFill>
                <a:latin typeface="Calibri" pitchFamily="34" charset="0"/>
                <a:ea typeface="Calibri" pitchFamily="34" charset="-122"/>
                <a:cs typeface="Calibri" pitchFamily="34" charset="-120"/>
              </a:rPr>
              <a:t>Recommend → alert only. Dry-run (default) → log only. Auto → send OFF command.</a:t>
            </a:r>
            <a:endParaRPr lang="en-US" sz="1200" dirty="0"/>
          </a:p>
        </p:txBody>
      </p:sp>
      <p:sp>
        <p:nvSpPr>
          <p:cNvPr id="33" name="Text 31"/>
          <p:cNvSpPr txBox="1"/>
          <p:nvPr/>
        </p:nvSpPr>
        <p:spPr>
          <a:xfrm>
            <a:off x="9208008" y="4389120"/>
            <a:ext cx="2231136" cy="365760"/>
          </a:xfrm>
          <a:prstGeom prst="rect">
            <a:avLst/>
          </a:prstGeom>
          <a:noFill/>
          <a:ln/>
        </p:spPr>
        <p:txBody>
          <a:bodyPr wrap="square" lIns="0" tIns="0" rIns="0" bIns="0" rtlCol="0" anchor="ctr"/>
          <a:lstStyle/>
          <a:p>
            <a:pPr indent="0" marL="0">
              <a:buNone/>
            </a:pPr>
            <a:r>
              <a:rPr lang="en-US" sz="1100" b="1" i="1" dirty="0">
                <a:solidFill>
                  <a:srgbClr val="FBBF24"/>
                </a:solidFill>
              </a:rPr>
              <a:t>Relay must acknowledge in 20 s</a:t>
            </a:r>
            <a:endParaRPr lang="en-US" sz="1100" dirty="0"/>
          </a:p>
        </p:txBody>
      </p:sp>
      <p:sp>
        <p:nvSpPr>
          <p:cNvPr id="34" name="Card"/>
          <p:cNvSpPr/>
          <p:nvPr/>
        </p:nvSpPr>
        <p:spPr>
          <a:xfrm>
            <a:off x="640080" y="5166360"/>
            <a:ext cx="5394960" cy="1143000"/>
          </a:xfrm>
          <a:prstGeom prst="roundRect">
            <a:avLst>
              <a:gd name="adj" fmla="val 6400"/>
            </a:avLst>
          </a:prstGeom>
          <a:solidFill>
            <a:srgbClr val="2C3260"/>
          </a:solidFill>
          <a:ln w="15875">
            <a:solidFill>
              <a:srgbClr val="FBBF24"/>
            </a:solidFill>
            <a:prstDash val="solid"/>
          </a:ln>
        </p:spPr>
      </p:sp>
      <p:pic>
        <p:nvPicPr>
          <p:cNvPr id="35" name="Image 0" descr="preencoded.png">    </p:cNvPr>
          <p:cNvPicPr>
            <a:picLocks noChangeAspect="1"/>
          </p:cNvPicPr>
          <p:nvPr/>
        </p:nvPicPr>
        <p:blipFill>
          <a:blip r:embed="rId1"/>
          <a:stretch>
            <a:fillRect/>
          </a:stretch>
        </p:blipFill>
        <p:spPr>
          <a:xfrm>
            <a:off x="841248" y="5413248"/>
            <a:ext cx="365760" cy="411480"/>
          </a:xfrm>
          <a:prstGeom prst="rect">
            <a:avLst/>
          </a:prstGeom>
        </p:spPr>
      </p:pic>
      <p:sp>
        <p:nvSpPr>
          <p:cNvPr id="36" name="Text 33"/>
          <p:cNvSpPr txBox="1"/>
          <p:nvPr/>
        </p:nvSpPr>
        <p:spPr>
          <a:xfrm>
            <a:off x="1371600" y="5230368"/>
            <a:ext cx="4526280" cy="10058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Real relay switching needs 3 keys: </a:t>
            </a:r>
            <a:pPr indent="0" marL="0">
              <a:buNone/>
            </a:pPr>
            <a:r>
              <a:rPr lang="en-US" sz="1200" dirty="0">
                <a:solidFill>
                  <a:srgbClr val="E2E8F0"/>
                </a:solidFill>
                <a:latin typeface="Calibri" pitchFamily="34" charset="0"/>
                <a:ea typeface="Calibri" pitchFamily="34" charset="-122"/>
                <a:cs typeface="Calibri" pitchFamily="34" charset="-120"/>
              </a:rPr>
              <a:t>Auto mode + hardware switching enabled on the server + that ESP32 validated by an admin.</a:t>
            </a:r>
            <a:endParaRPr lang="en-US" sz="1200" dirty="0"/>
          </a:p>
        </p:txBody>
      </p:sp>
      <p:sp>
        <p:nvSpPr>
          <p:cNvPr id="37" name="Card"/>
          <p:cNvSpPr/>
          <p:nvPr/>
        </p:nvSpPr>
        <p:spPr>
          <a:xfrm>
            <a:off x="6263640" y="5166360"/>
            <a:ext cx="5321808" cy="1143000"/>
          </a:xfrm>
          <a:prstGeom prst="roundRect">
            <a:avLst>
              <a:gd name="adj" fmla="val 6400"/>
            </a:avLst>
          </a:prstGeom>
          <a:solidFill>
            <a:srgbClr val="2C3260"/>
          </a:solidFill>
          <a:ln w="15875">
            <a:solidFill>
              <a:srgbClr val="22D3EE"/>
            </a:solidFill>
            <a:prstDash val="solid"/>
          </a:ln>
        </p:spPr>
      </p:sp>
      <p:pic>
        <p:nvPicPr>
          <p:cNvPr id="38" name="Image 1" descr="preencoded.png">    </p:cNvPr>
          <p:cNvPicPr>
            <a:picLocks noChangeAspect="1"/>
          </p:cNvPicPr>
          <p:nvPr/>
        </p:nvPicPr>
        <p:blipFill>
          <a:blip r:embed="rId2"/>
          <a:stretch>
            <a:fillRect/>
          </a:stretch>
        </p:blipFill>
        <p:spPr>
          <a:xfrm>
            <a:off x="6464808" y="5431536"/>
            <a:ext cx="411480" cy="384048"/>
          </a:xfrm>
          <a:prstGeom prst="rect">
            <a:avLst/>
          </a:prstGeom>
        </p:spPr>
      </p:pic>
      <p:sp>
        <p:nvSpPr>
          <p:cNvPr id="39" name="Text 35"/>
          <p:cNvSpPr txBox="1"/>
          <p:nvPr/>
        </p:nvSpPr>
        <p:spPr>
          <a:xfrm>
            <a:off x="7040880" y="5230368"/>
            <a:ext cx="4389120" cy="100584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AI advises, rules decide: </a:t>
            </a:r>
            <a:pPr indent="0" marL="0">
              <a:buNone/>
            </a:pPr>
            <a:r>
              <a:rPr lang="en-US" sz="1200" dirty="0">
                <a:solidFill>
                  <a:srgbClr val="E2E8F0"/>
                </a:solidFill>
                <a:latin typeface="Calibri" pitchFamily="34" charset="0"/>
                <a:ea typeface="Calibri" pitchFamily="34" charset="-122"/>
                <a:cs typeface="Calibri" pitchFamily="34" charset="-120"/>
              </a:rPr>
              <a:t>an ML anomaly never switches anything off on its own — it raises an alert for a human to inspect.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7</a:t>
            </a:r>
            <a:endParaRPr lang="en-US" sz="700" dirty="0"/>
          </a:p>
        </p:txBody>
      </p:sp>
      <p:sp>
        <p:nvSpPr>
          <p:cNvPr id="6"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ML Anomaly Detection</a:t>
            </a:r>
            <a:endParaRPr lang="en-US" sz="3000" dirty="0"/>
          </a:p>
        </p:txBody>
      </p:sp>
      <p:sp>
        <p:nvSpPr>
          <p:cNvPr id="7"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Isolation Forest — learns what normal electrical behaviour looks like and flags what doesn't</a:t>
            </a:r>
            <a:endParaRPr lang="en-US" sz="1200" dirty="0"/>
          </a:p>
        </p:txBody>
      </p:sp>
      <p:sp>
        <p:nvSpPr>
          <p:cNvPr id="8" name="Criteria pill"/>
          <p:cNvSpPr/>
          <p:nvPr/>
        </p:nvSpPr>
        <p:spPr>
          <a:xfrm>
            <a:off x="8869680" y="512064"/>
            <a:ext cx="2377440" cy="365760"/>
          </a:xfrm>
          <a:prstGeom prst="roundRect">
            <a:avLst>
              <a:gd name="adj" fmla="val 50000"/>
            </a:avLst>
          </a:prstGeom>
          <a:solidFill>
            <a:srgbClr val="1C3955"/>
          </a:solidFill>
          <a:ln w="15875">
            <a:solidFill>
              <a:srgbClr val="22D3EE"/>
            </a:solidFill>
            <a:prstDash val="solid"/>
          </a:ln>
        </p:spPr>
      </p:sp>
      <p:sp>
        <p:nvSpPr>
          <p:cNvPr id="9" name="Text 7"/>
          <p:cNvSpPr txBox="1"/>
          <p:nvPr/>
        </p:nvSpPr>
        <p:spPr>
          <a:xfrm>
            <a:off x="8869680" y="512064"/>
            <a:ext cx="2377440" cy="365760"/>
          </a:xfrm>
          <a:prstGeom prst="rect">
            <a:avLst/>
          </a:prstGeom>
          <a:noFill/>
          <a:ln/>
        </p:spPr>
        <p:txBody>
          <a:bodyPr wrap="square" lIns="0" tIns="0" rIns="0" bIns="0" rtlCol="0" anchor="ctr"/>
          <a:lstStyle/>
          <a:p>
            <a:pPr algn="ctr" indent="0" marL="0">
              <a:buNone/>
            </a:pPr>
            <a:r>
              <a:rPr lang="en-US" sz="900" b="1" spc="100" kern="0" dirty="0">
                <a:solidFill>
                  <a:srgbClr val="22D3EE"/>
                </a:solidFill>
              </a:rPr>
              <a:t>AI / ML</a:t>
            </a:r>
            <a:endParaRPr lang="en-US" sz="900" dirty="0"/>
          </a:p>
        </p:txBody>
      </p:sp>
      <p:sp>
        <p:nvSpPr>
          <p:cNvPr id="10" name="Card"/>
          <p:cNvSpPr/>
          <p:nvPr/>
        </p:nvSpPr>
        <p:spPr>
          <a:xfrm>
            <a:off x="640080" y="1691640"/>
            <a:ext cx="4754880" cy="4617720"/>
          </a:xfrm>
          <a:prstGeom prst="roundRect">
            <a:avLst>
              <a:gd name="adj" fmla="val 1584"/>
            </a:avLst>
          </a:prstGeom>
          <a:solidFill>
            <a:srgbClr val="2C3260"/>
          </a:solidFill>
          <a:ln/>
        </p:spPr>
      </p:sp>
      <p:sp>
        <p:nvSpPr>
          <p:cNvPr id="11" name="Text 9"/>
          <p:cNvSpPr txBox="1"/>
          <p:nvPr/>
        </p:nvSpPr>
        <p:spPr>
          <a:xfrm>
            <a:off x="868680" y="1856232"/>
            <a:ext cx="3657600" cy="256032"/>
          </a:xfrm>
          <a:prstGeom prst="rect">
            <a:avLst/>
          </a:prstGeom>
          <a:noFill/>
          <a:ln/>
        </p:spPr>
        <p:txBody>
          <a:bodyPr wrap="square" lIns="0" tIns="0" rIns="0" bIns="0" rtlCol="0" anchor="ctr"/>
          <a:lstStyle/>
          <a:p>
            <a:pPr indent="0" marL="0">
              <a:buNone/>
            </a:pPr>
            <a:r>
              <a:rPr lang="en-US" sz="1000" b="1" spc="200" kern="0" dirty="0">
                <a:solidFill>
                  <a:srgbClr val="22D3EE"/>
                </a:solidFill>
              </a:rPr>
              <a:t>WHAT IT CATCHES</a:t>
            </a:r>
            <a:endParaRPr lang="en-US" sz="1000" dirty="0"/>
          </a:p>
        </p:txBody>
      </p:sp>
      <p:sp>
        <p:nvSpPr>
          <p:cNvPr id="12" name="Text 10"/>
          <p:cNvSpPr txBox="1"/>
          <p:nvPr/>
        </p:nvSpPr>
        <p:spPr>
          <a:xfrm>
            <a:off x="868680" y="2148840"/>
            <a:ext cx="4389120" cy="1737360"/>
          </a:xfrm>
          <a:prstGeom prst="rect">
            <a:avLst/>
          </a:prstGeom>
          <a:noFill/>
          <a:ln/>
        </p:spPr>
        <p:txBody>
          <a:bodyPr wrap="square" rtlCol="0" anchor="t"/>
          <a:lstStyle/>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Over-consumption (load far above its rating)</a:t>
            </a:r>
            <a:endParaRPr lang="en-US" sz="1200" dirty="0"/>
          </a:p>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Sudden power spikes</a:t>
            </a:r>
            <a:endParaRPr lang="en-US" sz="1200" dirty="0"/>
          </a:p>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Voltage faults</a:t>
            </a:r>
            <a:endParaRPr lang="en-US" sz="1200" dirty="0"/>
          </a:p>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Low power factor (inefficient load)</a:t>
            </a:r>
            <a:endParaRPr lang="en-US" sz="1200" dirty="0"/>
          </a:p>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Phantom load — power flowing while the relay says OFF</a:t>
            </a:r>
            <a:endParaRPr lang="en-US" sz="1200" dirty="0"/>
          </a:p>
        </p:txBody>
      </p:sp>
      <p:sp>
        <p:nvSpPr>
          <p:cNvPr id="13" name="Text 11"/>
          <p:cNvSpPr txBox="1"/>
          <p:nvPr/>
        </p:nvSpPr>
        <p:spPr>
          <a:xfrm>
            <a:off x="868680" y="3931920"/>
            <a:ext cx="3657600" cy="256032"/>
          </a:xfrm>
          <a:prstGeom prst="rect">
            <a:avLst/>
          </a:prstGeom>
          <a:noFill/>
          <a:ln/>
        </p:spPr>
        <p:txBody>
          <a:bodyPr wrap="square" lIns="0" tIns="0" rIns="0" bIns="0" rtlCol="0" anchor="ctr"/>
          <a:lstStyle/>
          <a:p>
            <a:pPr indent="0" marL="0">
              <a:buNone/>
            </a:pPr>
            <a:r>
              <a:rPr lang="en-US" sz="1000" b="1" spc="200" kern="0" dirty="0">
                <a:solidFill>
                  <a:srgbClr val="22D3EE"/>
                </a:solidFill>
              </a:rPr>
              <a:t>HOW IT WORKS</a:t>
            </a:r>
            <a:endParaRPr lang="en-US" sz="1000" dirty="0"/>
          </a:p>
        </p:txBody>
      </p:sp>
      <p:sp>
        <p:nvSpPr>
          <p:cNvPr id="14" name="Text 12"/>
          <p:cNvSpPr txBox="1"/>
          <p:nvPr/>
        </p:nvSpPr>
        <p:spPr>
          <a:xfrm>
            <a:off x="868680" y="4224528"/>
            <a:ext cx="4389120" cy="2011680"/>
          </a:xfrm>
          <a:prstGeom prst="rect">
            <a:avLst/>
          </a:prstGeom>
          <a:noFill/>
          <a:ln/>
        </p:spPr>
        <p:txBody>
          <a:bodyPr wrap="square" rtlCol="0" anchor="t"/>
          <a:lstStyle/>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5 input features: power ratio, step change, voltage deviation, power factor, relay mismatch</a:t>
            </a:r>
            <a:endParaRPr lang="en-US" sz="1200" dirty="0"/>
          </a:p>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200 trees, trained on 16,000 readings, tested on 8,000 unseen readings</a:t>
            </a:r>
            <a:endParaRPr lang="en-US" sz="1200" dirty="0"/>
          </a:p>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Alert only after 2 flagged readings in a row (no one-off noise)</a:t>
            </a:r>
            <a:endParaRPr lang="en-US" sz="1200" dirty="0"/>
          </a:p>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Rule-based fallback if no model is loaded</a:t>
            </a:r>
            <a:endParaRPr lang="en-US" sz="1200" dirty="0"/>
          </a:p>
        </p:txBody>
      </p:sp>
      <p:sp>
        <p:nvSpPr>
          <p:cNvPr id="15" name="Card"/>
          <p:cNvSpPr/>
          <p:nvPr/>
        </p:nvSpPr>
        <p:spPr>
          <a:xfrm>
            <a:off x="5669280" y="1691640"/>
            <a:ext cx="1371600" cy="1143000"/>
          </a:xfrm>
          <a:prstGeom prst="roundRect">
            <a:avLst>
              <a:gd name="adj" fmla="val 6400"/>
            </a:avLst>
          </a:prstGeom>
          <a:solidFill>
            <a:srgbClr val="242A52"/>
          </a:solidFill>
          <a:ln/>
        </p:spPr>
      </p:sp>
      <p:sp>
        <p:nvSpPr>
          <p:cNvPr id="16" name="Text 14"/>
          <p:cNvSpPr txBox="1"/>
          <p:nvPr/>
        </p:nvSpPr>
        <p:spPr>
          <a:xfrm>
            <a:off x="5669280" y="1783080"/>
            <a:ext cx="1371600" cy="594360"/>
          </a:xfrm>
          <a:prstGeom prst="rect">
            <a:avLst/>
          </a:prstGeom>
          <a:noFill/>
          <a:ln/>
        </p:spPr>
        <p:txBody>
          <a:bodyPr wrap="square" lIns="0" tIns="0" rIns="0" bIns="0" rtlCol="0" anchor="ctr"/>
          <a:lstStyle/>
          <a:p>
            <a:pPr algn="ctr" indent="0" marL="0">
              <a:buNone/>
            </a:pPr>
            <a:r>
              <a:rPr lang="en-US" sz="2200" b="1" dirty="0">
                <a:solidFill>
                  <a:srgbClr val="22D3EE"/>
                </a:solidFill>
                <a:latin typeface="Cambria" pitchFamily="34" charset="0"/>
                <a:ea typeface="Cambria" pitchFamily="34" charset="-122"/>
                <a:cs typeface="Cambria" pitchFamily="34" charset="-120"/>
              </a:rPr>
              <a:t>0.995</a:t>
            </a:r>
            <a:endParaRPr lang="en-US" sz="2200" dirty="0"/>
          </a:p>
        </p:txBody>
      </p:sp>
      <p:sp>
        <p:nvSpPr>
          <p:cNvPr id="17" name="Text 15"/>
          <p:cNvSpPr txBox="1"/>
          <p:nvPr/>
        </p:nvSpPr>
        <p:spPr>
          <a:xfrm>
            <a:off x="5669280" y="2377440"/>
            <a:ext cx="1371600" cy="320040"/>
          </a:xfrm>
          <a:prstGeom prst="rect">
            <a:avLst/>
          </a:prstGeom>
          <a:noFill/>
          <a:ln/>
        </p:spPr>
        <p:txBody>
          <a:bodyPr wrap="square" lIns="0" tIns="0" rIns="0" bIns="0" rtlCol="0" anchor="ctr"/>
          <a:lstStyle/>
          <a:p>
            <a:pPr algn="ctr" indent="0" marL="0">
              <a:buNone/>
            </a:pPr>
            <a:r>
              <a:rPr lang="en-US" sz="1100" dirty="0">
                <a:solidFill>
                  <a:srgbClr val="CBD5E1"/>
                </a:solidFill>
              </a:rPr>
              <a:t>ROC-AUC</a:t>
            </a:r>
            <a:endParaRPr lang="en-US" sz="1100" dirty="0"/>
          </a:p>
        </p:txBody>
      </p:sp>
      <p:sp>
        <p:nvSpPr>
          <p:cNvPr id="18" name="Card"/>
          <p:cNvSpPr/>
          <p:nvPr/>
        </p:nvSpPr>
        <p:spPr>
          <a:xfrm>
            <a:off x="7178040" y="1691640"/>
            <a:ext cx="1371600" cy="1143000"/>
          </a:xfrm>
          <a:prstGeom prst="roundRect">
            <a:avLst>
              <a:gd name="adj" fmla="val 6400"/>
            </a:avLst>
          </a:prstGeom>
          <a:solidFill>
            <a:srgbClr val="242A52"/>
          </a:solidFill>
          <a:ln/>
        </p:spPr>
      </p:sp>
      <p:sp>
        <p:nvSpPr>
          <p:cNvPr id="19" name="Text 17"/>
          <p:cNvSpPr txBox="1"/>
          <p:nvPr/>
        </p:nvSpPr>
        <p:spPr>
          <a:xfrm>
            <a:off x="7178040" y="1783080"/>
            <a:ext cx="1371600" cy="594360"/>
          </a:xfrm>
          <a:prstGeom prst="rect">
            <a:avLst/>
          </a:prstGeom>
          <a:noFill/>
          <a:ln/>
        </p:spPr>
        <p:txBody>
          <a:bodyPr wrap="square" lIns="0" tIns="0" rIns="0" bIns="0" rtlCol="0" anchor="ctr"/>
          <a:lstStyle/>
          <a:p>
            <a:pPr algn="ctr" indent="0" marL="0">
              <a:buNone/>
            </a:pPr>
            <a:r>
              <a:rPr lang="en-US" sz="2200" b="1" dirty="0">
                <a:solidFill>
                  <a:srgbClr val="22D3EE"/>
                </a:solidFill>
                <a:latin typeface="Cambria" pitchFamily="34" charset="0"/>
                <a:ea typeface="Cambria" pitchFamily="34" charset="-122"/>
                <a:cs typeface="Cambria" pitchFamily="34" charset="-120"/>
              </a:rPr>
              <a:t>86.7%</a:t>
            </a:r>
            <a:endParaRPr lang="en-US" sz="2200" dirty="0"/>
          </a:p>
        </p:txBody>
      </p:sp>
      <p:sp>
        <p:nvSpPr>
          <p:cNvPr id="20" name="Text 18"/>
          <p:cNvSpPr txBox="1"/>
          <p:nvPr/>
        </p:nvSpPr>
        <p:spPr>
          <a:xfrm>
            <a:off x="7178040" y="2377440"/>
            <a:ext cx="1371600" cy="320040"/>
          </a:xfrm>
          <a:prstGeom prst="rect">
            <a:avLst/>
          </a:prstGeom>
          <a:noFill/>
          <a:ln/>
        </p:spPr>
        <p:txBody>
          <a:bodyPr wrap="square" lIns="0" tIns="0" rIns="0" bIns="0" rtlCol="0" anchor="ctr"/>
          <a:lstStyle/>
          <a:p>
            <a:pPr algn="ctr" indent="0" marL="0">
              <a:buNone/>
            </a:pPr>
            <a:r>
              <a:rPr lang="en-US" sz="1100" dirty="0">
                <a:solidFill>
                  <a:srgbClr val="CBD5E1"/>
                </a:solidFill>
              </a:rPr>
              <a:t>Recall</a:t>
            </a:r>
            <a:endParaRPr lang="en-US" sz="1100" dirty="0"/>
          </a:p>
        </p:txBody>
      </p:sp>
      <p:sp>
        <p:nvSpPr>
          <p:cNvPr id="21" name="Card"/>
          <p:cNvSpPr/>
          <p:nvPr/>
        </p:nvSpPr>
        <p:spPr>
          <a:xfrm>
            <a:off x="8686800" y="1691640"/>
            <a:ext cx="1371600" cy="1143000"/>
          </a:xfrm>
          <a:prstGeom prst="roundRect">
            <a:avLst>
              <a:gd name="adj" fmla="val 6400"/>
            </a:avLst>
          </a:prstGeom>
          <a:solidFill>
            <a:srgbClr val="242A52"/>
          </a:solidFill>
          <a:ln/>
        </p:spPr>
      </p:sp>
      <p:sp>
        <p:nvSpPr>
          <p:cNvPr id="22" name="Text 20"/>
          <p:cNvSpPr txBox="1"/>
          <p:nvPr/>
        </p:nvSpPr>
        <p:spPr>
          <a:xfrm>
            <a:off x="8686800" y="1783080"/>
            <a:ext cx="1371600" cy="594360"/>
          </a:xfrm>
          <a:prstGeom prst="rect">
            <a:avLst/>
          </a:prstGeom>
          <a:noFill/>
          <a:ln/>
        </p:spPr>
        <p:txBody>
          <a:bodyPr wrap="square" lIns="0" tIns="0" rIns="0" bIns="0" rtlCol="0" anchor="ctr"/>
          <a:lstStyle/>
          <a:p>
            <a:pPr algn="ctr" indent="0" marL="0">
              <a:buNone/>
            </a:pPr>
            <a:r>
              <a:rPr lang="en-US" sz="2200" b="1" dirty="0">
                <a:solidFill>
                  <a:srgbClr val="22D3EE"/>
                </a:solidFill>
                <a:latin typeface="Cambria" pitchFamily="34" charset="0"/>
                <a:ea typeface="Cambria" pitchFamily="34" charset="-122"/>
                <a:cs typeface="Cambria" pitchFamily="34" charset="-120"/>
              </a:rPr>
              <a:t>70.1%</a:t>
            </a:r>
            <a:endParaRPr lang="en-US" sz="2200" dirty="0"/>
          </a:p>
        </p:txBody>
      </p:sp>
      <p:sp>
        <p:nvSpPr>
          <p:cNvPr id="23" name="Text 21"/>
          <p:cNvSpPr txBox="1"/>
          <p:nvPr/>
        </p:nvSpPr>
        <p:spPr>
          <a:xfrm>
            <a:off x="8686800" y="2377440"/>
            <a:ext cx="1371600" cy="320040"/>
          </a:xfrm>
          <a:prstGeom prst="rect">
            <a:avLst/>
          </a:prstGeom>
          <a:noFill/>
          <a:ln/>
        </p:spPr>
        <p:txBody>
          <a:bodyPr wrap="square" lIns="0" tIns="0" rIns="0" bIns="0" rtlCol="0" anchor="ctr"/>
          <a:lstStyle/>
          <a:p>
            <a:pPr algn="ctr" indent="0" marL="0">
              <a:buNone/>
            </a:pPr>
            <a:r>
              <a:rPr lang="en-US" sz="1100" dirty="0">
                <a:solidFill>
                  <a:srgbClr val="CBD5E1"/>
                </a:solidFill>
              </a:rPr>
              <a:t>Precision</a:t>
            </a:r>
            <a:endParaRPr lang="en-US" sz="1100" dirty="0"/>
          </a:p>
        </p:txBody>
      </p:sp>
      <p:sp>
        <p:nvSpPr>
          <p:cNvPr id="24" name="Card"/>
          <p:cNvSpPr/>
          <p:nvPr/>
        </p:nvSpPr>
        <p:spPr>
          <a:xfrm>
            <a:off x="10195560" y="1691640"/>
            <a:ext cx="1371600" cy="1143000"/>
          </a:xfrm>
          <a:prstGeom prst="roundRect">
            <a:avLst>
              <a:gd name="adj" fmla="val 6400"/>
            </a:avLst>
          </a:prstGeom>
          <a:solidFill>
            <a:srgbClr val="242A52"/>
          </a:solidFill>
          <a:ln/>
        </p:spPr>
      </p:sp>
      <p:sp>
        <p:nvSpPr>
          <p:cNvPr id="25" name="Text 23"/>
          <p:cNvSpPr txBox="1"/>
          <p:nvPr/>
        </p:nvSpPr>
        <p:spPr>
          <a:xfrm>
            <a:off x="10195560" y="1783080"/>
            <a:ext cx="1371600" cy="594360"/>
          </a:xfrm>
          <a:prstGeom prst="rect">
            <a:avLst/>
          </a:prstGeom>
          <a:noFill/>
          <a:ln/>
        </p:spPr>
        <p:txBody>
          <a:bodyPr wrap="square" lIns="0" tIns="0" rIns="0" bIns="0" rtlCol="0" anchor="ctr"/>
          <a:lstStyle/>
          <a:p>
            <a:pPr algn="ctr" indent="0" marL="0">
              <a:buNone/>
            </a:pPr>
            <a:r>
              <a:rPr lang="en-US" sz="2200" b="1" dirty="0">
                <a:solidFill>
                  <a:srgbClr val="22D3EE"/>
                </a:solidFill>
                <a:latin typeface="Cambria" pitchFamily="34" charset="0"/>
                <a:ea typeface="Cambria" pitchFamily="34" charset="-122"/>
                <a:cs typeface="Cambria" pitchFamily="34" charset="-120"/>
              </a:rPr>
              <a:t>1.1%</a:t>
            </a:r>
            <a:endParaRPr lang="en-US" sz="2200" dirty="0"/>
          </a:p>
        </p:txBody>
      </p:sp>
      <p:sp>
        <p:nvSpPr>
          <p:cNvPr id="26" name="Text 24"/>
          <p:cNvSpPr txBox="1"/>
          <p:nvPr/>
        </p:nvSpPr>
        <p:spPr>
          <a:xfrm>
            <a:off x="10195560" y="2377440"/>
            <a:ext cx="1371600" cy="320040"/>
          </a:xfrm>
          <a:prstGeom prst="rect">
            <a:avLst/>
          </a:prstGeom>
          <a:noFill/>
          <a:ln/>
        </p:spPr>
        <p:txBody>
          <a:bodyPr wrap="square" lIns="0" tIns="0" rIns="0" bIns="0" rtlCol="0" anchor="ctr"/>
          <a:lstStyle/>
          <a:p>
            <a:pPr algn="ctr" indent="0" marL="0">
              <a:buNone/>
            </a:pPr>
            <a:r>
              <a:rPr lang="en-US" sz="1100" dirty="0">
                <a:solidFill>
                  <a:srgbClr val="CBD5E1"/>
                </a:solidFill>
              </a:rPr>
              <a:t>False alarms</a:t>
            </a:r>
            <a:endParaRPr lang="en-US" sz="1100" dirty="0"/>
          </a:p>
        </p:txBody>
      </p:sp>
      <p:sp>
        <p:nvSpPr>
          <p:cNvPr id="27" name="Card"/>
          <p:cNvSpPr/>
          <p:nvPr/>
        </p:nvSpPr>
        <p:spPr>
          <a:xfrm>
            <a:off x="5669280" y="3017520"/>
            <a:ext cx="5897880" cy="3291840"/>
          </a:xfrm>
          <a:prstGeom prst="roundRect">
            <a:avLst>
              <a:gd name="adj" fmla="val 2222"/>
            </a:avLst>
          </a:prstGeom>
          <a:solidFill>
            <a:srgbClr val="242A52"/>
          </a:solidFill>
          <a:ln/>
        </p:spPr>
      </p:sp>
      <p:graphicFrame>
        <p:nvGraphicFramePr>
          <p:cNvPr id="28" name="Chart 0" descr=""/>
          <p:cNvGraphicFramePr/>
          <p:nvPr/>
        </p:nvGraphicFramePr>
        <p:xfrm>
          <a:off x="5806440" y="3108960"/>
          <a:ext cx="5623560" cy="2606040"/>
        </p:xfrm>
        <a:graphic xmlns:a="http://schemas.openxmlformats.org/drawingml/2006/main">
          <a:graphicData uri="http://schemas.openxmlformats.org/drawingml/2006/chart">
            <c:chart xmlns:c="http://schemas.openxmlformats.org/drawingml/2006/chart" r:id="rId1"/>
          </a:graphicData>
        </a:graphic>
      </p:graphicFrame>
      <p:sp>
        <p:nvSpPr>
          <p:cNvPr id="29" name="Text 26"/>
          <p:cNvSpPr txBox="1"/>
          <p:nvPr/>
        </p:nvSpPr>
        <p:spPr>
          <a:xfrm>
            <a:off x="5852160" y="5715000"/>
            <a:ext cx="5577840" cy="502920"/>
          </a:xfrm>
          <a:prstGeom prst="rect">
            <a:avLst/>
          </a:prstGeom>
          <a:noFill/>
          <a:ln/>
        </p:spPr>
        <p:txBody>
          <a:bodyPr wrap="square" lIns="0" tIns="0" rIns="0" bIns="0" rtlCol="0" anchor="ctr"/>
          <a:lstStyle/>
          <a:p>
            <a:pPr indent="0" marL="0">
              <a:buNone/>
            </a:pPr>
            <a:r>
              <a:rPr lang="en-US" sz="1050" i="1" dirty="0">
                <a:solidFill>
                  <a:srgbClr val="94A3B8"/>
                </a:solidFill>
              </a:rPr>
              <a:t>Measured on synthetic data from our own simulator — it proves the pipeline works. Real accuracy will be measured once hardware data is collected.</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8</a:t>
            </a:r>
            <a:endParaRPr lang="en-US" sz="700" dirty="0"/>
          </a:p>
        </p:txBody>
      </p:sp>
      <p:sp>
        <p:nvSpPr>
          <p:cNvPr id="6"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Prototype &amp; Demo</a:t>
            </a:r>
            <a:endParaRPr lang="en-US" sz="3000" dirty="0"/>
          </a:p>
        </p:txBody>
      </p:sp>
      <p:sp>
        <p:nvSpPr>
          <p:cNvPr id="7"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Show, don't just tell — this is your proof of feasibility</a:t>
            </a:r>
            <a:endParaRPr lang="en-US" sz="1200" dirty="0"/>
          </a:p>
        </p:txBody>
      </p:sp>
      <p:sp>
        <p:nvSpPr>
          <p:cNvPr id="8" name="Criteria pill"/>
          <p:cNvSpPr/>
          <p:nvPr/>
        </p:nvSpPr>
        <p:spPr>
          <a:xfrm>
            <a:off x="8869680" y="512064"/>
            <a:ext cx="2377440" cy="365760"/>
          </a:xfrm>
          <a:prstGeom prst="roundRect">
            <a:avLst>
              <a:gd name="adj" fmla="val 50000"/>
            </a:avLst>
          </a:prstGeom>
          <a:solidFill>
            <a:srgbClr val="1C3955"/>
          </a:solidFill>
          <a:ln w="15875">
            <a:solidFill>
              <a:srgbClr val="22D3EE"/>
            </a:solidFill>
            <a:prstDash val="solid"/>
          </a:ln>
        </p:spPr>
      </p:sp>
      <p:sp>
        <p:nvSpPr>
          <p:cNvPr id="9" name="Text 7"/>
          <p:cNvSpPr txBox="1"/>
          <p:nvPr/>
        </p:nvSpPr>
        <p:spPr>
          <a:xfrm>
            <a:off x="8869680" y="512064"/>
            <a:ext cx="2377440" cy="365760"/>
          </a:xfrm>
          <a:prstGeom prst="rect">
            <a:avLst/>
          </a:prstGeom>
          <a:noFill/>
          <a:ln/>
        </p:spPr>
        <p:txBody>
          <a:bodyPr wrap="square" lIns="0" tIns="0" rIns="0" bIns="0" rtlCol="0" anchor="ctr"/>
          <a:lstStyle/>
          <a:p>
            <a:pPr algn="ctr" indent="0" marL="0">
              <a:buNone/>
            </a:pPr>
            <a:r>
              <a:rPr lang="en-US" sz="900" b="1" spc="100" kern="0" dirty="0">
                <a:solidFill>
                  <a:srgbClr val="22D3EE"/>
                </a:solidFill>
              </a:rPr>
              <a:t>PRESENTATION &amp; PROTOTYPE · 20%</a:t>
            </a:r>
            <a:endParaRPr lang="en-US" sz="900" dirty="0"/>
          </a:p>
        </p:txBody>
      </p:sp>
      <p:sp>
        <p:nvSpPr>
          <p:cNvPr id="10" name="Shape 8"/>
          <p:cNvSpPr/>
          <p:nvPr/>
        </p:nvSpPr>
        <p:spPr>
          <a:xfrm>
            <a:off x="9875520" y="1051560"/>
            <a:ext cx="1325880" cy="1325880"/>
          </a:xfrm>
          <a:prstGeom prst="ellipse">
            <a:avLst/>
          </a:prstGeom>
          <a:solidFill>
            <a:srgbClr val="22D3EE"/>
          </a:solidFill>
          <a:ln/>
        </p:spPr>
      </p:sp>
      <p:pic>
        <p:nvPicPr>
          <p:cNvPr id="11" name="Image 0" descr="preencoded.png">    </p:cNvPr>
          <p:cNvPicPr>
            <a:picLocks noChangeAspect="1"/>
          </p:cNvPicPr>
          <p:nvPr/>
        </p:nvPicPr>
        <p:blipFill>
          <a:blip r:embed="rId1"/>
          <a:stretch>
            <a:fillRect/>
          </a:stretch>
        </p:blipFill>
        <p:spPr>
          <a:xfrm>
            <a:off x="10332720" y="1417320"/>
            <a:ext cx="548640" cy="594360"/>
          </a:xfrm>
          <a:prstGeom prst="rect">
            <a:avLst/>
          </a:prstGeom>
        </p:spPr>
      </p:pic>
      <p:sp>
        <p:nvSpPr>
          <p:cNvPr id="12" name="Card"/>
          <p:cNvSpPr/>
          <p:nvPr/>
        </p:nvSpPr>
        <p:spPr>
          <a:xfrm>
            <a:off x="640080" y="1828800"/>
            <a:ext cx="6949440" cy="4114800"/>
          </a:xfrm>
          <a:prstGeom prst="roundRect">
            <a:avLst>
              <a:gd name="adj" fmla="val 1778"/>
            </a:avLst>
          </a:prstGeom>
          <a:solidFill>
            <a:srgbClr val="242A52"/>
          </a:solidFill>
          <a:ln w="12700">
            <a:solidFill>
              <a:srgbClr val="8391AD"/>
            </a:solidFill>
            <a:prstDash val="dash"/>
          </a:ln>
        </p:spPr>
      </p:sp>
      <p:sp>
        <p:nvSpPr>
          <p:cNvPr id="13" name="Card"/>
          <p:cNvSpPr/>
          <p:nvPr/>
        </p:nvSpPr>
        <p:spPr>
          <a:xfrm>
            <a:off x="1005840" y="2029968"/>
            <a:ext cx="6217920" cy="713232"/>
          </a:xfrm>
          <a:prstGeom prst="roundRect">
            <a:avLst>
              <a:gd name="adj" fmla="val 10256"/>
            </a:avLst>
          </a:prstGeom>
          <a:solidFill>
            <a:srgbClr val="2A3166"/>
          </a:solidFill>
          <a:ln w="15875">
            <a:solidFill>
              <a:srgbClr val="3B82F6"/>
            </a:solidFill>
            <a:prstDash val="solid"/>
          </a:ln>
        </p:spPr>
      </p:sp>
      <p:sp>
        <p:nvSpPr>
          <p:cNvPr id="14" name="Text 11"/>
          <p:cNvSpPr txBox="1"/>
          <p:nvPr/>
        </p:nvSpPr>
        <p:spPr>
          <a:xfrm>
            <a:off x="1097280" y="2029968"/>
            <a:ext cx="6035040" cy="713232"/>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Sensing</a:t>
            </a:r>
            <a:endParaRPr lang="en-US" sz="1300" dirty="0"/>
          </a:p>
          <a:p>
            <a:pPr algn="ctr" indent="0" marL="0">
              <a:buNone/>
            </a:pPr>
            <a:r>
              <a:rPr lang="en-US" sz="1100" dirty="0">
                <a:solidFill>
                  <a:srgbClr val="E2E8F0"/>
                </a:solidFill>
                <a:latin typeface="Calibri" pitchFamily="34" charset="0"/>
                <a:ea typeface="Calibri" pitchFamily="34" charset="-122"/>
                <a:cs typeface="Calibri" pitchFamily="34" charset="-120"/>
              </a:rPr>
              <a:t>PIR / mmWave occupancy  ·  SCT-013 / PZEM current &amp; power  ·  Temperature</a:t>
            </a:r>
            <a:endParaRPr lang="en-US" sz="1300" dirty="0"/>
          </a:p>
        </p:txBody>
      </p:sp>
      <p:pic>
        <p:nvPicPr>
          <p:cNvPr id="15" name="Image 1" descr="preencoded.png">    </p:cNvPr>
          <p:cNvPicPr>
            <a:picLocks noChangeAspect="1"/>
          </p:cNvPicPr>
          <p:nvPr/>
        </p:nvPicPr>
        <p:blipFill>
          <a:blip r:embed="rId2"/>
          <a:stretch>
            <a:fillRect/>
          </a:stretch>
        </p:blipFill>
        <p:spPr>
          <a:xfrm>
            <a:off x="4005072" y="2761488"/>
            <a:ext cx="201168" cy="201168"/>
          </a:xfrm>
          <a:prstGeom prst="rect">
            <a:avLst/>
          </a:prstGeom>
        </p:spPr>
      </p:pic>
      <p:sp>
        <p:nvSpPr>
          <p:cNvPr id="16" name="Card"/>
          <p:cNvSpPr/>
          <p:nvPr/>
        </p:nvSpPr>
        <p:spPr>
          <a:xfrm>
            <a:off x="1005840" y="2990088"/>
            <a:ext cx="6217920" cy="713232"/>
          </a:xfrm>
          <a:prstGeom prst="roundRect">
            <a:avLst>
              <a:gd name="adj" fmla="val 10256"/>
            </a:avLst>
          </a:prstGeom>
          <a:solidFill>
            <a:srgbClr val="2A3166"/>
          </a:solidFill>
          <a:ln w="15875">
            <a:solidFill>
              <a:srgbClr val="3B82F6"/>
            </a:solidFill>
            <a:prstDash val="solid"/>
          </a:ln>
        </p:spPr>
      </p:sp>
      <p:sp>
        <p:nvSpPr>
          <p:cNvPr id="17" name="Text 13"/>
          <p:cNvSpPr txBox="1"/>
          <p:nvPr/>
        </p:nvSpPr>
        <p:spPr>
          <a:xfrm>
            <a:off x="1097280" y="2990088"/>
            <a:ext cx="6035040" cy="713232"/>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Edge Node</a:t>
            </a:r>
            <a:endParaRPr lang="en-US" sz="1300" dirty="0"/>
          </a:p>
          <a:p>
            <a:pPr algn="ctr" indent="0" marL="0">
              <a:buNone/>
            </a:pPr>
            <a:r>
              <a:rPr lang="en-US" sz="1100" dirty="0">
                <a:solidFill>
                  <a:srgbClr val="E2E8F0"/>
                </a:solidFill>
                <a:latin typeface="Calibri" pitchFamily="34" charset="0"/>
                <a:ea typeface="Calibri" pitchFamily="34" charset="-122"/>
                <a:cs typeface="Calibri" pitchFamily="34" charset="-120"/>
              </a:rPr>
              <a:t>ESP32 aggregates real-time telemetry every 5 s and drives the relays</a:t>
            </a:r>
            <a:endParaRPr lang="en-US" sz="1300" dirty="0"/>
          </a:p>
        </p:txBody>
      </p:sp>
      <p:pic>
        <p:nvPicPr>
          <p:cNvPr id="18" name="Image 2" descr="preencoded.png">    </p:cNvPr>
          <p:cNvPicPr>
            <a:picLocks noChangeAspect="1"/>
          </p:cNvPicPr>
          <p:nvPr/>
        </p:nvPicPr>
        <p:blipFill>
          <a:blip r:embed="rId3"/>
          <a:stretch>
            <a:fillRect/>
          </a:stretch>
        </p:blipFill>
        <p:spPr>
          <a:xfrm>
            <a:off x="4005072" y="3721608"/>
            <a:ext cx="201168" cy="201168"/>
          </a:xfrm>
          <a:prstGeom prst="rect">
            <a:avLst/>
          </a:prstGeom>
        </p:spPr>
      </p:pic>
      <p:sp>
        <p:nvSpPr>
          <p:cNvPr id="19" name="Card"/>
          <p:cNvSpPr/>
          <p:nvPr/>
        </p:nvSpPr>
        <p:spPr>
          <a:xfrm>
            <a:off x="1005840" y="3950208"/>
            <a:ext cx="6217920" cy="713232"/>
          </a:xfrm>
          <a:prstGeom prst="roundRect">
            <a:avLst>
              <a:gd name="adj" fmla="val 10256"/>
            </a:avLst>
          </a:prstGeom>
          <a:solidFill>
            <a:srgbClr val="2A3166"/>
          </a:solidFill>
          <a:ln w="15875">
            <a:solidFill>
              <a:srgbClr val="3B82F6"/>
            </a:solidFill>
            <a:prstDash val="solid"/>
          </a:ln>
        </p:spPr>
      </p:sp>
      <p:sp>
        <p:nvSpPr>
          <p:cNvPr id="20" name="Text 15"/>
          <p:cNvSpPr txBox="1"/>
          <p:nvPr/>
        </p:nvSpPr>
        <p:spPr>
          <a:xfrm>
            <a:off x="1097280" y="3950208"/>
            <a:ext cx="6035040" cy="713232"/>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Intelligence</a:t>
            </a:r>
            <a:endParaRPr lang="en-US" sz="1300" dirty="0"/>
          </a:p>
          <a:p>
            <a:pPr algn="ctr" indent="0" marL="0">
              <a:buNone/>
            </a:pPr>
            <a:r>
              <a:rPr lang="en-US" sz="1100" dirty="0">
                <a:solidFill>
                  <a:srgbClr val="E2E8F0"/>
                </a:solidFill>
                <a:latin typeface="Calibri" pitchFamily="34" charset="0"/>
                <a:ea typeface="Calibri" pitchFamily="34" charset="-122"/>
                <a:cs typeface="Calibri" pitchFamily="34" charset="-120"/>
              </a:rPr>
              <a:t>Decision engine (20 safety checks) + ML anomaly detection (Isolation Forest)</a:t>
            </a:r>
            <a:endParaRPr lang="en-US" sz="1300" dirty="0"/>
          </a:p>
        </p:txBody>
      </p:sp>
      <p:pic>
        <p:nvPicPr>
          <p:cNvPr id="21" name="Image 3" descr="preencoded.png">    </p:cNvPr>
          <p:cNvPicPr>
            <a:picLocks noChangeAspect="1"/>
          </p:cNvPicPr>
          <p:nvPr/>
        </p:nvPicPr>
        <p:blipFill>
          <a:blip r:embed="rId4"/>
          <a:stretch>
            <a:fillRect/>
          </a:stretch>
        </p:blipFill>
        <p:spPr>
          <a:xfrm>
            <a:off x="4005072" y="4681728"/>
            <a:ext cx="201168" cy="201168"/>
          </a:xfrm>
          <a:prstGeom prst="rect">
            <a:avLst/>
          </a:prstGeom>
        </p:spPr>
      </p:pic>
      <p:sp>
        <p:nvSpPr>
          <p:cNvPr id="22" name="Card"/>
          <p:cNvSpPr/>
          <p:nvPr/>
        </p:nvSpPr>
        <p:spPr>
          <a:xfrm>
            <a:off x="1005840" y="4910328"/>
            <a:ext cx="6217920" cy="713232"/>
          </a:xfrm>
          <a:prstGeom prst="roundRect">
            <a:avLst>
              <a:gd name="adj" fmla="val 10256"/>
            </a:avLst>
          </a:prstGeom>
          <a:solidFill>
            <a:srgbClr val="2A3166"/>
          </a:solidFill>
          <a:ln w="15875">
            <a:solidFill>
              <a:srgbClr val="3B82F6"/>
            </a:solidFill>
            <a:prstDash val="solid"/>
          </a:ln>
        </p:spPr>
      </p:sp>
      <p:sp>
        <p:nvSpPr>
          <p:cNvPr id="23" name="Text 17"/>
          <p:cNvSpPr txBox="1"/>
          <p:nvPr/>
        </p:nvSpPr>
        <p:spPr>
          <a:xfrm>
            <a:off x="1097280" y="4910328"/>
            <a:ext cx="6035040" cy="713232"/>
          </a:xfrm>
          <a:prstGeom prst="rect">
            <a:avLst/>
          </a:prstGeom>
          <a:noFill/>
          <a:ln/>
        </p:spPr>
        <p:txBody>
          <a:bodyPr wrap="square" lIns="0" tIns="0" rIns="0" bIns="0" rtlCol="0" anchor="ctr"/>
          <a:lstStyle/>
          <a:p>
            <a:pPr algn="ctr" indent="0" marL="0">
              <a:buNone/>
            </a:pPr>
            <a:r>
              <a:rPr lang="en-US" sz="1300" b="1" dirty="0">
                <a:solidFill>
                  <a:srgbClr val="22D3EE"/>
                </a:solidFill>
                <a:latin typeface="Calibri" pitchFamily="34" charset="0"/>
                <a:ea typeface="Calibri" pitchFamily="34" charset="-122"/>
                <a:cs typeface="Calibri" pitchFamily="34" charset="-120"/>
              </a:rPr>
              <a:t>Action &amp; Insight</a:t>
            </a:r>
            <a:endParaRPr lang="en-US" sz="1300" dirty="0"/>
          </a:p>
          <a:p>
            <a:pPr algn="ctr" indent="0" marL="0">
              <a:buNone/>
            </a:pPr>
            <a:r>
              <a:rPr lang="en-US" sz="1100" dirty="0">
                <a:solidFill>
                  <a:srgbClr val="E2E8F0"/>
                </a:solidFill>
                <a:latin typeface="Calibri" pitchFamily="34" charset="0"/>
                <a:ea typeface="Calibri" pitchFamily="34" charset="-122"/>
                <a:cs typeface="Calibri" pitchFamily="34" charset="-120"/>
              </a:rPr>
              <a:t>Automated relay shut-off  ·  live React.js dashboard, alerts &amp; savings</a:t>
            </a:r>
            <a:endParaRPr lang="en-US" sz="1300" dirty="0"/>
          </a:p>
        </p:txBody>
      </p:sp>
      <p:sp>
        <p:nvSpPr>
          <p:cNvPr id="24" name="Card"/>
          <p:cNvSpPr/>
          <p:nvPr/>
        </p:nvSpPr>
        <p:spPr>
          <a:xfrm>
            <a:off x="7818120" y="1828800"/>
            <a:ext cx="3749040" cy="4480560"/>
          </a:xfrm>
          <a:prstGeom prst="roundRect">
            <a:avLst>
              <a:gd name="adj" fmla="val 1951"/>
            </a:avLst>
          </a:prstGeom>
          <a:solidFill>
            <a:srgbClr val="242A52"/>
          </a:solidFill>
          <a:ln/>
        </p:spPr>
      </p:sp>
      <p:sp>
        <p:nvSpPr>
          <p:cNvPr id="25" name="Text 19"/>
          <p:cNvSpPr txBox="1"/>
          <p:nvPr/>
        </p:nvSpPr>
        <p:spPr>
          <a:xfrm>
            <a:off x="8046720" y="1993392"/>
            <a:ext cx="2743200" cy="256032"/>
          </a:xfrm>
          <a:prstGeom prst="rect">
            <a:avLst/>
          </a:prstGeom>
          <a:noFill/>
          <a:ln/>
        </p:spPr>
        <p:txBody>
          <a:bodyPr wrap="square" lIns="0" tIns="0" rIns="0" bIns="0" rtlCol="0" anchor="ctr"/>
          <a:lstStyle/>
          <a:p>
            <a:pPr indent="0" marL="0">
              <a:buNone/>
            </a:pPr>
            <a:r>
              <a:rPr lang="en-US" sz="1000" b="1" spc="200" kern="0" dirty="0">
                <a:solidFill>
                  <a:srgbClr val="22D3EE"/>
                </a:solidFill>
              </a:rPr>
              <a:t>DEMO NOTES</a:t>
            </a:r>
            <a:endParaRPr lang="en-US" sz="1000" dirty="0"/>
          </a:p>
        </p:txBody>
      </p:sp>
      <p:sp>
        <p:nvSpPr>
          <p:cNvPr id="26" name="Text 20"/>
          <p:cNvSpPr txBox="1"/>
          <p:nvPr/>
        </p:nvSpPr>
        <p:spPr>
          <a:xfrm>
            <a:off x="8046720" y="2331720"/>
            <a:ext cx="3383280" cy="3886200"/>
          </a:xfrm>
          <a:prstGeom prst="rect">
            <a:avLst/>
          </a:prstGeom>
          <a:noFill/>
          <a:ln/>
        </p:spPr>
        <p:txBody>
          <a:bodyPr wrap="square" rtlCol="0" anchor="t"/>
          <a:lstStyle/>
          <a:p>
            <a:pPr indent="0" marL="0">
              <a:buNone/>
            </a:pPr>
            <a:r>
              <a:rPr lang="en-US" sz="1150" b="1" dirty="0">
                <a:solidFill>
                  <a:srgbClr val="FFFFFF"/>
                </a:solidFill>
                <a:latin typeface="Calibri" pitchFamily="34" charset="0"/>
                <a:ea typeface="Calibri" pitchFamily="34" charset="-122"/>
                <a:cs typeface="Calibri" pitchFamily="34" charset="-120"/>
              </a:rPr>
              <a:t>Stage: </a:t>
            </a:r>
            <a:pPr indent="0" marL="0">
              <a:buNone/>
            </a:pPr>
            <a:r>
              <a:rPr lang="en-US" sz="1150" b="1" dirty="0">
                <a:solidFill>
                  <a:srgbClr val="34D399"/>
                </a:solidFill>
                <a:latin typeface="Calibri" pitchFamily="34" charset="0"/>
                <a:ea typeface="Calibri" pitchFamily="34" charset="-122"/>
                <a:cs typeface="Calibri" pitchFamily="34" charset="-120"/>
              </a:rPr>
              <a:t>working software demo </a:t>
            </a:r>
            <a:pPr indent="0" marL="0">
              <a:spcAft>
                <a:spcPts val="800"/>
              </a:spcAft>
              <a:buNone/>
            </a:pPr>
            <a:r>
              <a:rPr lang="en-US" sz="1150" dirty="0">
                <a:solidFill>
                  <a:srgbClr val="E2E8F0"/>
                </a:solidFill>
                <a:latin typeface="Calibri" pitchFamily="34" charset="0"/>
                <a:ea typeface="Calibri" pitchFamily="34" charset="-122"/>
                <a:cs typeface="Calibri" pitchFamily="34" charset="-120"/>
              </a:rPr>
              <a:t>(simulator + ESP32 emulator). Hardware node: in progress.</a:t>
            </a:r>
            <a:endParaRPr lang="en-US" sz="1150" dirty="0"/>
          </a:p>
          <a:p>
            <a:pPr marL="152400" indent="-152400">
              <a:spcAft>
                <a:spcPts val="800"/>
              </a:spcAft>
              <a:buSzPct val="100000"/>
              <a:buChar char="•"/>
            </a:pPr>
            <a:r>
              <a:rPr lang="en-US" sz="1150" dirty="0">
                <a:solidFill>
                  <a:srgbClr val="E2E8F0"/>
                </a:solidFill>
                <a:latin typeface="Calibri" pitchFamily="34" charset="0"/>
                <a:ea typeface="Calibri" pitchFamily="34" charset="-122"/>
                <a:cs typeface="Calibri" pitchFamily="34" charset="-120"/>
              </a:rPr>
              <a:t>Detects vacant rooms with abnormal power draw, cuts power via relay (simulated) and alerts the dashboard in real time.</a:t>
            </a:r>
            <a:endParaRPr lang="en-US" sz="1150" dirty="0"/>
          </a:p>
          <a:p>
            <a:pPr marL="152400" indent="-152400">
              <a:spcAft>
                <a:spcPts val="800"/>
              </a:spcAft>
              <a:buSzPct val="100000"/>
              <a:buChar char="•"/>
            </a:pPr>
            <a:r>
              <a:rPr lang="en-US" sz="1150" dirty="0">
                <a:solidFill>
                  <a:srgbClr val="E2E8F0"/>
                </a:solidFill>
                <a:latin typeface="Calibri" pitchFamily="34" charset="0"/>
                <a:ea typeface="Calibri" pitchFamily="34" charset="-122"/>
                <a:cs typeface="Calibri" pitchFamily="34" charset="-120"/>
              </a:rPr>
              <a:t>Demo scenarios: vacant-room waste, anomaly, sensor failure, offline device, failed and timed-out commands.</a:t>
            </a:r>
            <a:endParaRPr lang="en-US" sz="1150" dirty="0"/>
          </a:p>
          <a:p>
            <a:pPr marL="152400" indent="-152400">
              <a:spcAft>
                <a:spcPts val="800"/>
              </a:spcAft>
              <a:buSzPct val="100000"/>
              <a:buChar char="•"/>
            </a:pPr>
            <a:r>
              <a:rPr lang="en-US" sz="1150" dirty="0">
                <a:solidFill>
                  <a:srgbClr val="E2E8F0"/>
                </a:solidFill>
                <a:latin typeface="Calibri" pitchFamily="34" charset="0"/>
                <a:ea typeface="Calibri" pitchFamily="34" charset="-122"/>
                <a:cs typeface="Calibri" pitchFamily="34" charset="-120"/>
              </a:rPr>
              <a:t>127 automated tests passing (105 backend, 18 frontend, 4 end-to-end).</a:t>
            </a:r>
            <a:endParaRPr lang="en-US" sz="1150" dirty="0"/>
          </a:p>
          <a:p>
            <a:pPr marL="152400" indent="-152400">
              <a:buSzPct val="100000"/>
              <a:buChar char="•"/>
            </a:pPr>
            <a:r>
              <a:rPr lang="en-US" sz="1150" dirty="0">
                <a:solidFill>
                  <a:srgbClr val="E2E8F0"/>
                </a:solidFill>
                <a:latin typeface="Calibri" pitchFamily="34" charset="0"/>
                <a:ea typeface="Calibri" pitchFamily="34" charset="-122"/>
                <a:cs typeface="Calibri" pitchFamily="34" charset="-120"/>
              </a:rPr>
              <a:t>Next: wider rollout across labs and hostels, deeper per-room analytics and mobile alerts.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Text 1"/>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4" name="Text 2"/>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9</a:t>
            </a:r>
            <a:endParaRPr lang="en-US" sz="700" dirty="0"/>
          </a:p>
        </p:txBody>
      </p:sp>
      <p:sp>
        <p:nvSpPr>
          <p:cNvPr id="5"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Software Prototype — Live Dashboard</a:t>
            </a:r>
            <a:endParaRPr lang="en-US" sz="3000" dirty="0"/>
          </a:p>
        </p:txBody>
      </p:sp>
      <p:sp>
        <p:nvSpPr>
          <p:cNvPr id="6"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Real screens from our running software (simulated campus data)</a:t>
            </a:r>
            <a:endParaRPr lang="en-US" sz="1200" dirty="0"/>
          </a:p>
        </p:txBody>
      </p:sp>
      <p:sp>
        <p:nvSpPr>
          <p:cNvPr id="7" name="Criteria pill"/>
          <p:cNvSpPr/>
          <p:nvPr/>
        </p:nvSpPr>
        <p:spPr>
          <a:xfrm>
            <a:off x="8869680" y="512064"/>
            <a:ext cx="2377440" cy="365760"/>
          </a:xfrm>
          <a:prstGeom prst="roundRect">
            <a:avLst>
              <a:gd name="adj" fmla="val 50000"/>
            </a:avLst>
          </a:prstGeom>
          <a:solidFill>
            <a:srgbClr val="1C3955"/>
          </a:solidFill>
          <a:ln w="15875">
            <a:solidFill>
              <a:srgbClr val="22D3EE"/>
            </a:solidFill>
            <a:prstDash val="solid"/>
          </a:ln>
        </p:spPr>
      </p:sp>
      <p:sp>
        <p:nvSpPr>
          <p:cNvPr id="8" name="Text 6"/>
          <p:cNvSpPr txBox="1"/>
          <p:nvPr/>
        </p:nvSpPr>
        <p:spPr>
          <a:xfrm>
            <a:off x="8869680" y="512064"/>
            <a:ext cx="2377440" cy="365760"/>
          </a:xfrm>
          <a:prstGeom prst="rect">
            <a:avLst/>
          </a:prstGeom>
          <a:noFill/>
          <a:ln/>
        </p:spPr>
        <p:txBody>
          <a:bodyPr wrap="square" lIns="0" tIns="0" rIns="0" bIns="0" rtlCol="0" anchor="ctr"/>
          <a:lstStyle/>
          <a:p>
            <a:pPr algn="ctr" indent="0" marL="0">
              <a:buNone/>
            </a:pPr>
            <a:r>
              <a:rPr lang="en-US" sz="900" b="1" spc="100" kern="0" dirty="0">
                <a:solidFill>
                  <a:srgbClr val="22D3EE"/>
                </a:solidFill>
              </a:rPr>
              <a:t>WORKING SOFTWARE</a:t>
            </a:r>
            <a:endParaRPr lang="en-US" sz="900" dirty="0"/>
          </a:p>
        </p:txBody>
      </p:sp>
      <p:sp>
        <p:nvSpPr>
          <p:cNvPr id="9" name="Shape 7"/>
          <p:cNvSpPr/>
          <p:nvPr/>
        </p:nvSpPr>
        <p:spPr>
          <a:xfrm>
            <a:off x="603504" y="1563624"/>
            <a:ext cx="6108192" cy="3090672"/>
          </a:xfrm>
          <a:prstGeom prst="rect">
            <a:avLst/>
          </a:prstGeom>
          <a:solidFill>
            <a:srgbClr val="2C3260"/>
          </a:solidFill>
          <a:ln w="12700">
            <a:solidFill>
              <a:srgbClr val="22D3EE"/>
            </a:solidFill>
            <a:prstDash val="solid"/>
          </a:ln>
        </p:spPr>
      </p:sp>
      <p:pic>
        <p:nvPicPr>
          <p:cNvPr id="10" name="Image 0" descr="Campus overview: live power, energy today, energy wasted in vacant rooms, CO₂ and estimated savings">    </p:cNvPr>
          <p:cNvPicPr>
            <a:picLocks noChangeAspect="1"/>
          </p:cNvPicPr>
          <p:nvPr/>
        </p:nvPicPr>
        <p:blipFill>
          <a:blip r:embed="rId1"/>
          <a:stretch>
            <a:fillRect/>
          </a:stretch>
        </p:blipFill>
        <p:spPr>
          <a:xfrm>
            <a:off x="640080" y="1600200"/>
            <a:ext cx="6035040" cy="3017520"/>
          </a:xfrm>
          <a:prstGeom prst="rect">
            <a:avLst/>
          </a:prstGeom>
        </p:spPr>
      </p:pic>
      <p:sp>
        <p:nvSpPr>
          <p:cNvPr id="11" name="Text 8"/>
          <p:cNvSpPr txBox="1"/>
          <p:nvPr/>
        </p:nvSpPr>
        <p:spPr>
          <a:xfrm>
            <a:off x="640080" y="4709160"/>
            <a:ext cx="6035040" cy="274320"/>
          </a:xfrm>
          <a:prstGeom prst="rect">
            <a:avLst/>
          </a:prstGeom>
          <a:noFill/>
          <a:ln/>
        </p:spPr>
        <p:txBody>
          <a:bodyPr wrap="square" lIns="0" tIns="0" rIns="0" bIns="0" rtlCol="0" anchor="ctr"/>
          <a:lstStyle/>
          <a:p>
            <a:pPr indent="0" marL="0">
              <a:buNone/>
            </a:pPr>
            <a:r>
              <a:rPr lang="en-US" sz="1100" i="1" dirty="0">
                <a:solidFill>
                  <a:srgbClr val="CBD5E1"/>
                </a:solidFill>
              </a:rPr>
              <a:t>Campus overview: live power, energy today, energy wasted in vacant rooms, CO₂ and estimated savings</a:t>
            </a:r>
            <a:endParaRPr lang="en-US" sz="1100" dirty="0"/>
          </a:p>
        </p:txBody>
      </p:sp>
      <p:sp>
        <p:nvSpPr>
          <p:cNvPr id="12" name="Shape 9"/>
          <p:cNvSpPr/>
          <p:nvPr/>
        </p:nvSpPr>
        <p:spPr>
          <a:xfrm>
            <a:off x="6912864" y="1563624"/>
            <a:ext cx="4690872" cy="2025396"/>
          </a:xfrm>
          <a:prstGeom prst="rect">
            <a:avLst/>
          </a:prstGeom>
          <a:solidFill>
            <a:srgbClr val="2C3260"/>
          </a:solidFill>
          <a:ln w="12700">
            <a:solidFill>
              <a:srgbClr val="22D3EE"/>
            </a:solidFill>
            <a:prstDash val="solid"/>
          </a:ln>
        </p:spPr>
      </p:sp>
      <p:pic>
        <p:nvPicPr>
          <p:cNvPr id="13" name="Image 1" descr="Room view: every decision explained check-by-check (here: Split AC in an empty seminar room)">    </p:cNvPr>
          <p:cNvPicPr>
            <a:picLocks noChangeAspect="1"/>
          </p:cNvPicPr>
          <p:nvPr/>
        </p:nvPicPr>
        <p:blipFill>
          <a:blip r:embed="rId2"/>
          <a:stretch>
            <a:fillRect/>
          </a:stretch>
        </p:blipFill>
        <p:spPr>
          <a:xfrm>
            <a:off x="6949440" y="1600200"/>
            <a:ext cx="4617720" cy="1952244"/>
          </a:xfrm>
          <a:prstGeom prst="rect">
            <a:avLst/>
          </a:prstGeom>
        </p:spPr>
      </p:pic>
      <p:sp>
        <p:nvSpPr>
          <p:cNvPr id="14" name="Text 10"/>
          <p:cNvSpPr txBox="1"/>
          <p:nvPr/>
        </p:nvSpPr>
        <p:spPr>
          <a:xfrm>
            <a:off x="6949440" y="3643884"/>
            <a:ext cx="4617720" cy="274320"/>
          </a:xfrm>
          <a:prstGeom prst="rect">
            <a:avLst/>
          </a:prstGeom>
          <a:noFill/>
          <a:ln/>
        </p:spPr>
        <p:txBody>
          <a:bodyPr wrap="square" lIns="0" tIns="0" rIns="0" bIns="0" rtlCol="0" anchor="ctr"/>
          <a:lstStyle/>
          <a:p>
            <a:pPr indent="0" marL="0">
              <a:buNone/>
            </a:pPr>
            <a:r>
              <a:rPr lang="en-US" sz="1100" i="1" dirty="0">
                <a:solidFill>
                  <a:srgbClr val="CBD5E1"/>
                </a:solidFill>
              </a:rPr>
              <a:t>Room view: every decision explained check-by-check (here: Split AC in an empty seminar room)</a:t>
            </a:r>
            <a:endParaRPr lang="en-US" sz="1100" dirty="0"/>
          </a:p>
        </p:txBody>
      </p:sp>
      <p:sp>
        <p:nvSpPr>
          <p:cNvPr id="15" name="Card"/>
          <p:cNvSpPr/>
          <p:nvPr/>
        </p:nvSpPr>
        <p:spPr>
          <a:xfrm>
            <a:off x="6949440" y="4160520"/>
            <a:ext cx="4617720" cy="2148840"/>
          </a:xfrm>
          <a:prstGeom prst="roundRect">
            <a:avLst>
              <a:gd name="adj" fmla="val 3404"/>
            </a:avLst>
          </a:prstGeom>
          <a:solidFill>
            <a:srgbClr val="2C3260"/>
          </a:solidFill>
          <a:ln/>
        </p:spPr>
      </p:sp>
      <p:sp>
        <p:nvSpPr>
          <p:cNvPr id="16" name="Text 12"/>
          <p:cNvSpPr txBox="1"/>
          <p:nvPr/>
        </p:nvSpPr>
        <p:spPr>
          <a:xfrm>
            <a:off x="7132320" y="4297680"/>
            <a:ext cx="4114800" cy="256032"/>
          </a:xfrm>
          <a:prstGeom prst="rect">
            <a:avLst/>
          </a:prstGeom>
          <a:noFill/>
          <a:ln/>
        </p:spPr>
        <p:txBody>
          <a:bodyPr wrap="square" lIns="0" tIns="0" rIns="0" bIns="0" rtlCol="0" anchor="ctr"/>
          <a:lstStyle/>
          <a:p>
            <a:pPr indent="0" marL="0">
              <a:buNone/>
            </a:pPr>
            <a:r>
              <a:rPr lang="en-US" sz="1000" b="1" spc="200" kern="0" dirty="0">
                <a:solidFill>
                  <a:srgbClr val="22D3EE"/>
                </a:solidFill>
              </a:rPr>
              <a:t>WHAT THE DASHBOARD GIVES</a:t>
            </a:r>
            <a:endParaRPr lang="en-US" sz="1000" dirty="0"/>
          </a:p>
        </p:txBody>
      </p:sp>
      <p:sp>
        <p:nvSpPr>
          <p:cNvPr id="17" name="Text 13"/>
          <p:cNvSpPr txBox="1"/>
          <p:nvPr/>
        </p:nvSpPr>
        <p:spPr>
          <a:xfrm>
            <a:off x="7132320" y="4590288"/>
            <a:ext cx="4297680" cy="1645920"/>
          </a:xfrm>
          <a:prstGeom prst="rect">
            <a:avLst/>
          </a:prstGeom>
          <a:noFill/>
          <a:ln/>
        </p:spPr>
        <p:txBody>
          <a:bodyPr wrap="square" rtlCol="0" anchor="t"/>
          <a:lstStyle/>
          <a:p>
            <a:pPr marL="152400" indent="-152400">
              <a:spcAft>
                <a:spcPts val="400"/>
              </a:spcAft>
              <a:buSzPct val="100000"/>
              <a:buChar char="•"/>
            </a:pPr>
            <a:r>
              <a:rPr lang="en-US" sz="1150" dirty="0">
                <a:solidFill>
                  <a:srgbClr val="E2E8F0"/>
                </a:solidFill>
                <a:latin typeface="Calibri" pitchFamily="34" charset="0"/>
                <a:ea typeface="Calibri" pitchFamily="34" charset="-122"/>
                <a:cs typeface="Calibri" pitchFamily="34" charset="-120"/>
              </a:rPr>
              <a:t>Live kW, kWh, ₹ cost and CO₂ — per room and campus</a:t>
            </a:r>
            <a:endParaRPr lang="en-US" sz="1150" dirty="0"/>
          </a:p>
          <a:p>
            <a:pPr marL="152400" indent="-152400">
              <a:spcAft>
                <a:spcPts val="400"/>
              </a:spcAft>
              <a:buSzPct val="100000"/>
              <a:buChar char="•"/>
            </a:pPr>
            <a:r>
              <a:rPr lang="en-US" sz="1150" dirty="0">
                <a:solidFill>
                  <a:srgbClr val="E2E8F0"/>
                </a:solidFill>
                <a:latin typeface="Calibri" pitchFamily="34" charset="0"/>
                <a:ea typeface="Calibri" pitchFamily="34" charset="-122"/>
                <a:cs typeface="Calibri" pitchFamily="34" charset="-120"/>
              </a:rPr>
              <a:t>Energy wasted while rooms were empty</a:t>
            </a:r>
            <a:endParaRPr lang="en-US" sz="1150" dirty="0"/>
          </a:p>
          <a:p>
            <a:pPr marL="152400" indent="-152400">
              <a:spcAft>
                <a:spcPts val="400"/>
              </a:spcAft>
              <a:buSzPct val="100000"/>
              <a:buChar char="•"/>
            </a:pPr>
            <a:r>
              <a:rPr lang="en-US" sz="1150" dirty="0">
                <a:solidFill>
                  <a:srgbClr val="E2E8F0"/>
                </a:solidFill>
                <a:latin typeface="Calibri" pitchFamily="34" charset="0"/>
                <a:ea typeface="Calibri" pitchFamily="34" charset="-122"/>
                <a:cs typeface="Calibri" pitchFamily="34" charset="-120"/>
              </a:rPr>
              <a:t>Alerts with recommendations · manual ON/OFF &amp; overrides</a:t>
            </a:r>
            <a:endParaRPr lang="en-US" sz="1150" dirty="0"/>
          </a:p>
          <a:p>
            <a:pPr marL="152400" indent="-152400">
              <a:spcAft>
                <a:spcPts val="400"/>
              </a:spcAft>
              <a:buSzPct val="100000"/>
              <a:buChar char="•"/>
            </a:pPr>
            <a:r>
              <a:rPr lang="en-US" sz="1150" dirty="0">
                <a:solidFill>
                  <a:srgbClr val="E2E8F0"/>
                </a:solidFill>
                <a:latin typeface="Calibri" pitchFamily="34" charset="0"/>
                <a:ea typeface="Calibri" pitchFamily="34" charset="-122"/>
                <a:cs typeface="Calibri" pitchFamily="34" charset="-120"/>
              </a:rPr>
              <a:t>Schedules, devices, users &amp; roles, settings</a:t>
            </a:r>
            <a:endParaRPr lang="en-US" sz="1150" dirty="0"/>
          </a:p>
        </p:txBody>
      </p:sp>
      <p:sp>
        <p:nvSpPr>
          <p:cNvPr id="18" name="Card"/>
          <p:cNvSpPr/>
          <p:nvPr/>
        </p:nvSpPr>
        <p:spPr>
          <a:xfrm>
            <a:off x="640080" y="5120640"/>
            <a:ext cx="6035040" cy="1188720"/>
          </a:xfrm>
          <a:prstGeom prst="roundRect">
            <a:avLst>
              <a:gd name="adj" fmla="val 6154"/>
            </a:avLst>
          </a:prstGeom>
          <a:solidFill>
            <a:srgbClr val="2C3260"/>
          </a:solidFill>
          <a:ln/>
        </p:spPr>
      </p:sp>
      <p:sp>
        <p:nvSpPr>
          <p:cNvPr id="19" name="Text 15"/>
          <p:cNvSpPr txBox="1"/>
          <p:nvPr/>
        </p:nvSpPr>
        <p:spPr>
          <a:xfrm>
            <a:off x="868680" y="5175504"/>
            <a:ext cx="5669280" cy="107899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Labelled honestly: </a:t>
            </a:r>
            <a:pPr indent="0" marL="0">
              <a:buNone/>
            </a:pPr>
            <a:r>
              <a:rPr lang="en-US" sz="1200" dirty="0">
                <a:solidFill>
                  <a:srgbClr val="E2E8F0"/>
                </a:solidFill>
                <a:latin typeface="Calibri" pitchFamily="34" charset="0"/>
                <a:ea typeface="Calibri" pitchFamily="34" charset="-122"/>
                <a:cs typeface="Calibri" pitchFamily="34" charset="-120"/>
              </a:rPr>
              <a:t>every screen shows whether data is Simulated, Emulated ESP32 or Hardware, and savings are always marked as estimates.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Text 1"/>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4" name="Text 2"/>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10</a:t>
            </a:r>
            <a:endParaRPr lang="en-US" sz="700" dirty="0"/>
          </a:p>
        </p:txBody>
      </p:sp>
      <p:sp>
        <p:nvSpPr>
          <p:cNvPr id="5"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Software Prototype — Automation &amp; History</a:t>
            </a:r>
            <a:endParaRPr lang="en-US" sz="3000" dirty="0"/>
          </a:p>
        </p:txBody>
      </p:sp>
      <p:sp>
        <p:nvSpPr>
          <p:cNvPr id="6"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From detection to shutdown to savings — all tracked</a:t>
            </a:r>
            <a:endParaRPr lang="en-US" sz="1200" dirty="0"/>
          </a:p>
        </p:txBody>
      </p:sp>
      <p:sp>
        <p:nvSpPr>
          <p:cNvPr id="7" name="Criteria pill"/>
          <p:cNvSpPr/>
          <p:nvPr/>
        </p:nvSpPr>
        <p:spPr>
          <a:xfrm>
            <a:off x="8869680" y="512064"/>
            <a:ext cx="2377440" cy="365760"/>
          </a:xfrm>
          <a:prstGeom prst="roundRect">
            <a:avLst>
              <a:gd name="adj" fmla="val 50000"/>
            </a:avLst>
          </a:prstGeom>
          <a:solidFill>
            <a:srgbClr val="1C3955"/>
          </a:solidFill>
          <a:ln w="15875">
            <a:solidFill>
              <a:srgbClr val="22D3EE"/>
            </a:solidFill>
            <a:prstDash val="solid"/>
          </a:ln>
        </p:spPr>
      </p:sp>
      <p:sp>
        <p:nvSpPr>
          <p:cNvPr id="8" name="Text 6"/>
          <p:cNvSpPr txBox="1"/>
          <p:nvPr/>
        </p:nvSpPr>
        <p:spPr>
          <a:xfrm>
            <a:off x="8869680" y="512064"/>
            <a:ext cx="2377440" cy="365760"/>
          </a:xfrm>
          <a:prstGeom prst="rect">
            <a:avLst/>
          </a:prstGeom>
          <a:noFill/>
          <a:ln/>
        </p:spPr>
        <p:txBody>
          <a:bodyPr wrap="square" lIns="0" tIns="0" rIns="0" bIns="0" rtlCol="0" anchor="ctr"/>
          <a:lstStyle/>
          <a:p>
            <a:pPr algn="ctr" indent="0" marL="0">
              <a:buNone/>
            </a:pPr>
            <a:r>
              <a:rPr lang="en-US" sz="900" b="1" spc="100" kern="0" dirty="0">
                <a:solidFill>
                  <a:srgbClr val="22D3EE"/>
                </a:solidFill>
              </a:rPr>
              <a:t>WORKING SOFTWARE</a:t>
            </a:r>
            <a:endParaRPr lang="en-US" sz="900" dirty="0"/>
          </a:p>
        </p:txBody>
      </p:sp>
      <p:sp>
        <p:nvSpPr>
          <p:cNvPr id="9" name="Shape 7"/>
          <p:cNvSpPr/>
          <p:nvPr/>
        </p:nvSpPr>
        <p:spPr>
          <a:xfrm>
            <a:off x="603504" y="1563624"/>
            <a:ext cx="5559552" cy="1581912"/>
          </a:xfrm>
          <a:prstGeom prst="rect">
            <a:avLst/>
          </a:prstGeom>
          <a:solidFill>
            <a:srgbClr val="2C3260"/>
          </a:solidFill>
          <a:ln w="12700">
            <a:solidFill>
              <a:srgbClr val="22D3EE"/>
            </a:solidFill>
            <a:prstDash val="solid"/>
          </a:ln>
        </p:spPr>
      </p:sp>
      <p:pic>
        <p:nvPicPr>
          <p:cNvPr id="10" name="Image 0" descr="Command log: dry-run decisions, then automatic OFF commands acknowledged by the controller">    </p:cNvPr>
          <p:cNvPicPr>
            <a:picLocks noChangeAspect="1"/>
          </p:cNvPicPr>
          <p:nvPr/>
        </p:nvPicPr>
        <p:blipFill>
          <a:blip r:embed="rId1"/>
          <a:stretch>
            <a:fillRect/>
          </a:stretch>
        </p:blipFill>
        <p:spPr>
          <a:xfrm>
            <a:off x="640080" y="1600200"/>
            <a:ext cx="5486400" cy="1508760"/>
          </a:xfrm>
          <a:prstGeom prst="rect">
            <a:avLst/>
          </a:prstGeom>
        </p:spPr>
      </p:pic>
      <p:sp>
        <p:nvSpPr>
          <p:cNvPr id="11" name="Text 8"/>
          <p:cNvSpPr txBox="1"/>
          <p:nvPr/>
        </p:nvSpPr>
        <p:spPr>
          <a:xfrm>
            <a:off x="640080" y="3200400"/>
            <a:ext cx="5486400" cy="274320"/>
          </a:xfrm>
          <a:prstGeom prst="rect">
            <a:avLst/>
          </a:prstGeom>
          <a:noFill/>
          <a:ln/>
        </p:spPr>
        <p:txBody>
          <a:bodyPr wrap="square" lIns="0" tIns="0" rIns="0" bIns="0" rtlCol="0" anchor="ctr"/>
          <a:lstStyle/>
          <a:p>
            <a:pPr indent="0" marL="0">
              <a:buNone/>
            </a:pPr>
            <a:r>
              <a:rPr lang="en-US" sz="1100" i="1" dirty="0">
                <a:solidFill>
                  <a:srgbClr val="CBD5E1"/>
                </a:solidFill>
              </a:rPr>
              <a:t>Command log: dry-run decisions, then automatic OFF commands acknowledged by the controller</a:t>
            </a:r>
            <a:endParaRPr lang="en-US" sz="1100" dirty="0"/>
          </a:p>
        </p:txBody>
      </p:sp>
      <p:sp>
        <p:nvSpPr>
          <p:cNvPr id="12" name="Shape 9"/>
          <p:cNvSpPr/>
          <p:nvPr/>
        </p:nvSpPr>
        <p:spPr>
          <a:xfrm>
            <a:off x="603504" y="3621024"/>
            <a:ext cx="5559552" cy="1993392"/>
          </a:xfrm>
          <a:prstGeom prst="rect">
            <a:avLst/>
          </a:prstGeom>
          <a:solidFill>
            <a:srgbClr val="2C3260"/>
          </a:solidFill>
          <a:ln w="12700">
            <a:solidFill>
              <a:srgbClr val="22D3EE"/>
            </a:solidFill>
            <a:prstDash val="solid"/>
          </a:ln>
        </p:spPr>
      </p:sp>
      <p:pic>
        <p:nvPicPr>
          <p:cNvPr id="13" name="Image 1" descr="Energy history: used (blue) vs wasted in vacant rooms (orange), 7 days">    </p:cNvPr>
          <p:cNvPicPr>
            <a:picLocks noChangeAspect="1"/>
          </p:cNvPicPr>
          <p:nvPr/>
        </p:nvPicPr>
        <p:blipFill>
          <a:blip r:embed="rId2"/>
          <a:stretch>
            <a:fillRect/>
          </a:stretch>
        </p:blipFill>
        <p:spPr>
          <a:xfrm>
            <a:off x="640080" y="3657600"/>
            <a:ext cx="5486400" cy="1920240"/>
          </a:xfrm>
          <a:prstGeom prst="rect">
            <a:avLst/>
          </a:prstGeom>
        </p:spPr>
      </p:pic>
      <p:sp>
        <p:nvSpPr>
          <p:cNvPr id="14" name="Text 10"/>
          <p:cNvSpPr txBox="1"/>
          <p:nvPr/>
        </p:nvSpPr>
        <p:spPr>
          <a:xfrm>
            <a:off x="640080" y="5669280"/>
            <a:ext cx="5486400" cy="274320"/>
          </a:xfrm>
          <a:prstGeom prst="rect">
            <a:avLst/>
          </a:prstGeom>
          <a:noFill/>
          <a:ln/>
        </p:spPr>
        <p:txBody>
          <a:bodyPr wrap="square" lIns="0" tIns="0" rIns="0" bIns="0" rtlCol="0" anchor="ctr"/>
          <a:lstStyle/>
          <a:p>
            <a:pPr indent="0" marL="0">
              <a:buNone/>
            </a:pPr>
            <a:r>
              <a:rPr lang="en-US" sz="1100" i="1" dirty="0">
                <a:solidFill>
                  <a:srgbClr val="CBD5E1"/>
                </a:solidFill>
              </a:rPr>
              <a:t>Energy history: used (blue) vs wasted in vacant rooms (orange), 7 days</a:t>
            </a:r>
            <a:endParaRPr lang="en-US" sz="1100" dirty="0"/>
          </a:p>
        </p:txBody>
      </p:sp>
      <p:sp>
        <p:nvSpPr>
          <p:cNvPr id="15" name="Shape 11"/>
          <p:cNvSpPr/>
          <p:nvPr/>
        </p:nvSpPr>
        <p:spPr>
          <a:xfrm>
            <a:off x="6409944" y="1563624"/>
            <a:ext cx="2404872" cy="3118104"/>
          </a:xfrm>
          <a:prstGeom prst="rect">
            <a:avLst/>
          </a:prstGeom>
          <a:solidFill>
            <a:srgbClr val="2C3260"/>
          </a:solidFill>
          <a:ln w="12700">
            <a:solidFill>
              <a:srgbClr val="22D3EE"/>
            </a:solidFill>
            <a:prstDash val="solid"/>
          </a:ln>
        </p:spPr>
      </p:sp>
      <p:pic>
        <p:nvPicPr>
          <p:cNvPr id="16" name="Image 2" descr="ML page: metrics, confusion matrix, recall by type">    </p:cNvPr>
          <p:cNvPicPr>
            <a:picLocks noChangeAspect="1"/>
          </p:cNvPicPr>
          <p:nvPr/>
        </p:nvPicPr>
        <p:blipFill>
          <a:blip r:embed="rId3"/>
          <a:stretch>
            <a:fillRect/>
          </a:stretch>
        </p:blipFill>
        <p:spPr>
          <a:xfrm>
            <a:off x="6446520" y="1600200"/>
            <a:ext cx="2331720" cy="3044952"/>
          </a:xfrm>
          <a:prstGeom prst="rect">
            <a:avLst/>
          </a:prstGeom>
        </p:spPr>
      </p:pic>
      <p:sp>
        <p:nvSpPr>
          <p:cNvPr id="17" name="Text 12"/>
          <p:cNvSpPr txBox="1"/>
          <p:nvPr/>
        </p:nvSpPr>
        <p:spPr>
          <a:xfrm>
            <a:off x="6446520" y="4736592"/>
            <a:ext cx="2331720" cy="274320"/>
          </a:xfrm>
          <a:prstGeom prst="rect">
            <a:avLst/>
          </a:prstGeom>
          <a:noFill/>
          <a:ln/>
        </p:spPr>
        <p:txBody>
          <a:bodyPr wrap="square" lIns="0" tIns="0" rIns="0" bIns="0" rtlCol="0" anchor="ctr"/>
          <a:lstStyle/>
          <a:p>
            <a:pPr indent="0" marL="0">
              <a:buNone/>
            </a:pPr>
            <a:r>
              <a:rPr lang="en-US" sz="1100" i="1" dirty="0">
                <a:solidFill>
                  <a:srgbClr val="CBD5E1"/>
                </a:solidFill>
              </a:rPr>
              <a:t>ML page: metrics, confusion matrix, recall by type</a:t>
            </a:r>
            <a:endParaRPr lang="en-US" sz="1100" dirty="0"/>
          </a:p>
        </p:txBody>
      </p:sp>
      <p:sp>
        <p:nvSpPr>
          <p:cNvPr id="18" name="Card"/>
          <p:cNvSpPr/>
          <p:nvPr/>
        </p:nvSpPr>
        <p:spPr>
          <a:xfrm>
            <a:off x="9006840" y="1563624"/>
            <a:ext cx="2560320" cy="4745736"/>
          </a:xfrm>
          <a:prstGeom prst="roundRect">
            <a:avLst>
              <a:gd name="adj" fmla="val 2857"/>
            </a:avLst>
          </a:prstGeom>
          <a:solidFill>
            <a:srgbClr val="2C3260"/>
          </a:solidFill>
          <a:ln/>
        </p:spPr>
      </p:sp>
      <p:sp>
        <p:nvSpPr>
          <p:cNvPr id="19" name="Text 14"/>
          <p:cNvSpPr txBox="1"/>
          <p:nvPr/>
        </p:nvSpPr>
        <p:spPr>
          <a:xfrm>
            <a:off x="9189720" y="1719072"/>
            <a:ext cx="2286000" cy="256032"/>
          </a:xfrm>
          <a:prstGeom prst="rect">
            <a:avLst/>
          </a:prstGeom>
          <a:noFill/>
          <a:ln/>
        </p:spPr>
        <p:txBody>
          <a:bodyPr wrap="square" lIns="0" tIns="0" rIns="0" bIns="0" rtlCol="0" anchor="ctr"/>
          <a:lstStyle/>
          <a:p>
            <a:pPr indent="0" marL="0">
              <a:buNone/>
            </a:pPr>
            <a:r>
              <a:rPr lang="en-US" sz="1000" b="1" spc="200" kern="0" dirty="0">
                <a:solidFill>
                  <a:srgbClr val="22D3EE"/>
                </a:solidFill>
              </a:rPr>
              <a:t>DEMO IN 4 STEPS</a:t>
            </a:r>
            <a:endParaRPr lang="en-US" sz="1000" dirty="0"/>
          </a:p>
        </p:txBody>
      </p:sp>
      <p:sp>
        <p:nvSpPr>
          <p:cNvPr id="20" name="Shape 15"/>
          <p:cNvSpPr/>
          <p:nvPr/>
        </p:nvSpPr>
        <p:spPr>
          <a:xfrm>
            <a:off x="9189720" y="2103120"/>
            <a:ext cx="365760" cy="365760"/>
          </a:xfrm>
          <a:prstGeom prst="ellipse">
            <a:avLst/>
          </a:prstGeom>
          <a:solidFill>
            <a:srgbClr val="3774DD"/>
          </a:solidFill>
          <a:ln/>
        </p:spPr>
      </p:sp>
      <p:sp>
        <p:nvSpPr>
          <p:cNvPr id="21" name="Text 16"/>
          <p:cNvSpPr txBox="1"/>
          <p:nvPr/>
        </p:nvSpPr>
        <p:spPr>
          <a:xfrm>
            <a:off x="9189720" y="2103120"/>
            <a:ext cx="3657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22" name="Text 17"/>
          <p:cNvSpPr txBox="1"/>
          <p:nvPr/>
        </p:nvSpPr>
        <p:spPr>
          <a:xfrm>
            <a:off x="9646920" y="2057400"/>
            <a:ext cx="1828800" cy="91440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Room left ON while empty → waste alert appears</a:t>
            </a:r>
            <a:endParaRPr lang="en-US" sz="1100" dirty="0"/>
          </a:p>
        </p:txBody>
      </p:sp>
      <p:sp>
        <p:nvSpPr>
          <p:cNvPr id="23" name="Shape 18"/>
          <p:cNvSpPr/>
          <p:nvPr/>
        </p:nvSpPr>
        <p:spPr>
          <a:xfrm>
            <a:off x="9189720" y="3127248"/>
            <a:ext cx="365760" cy="365760"/>
          </a:xfrm>
          <a:prstGeom prst="ellipse">
            <a:avLst/>
          </a:prstGeom>
          <a:solidFill>
            <a:srgbClr val="3774DD"/>
          </a:solidFill>
          <a:ln/>
        </p:spPr>
      </p:sp>
      <p:sp>
        <p:nvSpPr>
          <p:cNvPr id="24" name="Text 19"/>
          <p:cNvSpPr txBox="1"/>
          <p:nvPr/>
        </p:nvSpPr>
        <p:spPr>
          <a:xfrm>
            <a:off x="9189720" y="3127248"/>
            <a:ext cx="3657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25" name="Text 20"/>
          <p:cNvSpPr txBox="1"/>
          <p:nvPr/>
        </p:nvSpPr>
        <p:spPr>
          <a:xfrm>
            <a:off x="9646920" y="3081528"/>
            <a:ext cx="1828800" cy="91440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Dry-run shows what would be switched off</a:t>
            </a:r>
            <a:endParaRPr lang="en-US" sz="1100" dirty="0"/>
          </a:p>
        </p:txBody>
      </p:sp>
      <p:sp>
        <p:nvSpPr>
          <p:cNvPr id="26" name="Shape 21"/>
          <p:cNvSpPr/>
          <p:nvPr/>
        </p:nvSpPr>
        <p:spPr>
          <a:xfrm>
            <a:off x="9189720" y="4151376"/>
            <a:ext cx="365760" cy="365760"/>
          </a:xfrm>
          <a:prstGeom prst="ellipse">
            <a:avLst/>
          </a:prstGeom>
          <a:solidFill>
            <a:srgbClr val="3774DD"/>
          </a:solidFill>
          <a:ln/>
        </p:spPr>
      </p:sp>
      <p:sp>
        <p:nvSpPr>
          <p:cNvPr id="27" name="Text 22"/>
          <p:cNvSpPr txBox="1"/>
          <p:nvPr/>
        </p:nvSpPr>
        <p:spPr>
          <a:xfrm>
            <a:off x="9189720" y="4151376"/>
            <a:ext cx="3657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8" name="Text 23"/>
          <p:cNvSpPr txBox="1"/>
          <p:nvPr/>
        </p:nvSpPr>
        <p:spPr>
          <a:xfrm>
            <a:off x="9646920" y="4105656"/>
            <a:ext cx="1828800" cy="91440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Switch to Auto → OFF commands sent &amp; acknowledged</a:t>
            </a:r>
            <a:endParaRPr lang="en-US" sz="1100" dirty="0"/>
          </a:p>
        </p:txBody>
      </p:sp>
      <p:sp>
        <p:nvSpPr>
          <p:cNvPr id="29" name="Shape 24"/>
          <p:cNvSpPr/>
          <p:nvPr/>
        </p:nvSpPr>
        <p:spPr>
          <a:xfrm>
            <a:off x="9189720" y="5175504"/>
            <a:ext cx="365760" cy="365760"/>
          </a:xfrm>
          <a:prstGeom prst="ellipse">
            <a:avLst/>
          </a:prstGeom>
          <a:solidFill>
            <a:srgbClr val="3774DD"/>
          </a:solidFill>
          <a:ln/>
        </p:spPr>
      </p:sp>
      <p:sp>
        <p:nvSpPr>
          <p:cNvPr id="30" name="Text 25"/>
          <p:cNvSpPr txBox="1"/>
          <p:nvPr/>
        </p:nvSpPr>
        <p:spPr>
          <a:xfrm>
            <a:off x="9189720" y="5175504"/>
            <a:ext cx="365760" cy="3657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31" name="Text 26"/>
          <p:cNvSpPr txBox="1"/>
          <p:nvPr/>
        </p:nvSpPr>
        <p:spPr>
          <a:xfrm>
            <a:off x="9646920" y="5129784"/>
            <a:ext cx="1828800" cy="914400"/>
          </a:xfrm>
          <a:prstGeom prst="rect">
            <a:avLst/>
          </a:prstGeom>
          <a:noFill/>
          <a:ln/>
        </p:spPr>
        <p:txBody>
          <a:bodyPr wrap="square" rtlCol="0" anchor="t"/>
          <a:lstStyle/>
          <a:p>
            <a:pPr indent="0" marL="0">
              <a:buNone/>
            </a:pPr>
            <a:r>
              <a:rPr lang="en-US" sz="1100" dirty="0">
                <a:solidFill>
                  <a:srgbClr val="E2E8F0"/>
                </a:solidFill>
                <a:latin typeface="Calibri" pitchFamily="34" charset="0"/>
                <a:ea typeface="Calibri" pitchFamily="34" charset="-122"/>
                <a:cs typeface="Calibri" pitchFamily="34" charset="-120"/>
              </a:rPr>
              <a:t>Savings counter starts; history shows waste dropping</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11</a:t>
            </a:r>
            <a:endParaRPr lang="en-US" sz="700" dirty="0"/>
          </a:p>
        </p:txBody>
      </p:sp>
      <p:sp>
        <p:nvSpPr>
          <p:cNvPr id="6"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Project Status — Where We Stand</a:t>
            </a:r>
            <a:endParaRPr lang="en-US" sz="3000" dirty="0"/>
          </a:p>
        </p:txBody>
      </p:sp>
      <p:sp>
        <p:nvSpPr>
          <p:cNvPr id="7"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Software complete for this review · hardware build planned for the final review</a:t>
            </a:r>
            <a:endParaRPr lang="en-US" sz="1200" dirty="0"/>
          </a:p>
        </p:txBody>
      </p:sp>
      <p:sp>
        <p:nvSpPr>
          <p:cNvPr id="8" name="Criteria pill"/>
          <p:cNvSpPr/>
          <p:nvPr/>
        </p:nvSpPr>
        <p:spPr>
          <a:xfrm>
            <a:off x="8869680" y="512064"/>
            <a:ext cx="2377440" cy="365760"/>
          </a:xfrm>
          <a:prstGeom prst="roundRect">
            <a:avLst>
              <a:gd name="adj" fmla="val 50000"/>
            </a:avLst>
          </a:prstGeom>
          <a:solidFill>
            <a:srgbClr val="1C3955"/>
          </a:solidFill>
          <a:ln w="15875">
            <a:solidFill>
              <a:srgbClr val="22D3EE"/>
            </a:solidFill>
            <a:prstDash val="solid"/>
          </a:ln>
        </p:spPr>
      </p:sp>
      <p:sp>
        <p:nvSpPr>
          <p:cNvPr id="9" name="Text 7"/>
          <p:cNvSpPr txBox="1"/>
          <p:nvPr/>
        </p:nvSpPr>
        <p:spPr>
          <a:xfrm>
            <a:off x="8869680" y="512064"/>
            <a:ext cx="2377440" cy="365760"/>
          </a:xfrm>
          <a:prstGeom prst="rect">
            <a:avLst/>
          </a:prstGeom>
          <a:noFill/>
          <a:ln/>
        </p:spPr>
        <p:txBody>
          <a:bodyPr wrap="square" lIns="0" tIns="0" rIns="0" bIns="0" rtlCol="0" anchor="ctr"/>
          <a:lstStyle/>
          <a:p>
            <a:pPr algn="ctr" indent="0" marL="0">
              <a:buNone/>
            </a:pPr>
            <a:r>
              <a:rPr lang="en-US" sz="900" b="1" spc="100" kern="0" dirty="0">
                <a:solidFill>
                  <a:srgbClr val="22D3EE"/>
                </a:solidFill>
              </a:rPr>
              <a:t>PROGRESS</a:t>
            </a:r>
            <a:endParaRPr lang="en-US" sz="900" dirty="0"/>
          </a:p>
        </p:txBody>
      </p:sp>
      <p:sp>
        <p:nvSpPr>
          <p:cNvPr id="10" name="Card"/>
          <p:cNvSpPr/>
          <p:nvPr/>
        </p:nvSpPr>
        <p:spPr>
          <a:xfrm>
            <a:off x="640080" y="1691640"/>
            <a:ext cx="5440680" cy="4617720"/>
          </a:xfrm>
          <a:prstGeom prst="roundRect">
            <a:avLst>
              <a:gd name="adj" fmla="val 1584"/>
            </a:avLst>
          </a:prstGeom>
          <a:solidFill>
            <a:srgbClr val="242A52"/>
          </a:solidFill>
          <a:ln w="15875">
            <a:solidFill>
              <a:srgbClr val="34D399"/>
            </a:solidFill>
            <a:prstDash val="solid"/>
          </a:ln>
        </p:spPr>
      </p:sp>
      <p:pic>
        <p:nvPicPr>
          <p:cNvPr id="11" name="Image 0" descr="preencoded.png">    </p:cNvPr>
          <p:cNvPicPr>
            <a:picLocks noChangeAspect="1"/>
          </p:cNvPicPr>
          <p:nvPr/>
        </p:nvPicPr>
        <p:blipFill>
          <a:blip r:embed="rId1"/>
          <a:stretch>
            <a:fillRect/>
          </a:stretch>
        </p:blipFill>
        <p:spPr>
          <a:xfrm>
            <a:off x="868680" y="1874520"/>
            <a:ext cx="365760" cy="365760"/>
          </a:xfrm>
          <a:prstGeom prst="rect">
            <a:avLst/>
          </a:prstGeom>
        </p:spPr>
      </p:pic>
      <p:sp>
        <p:nvSpPr>
          <p:cNvPr id="12" name="Text 9"/>
          <p:cNvSpPr txBox="1"/>
          <p:nvPr/>
        </p:nvSpPr>
        <p:spPr>
          <a:xfrm>
            <a:off x="1325880" y="1874520"/>
            <a:ext cx="457200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SOFTWARE</a:t>
            </a:r>
            <a:pPr indent="0" marL="0">
              <a:buNone/>
            </a:pPr>
            <a:r>
              <a:rPr lang="en-US" sz="1200" b="1" dirty="0">
                <a:solidFill>
                  <a:srgbClr val="34D399"/>
                </a:solidFill>
                <a:latin typeface="Calibri" pitchFamily="34" charset="0"/>
                <a:ea typeface="Calibri" pitchFamily="34" charset="-122"/>
                <a:cs typeface="Calibri" pitchFamily="34" charset="-120"/>
              </a:rPr>
              <a:t>   COMPLETED</a:t>
            </a:r>
            <a:endParaRPr lang="en-US" sz="1500" dirty="0"/>
          </a:p>
        </p:txBody>
      </p:sp>
      <p:sp>
        <p:nvSpPr>
          <p:cNvPr id="13" name="Text 10"/>
          <p:cNvSpPr txBox="1"/>
          <p:nvPr/>
        </p:nvSpPr>
        <p:spPr>
          <a:xfrm>
            <a:off x="868680" y="2395728"/>
            <a:ext cx="5029200" cy="2377440"/>
          </a:xfrm>
          <a:prstGeom prst="rect">
            <a:avLst/>
          </a:prstGeom>
          <a:noFill/>
          <a:ln/>
        </p:spPr>
        <p:txBody>
          <a:bodyPr wrap="square" rtlCol="0" anchor="t"/>
          <a:lstStyle/>
          <a:p>
            <a:pPr marL="152400" indent="-1524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Backend: data pipeline, energy &amp; cost maths, alerts, commands</a:t>
            </a:r>
            <a:endParaRPr lang="en-US" sz="1200" dirty="0"/>
          </a:p>
          <a:p>
            <a:pPr marL="152400" indent="-1524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Safety-first decision engine with explanations</a:t>
            </a:r>
            <a:endParaRPr lang="en-US" sz="1200" dirty="0"/>
          </a:p>
          <a:p>
            <a:pPr marL="152400" indent="-1524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ML anomaly model trained, evaluated, versioned</a:t>
            </a:r>
            <a:endParaRPr lang="en-US" sz="1200" dirty="0"/>
          </a:p>
          <a:p>
            <a:pPr marL="152400" indent="-1524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React dashboard — 12 pages, live updates, dark mode</a:t>
            </a:r>
            <a:endParaRPr lang="en-US" sz="1200" dirty="0"/>
          </a:p>
          <a:p>
            <a:pPr marL="152400" indent="-1524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Simulator (7 scenarios) + ESP32 emulator</a:t>
            </a:r>
            <a:endParaRPr lang="en-US" sz="1200" dirty="0"/>
          </a:p>
          <a:p>
            <a:pPr marL="152400" indent="-152400">
              <a:spcAft>
                <a:spcPts val="500"/>
              </a:spcAft>
              <a:buSzPct val="100000"/>
              <a:buChar char="•"/>
            </a:pPr>
            <a:r>
              <a:rPr lang="en-US" sz="1200" dirty="0">
                <a:solidFill>
                  <a:srgbClr val="E2E8F0"/>
                </a:solidFill>
                <a:latin typeface="Calibri" pitchFamily="34" charset="0"/>
                <a:ea typeface="Calibri" pitchFamily="34" charset="-122"/>
                <a:cs typeface="Calibri" pitchFamily="34" charset="-120"/>
              </a:rPr>
              <a:t>Docker, cloud deployment setup, CI pipeline</a:t>
            </a:r>
            <a:endParaRPr lang="en-US" sz="1200" dirty="0"/>
          </a:p>
        </p:txBody>
      </p:sp>
      <p:sp>
        <p:nvSpPr>
          <p:cNvPr id="14" name="Card"/>
          <p:cNvSpPr/>
          <p:nvPr/>
        </p:nvSpPr>
        <p:spPr>
          <a:xfrm>
            <a:off x="868680" y="4892040"/>
            <a:ext cx="1554480" cy="1234440"/>
          </a:xfrm>
          <a:prstGeom prst="roundRect">
            <a:avLst>
              <a:gd name="adj" fmla="val 5926"/>
            </a:avLst>
          </a:prstGeom>
          <a:solidFill>
            <a:srgbClr val="2C3260"/>
          </a:solidFill>
          <a:ln/>
        </p:spPr>
      </p:sp>
      <p:sp>
        <p:nvSpPr>
          <p:cNvPr id="15" name="Text 12"/>
          <p:cNvSpPr txBox="1"/>
          <p:nvPr/>
        </p:nvSpPr>
        <p:spPr>
          <a:xfrm>
            <a:off x="868680" y="4956048"/>
            <a:ext cx="1554480" cy="640080"/>
          </a:xfrm>
          <a:prstGeom prst="rect">
            <a:avLst/>
          </a:prstGeom>
          <a:noFill/>
          <a:ln/>
        </p:spPr>
        <p:txBody>
          <a:bodyPr wrap="square" lIns="0" tIns="0" rIns="0" bIns="0" rtlCol="0" anchor="ctr"/>
          <a:lstStyle/>
          <a:p>
            <a:pPr algn="ctr" indent="0" marL="0">
              <a:buNone/>
            </a:pPr>
            <a:r>
              <a:rPr lang="en-US" sz="2600" b="1" dirty="0">
                <a:solidFill>
                  <a:srgbClr val="34D399"/>
                </a:solidFill>
                <a:latin typeface="Cambria" pitchFamily="34" charset="0"/>
                <a:ea typeface="Cambria" pitchFamily="34" charset="-122"/>
                <a:cs typeface="Cambria" pitchFamily="34" charset="-120"/>
              </a:rPr>
              <a:t>57</a:t>
            </a:r>
            <a:endParaRPr lang="en-US" sz="2600" dirty="0"/>
          </a:p>
        </p:txBody>
      </p:sp>
      <p:sp>
        <p:nvSpPr>
          <p:cNvPr id="16" name="Text 13"/>
          <p:cNvSpPr txBox="1"/>
          <p:nvPr/>
        </p:nvSpPr>
        <p:spPr>
          <a:xfrm>
            <a:off x="868680" y="5596128"/>
            <a:ext cx="1554480" cy="365760"/>
          </a:xfrm>
          <a:prstGeom prst="rect">
            <a:avLst/>
          </a:prstGeom>
          <a:noFill/>
          <a:ln/>
        </p:spPr>
        <p:txBody>
          <a:bodyPr wrap="square" lIns="0" tIns="0" rIns="0" bIns="0" rtlCol="0" anchor="ctr"/>
          <a:lstStyle/>
          <a:p>
            <a:pPr algn="ctr" indent="0" marL="0">
              <a:buNone/>
            </a:pPr>
            <a:r>
              <a:rPr lang="en-US" sz="1100" dirty="0">
                <a:solidFill>
                  <a:srgbClr val="CBD5E1"/>
                </a:solidFill>
              </a:rPr>
              <a:t>REST APIs</a:t>
            </a:r>
            <a:endParaRPr lang="en-US" sz="1100" dirty="0"/>
          </a:p>
        </p:txBody>
      </p:sp>
      <p:sp>
        <p:nvSpPr>
          <p:cNvPr id="17" name="Card"/>
          <p:cNvSpPr/>
          <p:nvPr/>
        </p:nvSpPr>
        <p:spPr>
          <a:xfrm>
            <a:off x="2560320" y="4892040"/>
            <a:ext cx="1554480" cy="1234440"/>
          </a:xfrm>
          <a:prstGeom prst="roundRect">
            <a:avLst>
              <a:gd name="adj" fmla="val 5926"/>
            </a:avLst>
          </a:prstGeom>
          <a:solidFill>
            <a:srgbClr val="2C3260"/>
          </a:solidFill>
          <a:ln/>
        </p:spPr>
      </p:sp>
      <p:sp>
        <p:nvSpPr>
          <p:cNvPr id="18" name="Text 15"/>
          <p:cNvSpPr txBox="1"/>
          <p:nvPr/>
        </p:nvSpPr>
        <p:spPr>
          <a:xfrm>
            <a:off x="2560320" y="4956048"/>
            <a:ext cx="1554480" cy="640080"/>
          </a:xfrm>
          <a:prstGeom prst="rect">
            <a:avLst/>
          </a:prstGeom>
          <a:noFill/>
          <a:ln/>
        </p:spPr>
        <p:txBody>
          <a:bodyPr wrap="square" lIns="0" tIns="0" rIns="0" bIns="0" rtlCol="0" anchor="ctr"/>
          <a:lstStyle/>
          <a:p>
            <a:pPr algn="ctr" indent="0" marL="0">
              <a:buNone/>
            </a:pPr>
            <a:r>
              <a:rPr lang="en-US" sz="2600" b="1" dirty="0">
                <a:solidFill>
                  <a:srgbClr val="34D399"/>
                </a:solidFill>
                <a:latin typeface="Cambria" pitchFamily="34" charset="0"/>
                <a:ea typeface="Cambria" pitchFamily="34" charset="-122"/>
                <a:cs typeface="Cambria" pitchFamily="34" charset="-120"/>
              </a:rPr>
              <a:t>12</a:t>
            </a:r>
            <a:endParaRPr lang="en-US" sz="2600" dirty="0"/>
          </a:p>
        </p:txBody>
      </p:sp>
      <p:sp>
        <p:nvSpPr>
          <p:cNvPr id="19" name="Text 16"/>
          <p:cNvSpPr txBox="1"/>
          <p:nvPr/>
        </p:nvSpPr>
        <p:spPr>
          <a:xfrm>
            <a:off x="2560320" y="5596128"/>
            <a:ext cx="1554480" cy="365760"/>
          </a:xfrm>
          <a:prstGeom prst="rect">
            <a:avLst/>
          </a:prstGeom>
          <a:noFill/>
          <a:ln/>
        </p:spPr>
        <p:txBody>
          <a:bodyPr wrap="square" lIns="0" tIns="0" rIns="0" bIns="0" rtlCol="0" anchor="ctr"/>
          <a:lstStyle/>
          <a:p>
            <a:pPr algn="ctr" indent="0" marL="0">
              <a:buNone/>
            </a:pPr>
            <a:r>
              <a:rPr lang="en-US" sz="1100" dirty="0">
                <a:solidFill>
                  <a:srgbClr val="CBD5E1"/>
                </a:solidFill>
              </a:rPr>
              <a:t>UI pages</a:t>
            </a:r>
            <a:endParaRPr lang="en-US" sz="1100" dirty="0"/>
          </a:p>
        </p:txBody>
      </p:sp>
      <p:sp>
        <p:nvSpPr>
          <p:cNvPr id="20" name="Card"/>
          <p:cNvSpPr/>
          <p:nvPr/>
        </p:nvSpPr>
        <p:spPr>
          <a:xfrm>
            <a:off x="4251960" y="4892040"/>
            <a:ext cx="1554480" cy="1234440"/>
          </a:xfrm>
          <a:prstGeom prst="roundRect">
            <a:avLst>
              <a:gd name="adj" fmla="val 5926"/>
            </a:avLst>
          </a:prstGeom>
          <a:solidFill>
            <a:srgbClr val="2C3260"/>
          </a:solidFill>
          <a:ln/>
        </p:spPr>
      </p:sp>
      <p:sp>
        <p:nvSpPr>
          <p:cNvPr id="21" name="Text 18"/>
          <p:cNvSpPr txBox="1"/>
          <p:nvPr/>
        </p:nvSpPr>
        <p:spPr>
          <a:xfrm>
            <a:off x="4251960" y="4956048"/>
            <a:ext cx="1554480" cy="640080"/>
          </a:xfrm>
          <a:prstGeom prst="rect">
            <a:avLst/>
          </a:prstGeom>
          <a:noFill/>
          <a:ln/>
        </p:spPr>
        <p:txBody>
          <a:bodyPr wrap="square" lIns="0" tIns="0" rIns="0" bIns="0" rtlCol="0" anchor="ctr"/>
          <a:lstStyle/>
          <a:p>
            <a:pPr algn="ctr" indent="0" marL="0">
              <a:buNone/>
            </a:pPr>
            <a:r>
              <a:rPr lang="en-US" sz="2600" b="1" dirty="0">
                <a:solidFill>
                  <a:srgbClr val="34D399"/>
                </a:solidFill>
                <a:latin typeface="Cambria" pitchFamily="34" charset="0"/>
                <a:ea typeface="Cambria" pitchFamily="34" charset="-122"/>
                <a:cs typeface="Cambria" pitchFamily="34" charset="-120"/>
              </a:rPr>
              <a:t>127</a:t>
            </a:r>
            <a:endParaRPr lang="en-US" sz="2600" dirty="0"/>
          </a:p>
        </p:txBody>
      </p:sp>
      <p:sp>
        <p:nvSpPr>
          <p:cNvPr id="22" name="Text 19"/>
          <p:cNvSpPr txBox="1"/>
          <p:nvPr/>
        </p:nvSpPr>
        <p:spPr>
          <a:xfrm>
            <a:off x="4251960" y="5596128"/>
            <a:ext cx="1554480" cy="365760"/>
          </a:xfrm>
          <a:prstGeom prst="rect">
            <a:avLst/>
          </a:prstGeom>
          <a:noFill/>
          <a:ln/>
        </p:spPr>
        <p:txBody>
          <a:bodyPr wrap="square" lIns="0" tIns="0" rIns="0" bIns="0" rtlCol="0" anchor="ctr"/>
          <a:lstStyle/>
          <a:p>
            <a:pPr algn="ctr" indent="0" marL="0">
              <a:buNone/>
            </a:pPr>
            <a:r>
              <a:rPr lang="en-US" sz="1100" dirty="0">
                <a:solidFill>
                  <a:srgbClr val="CBD5E1"/>
                </a:solidFill>
              </a:rPr>
              <a:t>tests passing</a:t>
            </a:r>
            <a:endParaRPr lang="en-US" sz="1100" dirty="0"/>
          </a:p>
        </p:txBody>
      </p:sp>
      <p:sp>
        <p:nvSpPr>
          <p:cNvPr id="23" name="Card"/>
          <p:cNvSpPr/>
          <p:nvPr/>
        </p:nvSpPr>
        <p:spPr>
          <a:xfrm>
            <a:off x="6263640" y="1691640"/>
            <a:ext cx="5303520" cy="4617720"/>
          </a:xfrm>
          <a:prstGeom prst="roundRect">
            <a:avLst>
              <a:gd name="adj" fmla="val 1584"/>
            </a:avLst>
          </a:prstGeom>
          <a:solidFill>
            <a:srgbClr val="242A52"/>
          </a:solidFill>
          <a:ln w="15875">
            <a:solidFill>
              <a:srgbClr val="FBBF24"/>
            </a:solidFill>
            <a:prstDash val="solid"/>
          </a:ln>
        </p:spPr>
      </p:sp>
      <p:pic>
        <p:nvPicPr>
          <p:cNvPr id="24" name="Image 1" descr="preencoded.png">    </p:cNvPr>
          <p:cNvPicPr>
            <a:picLocks noChangeAspect="1"/>
          </p:cNvPicPr>
          <p:nvPr/>
        </p:nvPicPr>
        <p:blipFill>
          <a:blip r:embed="rId2"/>
          <a:stretch>
            <a:fillRect/>
          </a:stretch>
        </p:blipFill>
        <p:spPr>
          <a:xfrm>
            <a:off x="6492240" y="1874520"/>
            <a:ext cx="365760" cy="365760"/>
          </a:xfrm>
          <a:prstGeom prst="rect">
            <a:avLst/>
          </a:prstGeom>
        </p:spPr>
      </p:pic>
      <p:sp>
        <p:nvSpPr>
          <p:cNvPr id="25" name="Text 21"/>
          <p:cNvSpPr txBox="1"/>
          <p:nvPr/>
        </p:nvSpPr>
        <p:spPr>
          <a:xfrm>
            <a:off x="6949440" y="1874520"/>
            <a:ext cx="4480560" cy="36576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HARDWARE</a:t>
            </a:r>
            <a:pPr indent="0" marL="0">
              <a:buNone/>
            </a:pPr>
            <a:r>
              <a:rPr lang="en-US" sz="1200" b="1" dirty="0">
                <a:solidFill>
                  <a:srgbClr val="FBBF24"/>
                </a:solidFill>
                <a:latin typeface="Calibri" pitchFamily="34" charset="0"/>
                <a:ea typeface="Calibri" pitchFamily="34" charset="-122"/>
                <a:cs typeface="Calibri" pitchFamily="34" charset="-120"/>
              </a:rPr>
              <a:t>   IN PROGRESS</a:t>
            </a:r>
            <a:endParaRPr lang="en-US" sz="1500" dirty="0"/>
          </a:p>
        </p:txBody>
      </p:sp>
      <p:sp>
        <p:nvSpPr>
          <p:cNvPr id="26" name="Text 22"/>
          <p:cNvSpPr txBox="1"/>
          <p:nvPr/>
        </p:nvSpPr>
        <p:spPr>
          <a:xfrm>
            <a:off x="6492240" y="2423160"/>
            <a:ext cx="2743200" cy="256032"/>
          </a:xfrm>
          <a:prstGeom prst="rect">
            <a:avLst/>
          </a:prstGeom>
          <a:noFill/>
          <a:ln/>
        </p:spPr>
        <p:txBody>
          <a:bodyPr wrap="square" lIns="0" tIns="0" rIns="0" bIns="0" rtlCol="0" anchor="ctr"/>
          <a:lstStyle/>
          <a:p>
            <a:pPr indent="0" marL="0">
              <a:buNone/>
            </a:pPr>
            <a:r>
              <a:rPr lang="en-US" sz="1000" b="1" spc="200" kern="0" dirty="0">
                <a:solidFill>
                  <a:srgbClr val="34D399"/>
                </a:solidFill>
              </a:rPr>
              <a:t>READY</a:t>
            </a:r>
            <a:endParaRPr lang="en-US" sz="1000" dirty="0"/>
          </a:p>
        </p:txBody>
      </p:sp>
      <p:sp>
        <p:nvSpPr>
          <p:cNvPr id="27" name="Text 23"/>
          <p:cNvSpPr txBox="1"/>
          <p:nvPr/>
        </p:nvSpPr>
        <p:spPr>
          <a:xfrm>
            <a:off x="6492240" y="2697480"/>
            <a:ext cx="4937760" cy="1463040"/>
          </a:xfrm>
          <a:prstGeom prst="rect">
            <a:avLst/>
          </a:prstGeom>
          <a:noFill/>
          <a:ln/>
        </p:spPr>
        <p:txBody>
          <a:bodyPr wrap="square" rtlCol="0" anchor="t"/>
          <a:lstStyle/>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Components selected &amp; bill of materials</a:t>
            </a:r>
            <a:endParaRPr lang="en-US" sz="1200" dirty="0"/>
          </a:p>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Wiring / pin plan for the ESP32 node</a:t>
            </a:r>
            <a:endParaRPr lang="en-US" sz="1200" dirty="0"/>
          </a:p>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ESP32 firmware code drafted</a:t>
            </a:r>
            <a:endParaRPr lang="en-US" sz="1200" dirty="0"/>
          </a:p>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Device protocol tested end-to-end via emulator</a:t>
            </a:r>
            <a:endParaRPr lang="en-US" sz="1200" dirty="0"/>
          </a:p>
        </p:txBody>
      </p:sp>
      <p:sp>
        <p:nvSpPr>
          <p:cNvPr id="28" name="Text 24"/>
          <p:cNvSpPr txBox="1"/>
          <p:nvPr/>
        </p:nvSpPr>
        <p:spPr>
          <a:xfrm>
            <a:off x="6492240" y="4251960"/>
            <a:ext cx="3657600" cy="256032"/>
          </a:xfrm>
          <a:prstGeom prst="rect">
            <a:avLst/>
          </a:prstGeom>
          <a:noFill/>
          <a:ln/>
        </p:spPr>
        <p:txBody>
          <a:bodyPr wrap="square" lIns="0" tIns="0" rIns="0" bIns="0" rtlCol="0" anchor="ctr"/>
          <a:lstStyle/>
          <a:p>
            <a:pPr indent="0" marL="0">
              <a:buNone/>
            </a:pPr>
            <a:r>
              <a:rPr lang="en-US" sz="1000" b="1" spc="200" kern="0" dirty="0">
                <a:solidFill>
                  <a:srgbClr val="FBBF24"/>
                </a:solidFill>
              </a:rPr>
              <a:t>NEXT — FOR FINAL REVIEW</a:t>
            </a:r>
            <a:endParaRPr lang="en-US" sz="1000" dirty="0"/>
          </a:p>
        </p:txBody>
      </p:sp>
      <p:sp>
        <p:nvSpPr>
          <p:cNvPr id="29" name="Text 25"/>
          <p:cNvSpPr txBox="1"/>
          <p:nvPr/>
        </p:nvSpPr>
        <p:spPr>
          <a:xfrm>
            <a:off x="6492240" y="4526280"/>
            <a:ext cx="4937760" cy="1645920"/>
          </a:xfrm>
          <a:prstGeom prst="rect">
            <a:avLst/>
          </a:prstGeom>
          <a:noFill/>
          <a:ln/>
        </p:spPr>
        <p:txBody>
          <a:bodyPr wrap="square" rtlCol="0" anchor="t"/>
          <a:lstStyle/>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Procure parts, assemble and bench-test one room node</a:t>
            </a:r>
            <a:endParaRPr lang="en-US" sz="1200" dirty="0"/>
          </a:p>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Connect to dashboard in dry-run, then live relay demo</a:t>
            </a:r>
            <a:endParaRPr lang="en-US" sz="1200" dirty="0"/>
          </a:p>
          <a:p>
            <a:pPr marL="152400" indent="-152400">
              <a:spcAft>
                <a:spcPts val="400"/>
              </a:spcAft>
              <a:buSzPct val="100000"/>
              <a:buChar char="•"/>
            </a:pPr>
            <a:r>
              <a:rPr lang="en-US" sz="1200" dirty="0">
                <a:solidFill>
                  <a:srgbClr val="E2E8F0"/>
                </a:solidFill>
                <a:latin typeface="Calibri" pitchFamily="34" charset="0"/>
                <a:ea typeface="Calibri" pitchFamily="34" charset="-122"/>
                <a:cs typeface="Calibri" pitchFamily="34" charset="-120"/>
              </a:rPr>
              <a:t>Collect real readings to re-check the ML model</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12</a:t>
            </a:r>
            <a:endParaRPr lang="en-US" sz="700" dirty="0"/>
          </a:p>
        </p:txBody>
      </p:sp>
      <p:sp>
        <p:nvSpPr>
          <p:cNvPr id="6"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Hardware Plan — Toward the Final Review</a:t>
            </a:r>
            <a:endParaRPr lang="en-US" sz="3000" dirty="0"/>
          </a:p>
        </p:txBody>
      </p:sp>
      <p:sp>
        <p:nvSpPr>
          <p:cNvPr id="7"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One low-cost room node, designed to fail safe</a:t>
            </a:r>
            <a:endParaRPr lang="en-US" sz="1200" dirty="0"/>
          </a:p>
        </p:txBody>
      </p:sp>
      <p:sp>
        <p:nvSpPr>
          <p:cNvPr id="8" name="Criteria pill"/>
          <p:cNvSpPr/>
          <p:nvPr/>
        </p:nvSpPr>
        <p:spPr>
          <a:xfrm>
            <a:off x="8869680" y="512064"/>
            <a:ext cx="2377440" cy="365760"/>
          </a:xfrm>
          <a:prstGeom prst="roundRect">
            <a:avLst>
              <a:gd name="adj" fmla="val 50000"/>
            </a:avLst>
          </a:prstGeom>
          <a:solidFill>
            <a:srgbClr val="1C3955"/>
          </a:solidFill>
          <a:ln w="15875">
            <a:solidFill>
              <a:srgbClr val="22D3EE"/>
            </a:solidFill>
            <a:prstDash val="solid"/>
          </a:ln>
        </p:spPr>
      </p:sp>
      <p:sp>
        <p:nvSpPr>
          <p:cNvPr id="9" name="Text 7"/>
          <p:cNvSpPr txBox="1"/>
          <p:nvPr/>
        </p:nvSpPr>
        <p:spPr>
          <a:xfrm>
            <a:off x="8869680" y="512064"/>
            <a:ext cx="2377440" cy="365760"/>
          </a:xfrm>
          <a:prstGeom prst="rect">
            <a:avLst/>
          </a:prstGeom>
          <a:noFill/>
          <a:ln/>
        </p:spPr>
        <p:txBody>
          <a:bodyPr wrap="square" lIns="0" tIns="0" rIns="0" bIns="0" rtlCol="0" anchor="ctr"/>
          <a:lstStyle/>
          <a:p>
            <a:pPr algn="ctr" indent="0" marL="0">
              <a:buNone/>
            </a:pPr>
            <a:r>
              <a:rPr lang="en-US" sz="900" b="1" spc="100" kern="0" dirty="0">
                <a:solidFill>
                  <a:srgbClr val="22D3EE"/>
                </a:solidFill>
              </a:rPr>
              <a:t>HARDWARE ROADMAP</a:t>
            </a:r>
            <a:endParaRPr lang="en-US" sz="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691640"/>
          <a:ext cx="6035040" cy="914400"/>
        </p:xfrm>
        <a:graphic>
          <a:graphicData uri="http://schemas.openxmlformats.org/drawingml/2006/table">
            <a:tbl>
              <a:tblPr/>
              <a:tblGrid>
                <a:gridCol w="2651760"/>
                <a:gridCol w="3383280"/>
              </a:tblGrid>
              <a:tr h="438912">
                <a:tc>
                  <a:txBody>
                    <a:bodyPr/>
                    <a:lstStyle/>
                    <a:p>
                      <a:pPr indent="0" marL="0">
                        <a:buNone/>
                      </a:pPr>
                      <a:r>
                        <a:rPr lang="en-US" sz="1150" b="1" dirty="0">
                          <a:solidFill>
                            <a:srgbClr val="22D3EE"/>
                          </a:solidFill>
                          <a:latin typeface="Calibri" pitchFamily="34" charset="0"/>
                          <a:ea typeface="Calibri" pitchFamily="34" charset="-122"/>
                          <a:cs typeface="Calibri" pitchFamily="34" charset="-120"/>
                        </a:rPr>
                        <a:t>Component</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A3166"/>
                    </a:solidFill>
                  </a:tcPr>
                </a:tc>
                <a:tc>
                  <a:txBody>
                    <a:bodyPr/>
                    <a:lstStyle/>
                    <a:p>
                      <a:pPr indent="0" marL="0">
                        <a:buNone/>
                      </a:pPr>
                      <a:r>
                        <a:rPr lang="en-US" sz="1150" b="1" dirty="0">
                          <a:solidFill>
                            <a:srgbClr val="22D3EE"/>
                          </a:solidFill>
                          <a:latin typeface="Calibri" pitchFamily="34" charset="0"/>
                          <a:ea typeface="Calibri" pitchFamily="34" charset="-122"/>
                          <a:cs typeface="Calibri" pitchFamily="34" charset="-120"/>
                        </a:rPr>
                        <a:t>Role in the node</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A3166"/>
                    </a:solidFill>
                  </a:tcPr>
                </a:tc>
              </a:tr>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ESP32 DevKit (WROOM-32)</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C3260"/>
                    </a:solidFill>
                  </a:tcPr>
                </a:tc>
                <a:tc>
                  <a:txBody>
                    <a:bodyPr/>
                    <a:lstStyle/>
                    <a:p>
                      <a:pPr indent="0" marL="0">
                        <a:buNone/>
                      </a:pPr>
                      <a:r>
                        <a:rPr lang="en-US" sz="1150" dirty="0">
                          <a:solidFill>
                            <a:srgbClr val="E2E8F0"/>
                          </a:solidFill>
                          <a:latin typeface="Calibri" pitchFamily="34" charset="0"/>
                          <a:ea typeface="Calibri" pitchFamily="34" charset="-122"/>
                          <a:cs typeface="Calibri" pitchFamily="34" charset="-120"/>
                        </a:rPr>
                        <a:t>Brain of the node + Wi-Fi</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C3260"/>
                    </a:solidFill>
                  </a:tcPr>
                </a:tc>
              </a:tr>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PIR HC-SR501 / mmWave</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42A52"/>
                    </a:solidFill>
                  </a:tcPr>
                </a:tc>
                <a:tc>
                  <a:txBody>
                    <a:bodyPr/>
                    <a:lstStyle/>
                    <a:p>
                      <a:pPr indent="0" marL="0">
                        <a:buNone/>
                      </a:pPr>
                      <a:r>
                        <a:rPr lang="en-US" sz="1150" dirty="0">
                          <a:solidFill>
                            <a:srgbClr val="E2E8F0"/>
                          </a:solidFill>
                          <a:latin typeface="Calibri" pitchFamily="34" charset="0"/>
                          <a:ea typeface="Calibri" pitchFamily="34" charset="-122"/>
                          <a:cs typeface="Calibri" pitchFamily="34" charset="-120"/>
                        </a:rPr>
                        <a:t>Occupancy — is anyone in the room?</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42A52"/>
                    </a:solidFill>
                  </a:tcPr>
                </a:tc>
              </a:tr>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PZEM-004T + CT clamp / SCT-013</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C3260"/>
                    </a:solidFill>
                  </a:tcPr>
                </a:tc>
                <a:tc>
                  <a:txBody>
                    <a:bodyPr/>
                    <a:lstStyle/>
                    <a:p>
                      <a:pPr indent="0" marL="0">
                        <a:buNone/>
                      </a:pPr>
                      <a:r>
                        <a:rPr lang="en-US" sz="1150" dirty="0">
                          <a:solidFill>
                            <a:srgbClr val="E2E8F0"/>
                          </a:solidFill>
                          <a:latin typeface="Calibri" pitchFamily="34" charset="0"/>
                          <a:ea typeface="Calibri" pitchFamily="34" charset="-122"/>
                          <a:cs typeface="Calibri" pitchFamily="34" charset="-120"/>
                        </a:rPr>
                        <a:t>Voltage, current and power per appliance</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C3260"/>
                    </a:solidFill>
                  </a:tcPr>
                </a:tc>
              </a:tr>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4-channel opto-isolated relay</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42A52"/>
                    </a:solidFill>
                  </a:tcPr>
                </a:tc>
                <a:tc>
                  <a:txBody>
                    <a:bodyPr/>
                    <a:lstStyle/>
                    <a:p>
                      <a:pPr indent="0" marL="0">
                        <a:buNone/>
                      </a:pPr>
                      <a:r>
                        <a:rPr lang="en-US" sz="1150" dirty="0">
                          <a:solidFill>
                            <a:srgbClr val="E2E8F0"/>
                          </a:solidFill>
                          <a:latin typeface="Calibri" pitchFamily="34" charset="0"/>
                          <a:ea typeface="Calibri" pitchFamily="34" charset="-122"/>
                          <a:cs typeface="Calibri" pitchFamily="34" charset="-120"/>
                        </a:rPr>
                        <a:t>Switches loads (normally-closed = fail-safe)</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42A52"/>
                    </a:solidFill>
                  </a:tcPr>
                </a:tc>
              </a:tr>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HLK-PM01 5 V supply</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C3260"/>
                    </a:solidFill>
                  </a:tcPr>
                </a:tc>
                <a:tc>
                  <a:txBody>
                    <a:bodyPr/>
                    <a:lstStyle/>
                    <a:p>
                      <a:pPr indent="0" marL="0">
                        <a:buNone/>
                      </a:pPr>
                      <a:r>
                        <a:rPr lang="en-US" sz="1150" dirty="0">
                          <a:solidFill>
                            <a:srgbClr val="E2E8F0"/>
                          </a:solidFill>
                          <a:latin typeface="Calibri" pitchFamily="34" charset="0"/>
                          <a:ea typeface="Calibri" pitchFamily="34" charset="-122"/>
                          <a:cs typeface="Calibri" pitchFamily="34" charset="-120"/>
                        </a:rPr>
                        <a:t>Powers the node from mains</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C3260"/>
                    </a:solidFill>
                  </a:tcPr>
                </a:tc>
              </a:tr>
              <a:tr h="438912">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DHT22 / DS18B20</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42A52"/>
                    </a:solidFill>
                  </a:tcPr>
                </a:tc>
                <a:tc>
                  <a:txBody>
                    <a:bodyPr/>
                    <a:lstStyle/>
                    <a:p>
                      <a:pPr indent="0" marL="0">
                        <a:buNone/>
                      </a:pPr>
                      <a:r>
                        <a:rPr lang="en-US" sz="1150" dirty="0">
                          <a:solidFill>
                            <a:srgbClr val="E2E8F0"/>
                          </a:solidFill>
                          <a:latin typeface="Calibri" pitchFamily="34" charset="0"/>
                          <a:ea typeface="Calibri" pitchFamily="34" charset="-122"/>
                          <a:cs typeface="Calibri" pitchFamily="34" charset="-120"/>
                        </a:rPr>
                        <a:t>Room temperature (add-on for AC logic)</a:t>
                      </a:r>
                      <a:endParaRPr lang="en-US" sz="1150" dirty="0">
                        <a:latin typeface="Calibri" charset="0"/>
                        <a:ea typeface="Calibri" charset="0"/>
                        <a:cs typeface="Calibri" charset="0"/>
                      </a:endParaRPr>
                    </a:p>
                  </a:txBody>
                  <a:tcPr marL="91440" marR="91440" marT="36576" marB="36576" anchor="ctr">
                    <a:lnL w="19050" cap="flat" cmpd="sng" algn="ctr">
                      <a:solidFill>
                        <a:srgbClr val="1B1F3B"/>
                      </a:solidFill>
                      <a:prstDash val="solid"/>
                      <a:round/>
                      <a:headEnd type="none" w="med" len="med"/>
                      <a:tailEnd type="none" w="med" len="med"/>
                    </a:lnL>
                    <a:lnR w="19050" cap="flat" cmpd="sng" algn="ctr">
                      <a:solidFill>
                        <a:srgbClr val="1B1F3B"/>
                      </a:solidFill>
                      <a:prstDash val="solid"/>
                      <a:round/>
                      <a:headEnd type="none" w="med" len="med"/>
                      <a:tailEnd type="none" w="med" len="med"/>
                    </a:lnR>
                    <a:lnT w="19050" cap="flat" cmpd="sng" algn="ctr">
                      <a:solidFill>
                        <a:srgbClr val="1B1F3B"/>
                      </a:solidFill>
                      <a:prstDash val="solid"/>
                      <a:round/>
                      <a:headEnd type="none" w="med" len="med"/>
                      <a:tailEnd type="none" w="med" len="med"/>
                    </a:lnT>
                    <a:lnB w="19050" cap="flat" cmpd="sng" algn="ctr">
                      <a:solidFill>
                        <a:srgbClr val="1B1F3B"/>
                      </a:solidFill>
                      <a:prstDash val="solid"/>
                      <a:round/>
                      <a:headEnd type="none" w="med" len="med"/>
                      <a:tailEnd type="none" w="med" len="med"/>
                    </a:lnB>
                    <a:solidFill>
                      <a:srgbClr val="242A52"/>
                    </a:solidFill>
                  </a:tcPr>
                </a:tc>
              </a:tr>
            </a:tbl>
          </a:graphicData>
        </a:graphic>
      </p:graphicFrame>
      <p:sp>
        <p:nvSpPr>
          <p:cNvPr id="11" name="Card"/>
          <p:cNvSpPr/>
          <p:nvPr/>
        </p:nvSpPr>
        <p:spPr>
          <a:xfrm>
            <a:off x="640080" y="4937760"/>
            <a:ext cx="6035040" cy="1371600"/>
          </a:xfrm>
          <a:prstGeom prst="roundRect">
            <a:avLst>
              <a:gd name="adj" fmla="val 5333"/>
            </a:avLst>
          </a:prstGeom>
          <a:solidFill>
            <a:srgbClr val="2C3260"/>
          </a:solidFill>
          <a:ln w="15875">
            <a:solidFill>
              <a:srgbClr val="FBBF24"/>
            </a:solidFill>
            <a:prstDash val="solid"/>
          </a:ln>
        </p:spPr>
      </p:sp>
      <p:pic>
        <p:nvPicPr>
          <p:cNvPr id="12" name="Image 0" descr="preencoded.png">    </p:cNvPr>
          <p:cNvPicPr>
            <a:picLocks noChangeAspect="1"/>
          </p:cNvPicPr>
          <p:nvPr/>
        </p:nvPicPr>
        <p:blipFill>
          <a:blip r:embed="rId1"/>
          <a:stretch>
            <a:fillRect/>
          </a:stretch>
        </p:blipFill>
        <p:spPr>
          <a:xfrm>
            <a:off x="841248" y="5257800"/>
            <a:ext cx="384048" cy="438912"/>
          </a:xfrm>
          <a:prstGeom prst="rect">
            <a:avLst/>
          </a:prstGeom>
        </p:spPr>
      </p:pic>
      <p:sp>
        <p:nvSpPr>
          <p:cNvPr id="13" name="Text 9"/>
          <p:cNvSpPr txBox="1"/>
          <p:nvPr/>
        </p:nvSpPr>
        <p:spPr>
          <a:xfrm>
            <a:off x="1371600" y="5001768"/>
            <a:ext cx="5166360" cy="1243584"/>
          </a:xfrm>
          <a:prstGeom prst="rect">
            <a:avLst/>
          </a:prstGeom>
          <a:noFill/>
          <a:ln/>
        </p:spPr>
        <p:txBody>
          <a:bodyPr wrap="square" rtlCol="0" anchor="ctr"/>
          <a:lstStyle/>
          <a:p>
            <a:pPr indent="0" marL="0">
              <a:buNone/>
            </a:pPr>
            <a:r>
              <a:rPr lang="en-US" sz="1150" b="1" dirty="0">
                <a:solidFill>
                  <a:srgbClr val="FFFFFF"/>
                </a:solidFill>
                <a:latin typeface="Calibri" pitchFamily="34" charset="0"/>
                <a:ea typeface="Calibri" pitchFamily="34" charset="-122"/>
                <a:cs typeface="Calibri" pitchFamily="34" charset="-120"/>
              </a:rPr>
              <a:t>Safety by design: </a:t>
            </a:r>
            <a:pPr indent="0" marL="0">
              <a:buNone/>
            </a:pPr>
            <a:r>
              <a:rPr lang="en-US" sz="1150" dirty="0">
                <a:solidFill>
                  <a:srgbClr val="E2E8F0"/>
                </a:solidFill>
                <a:latin typeface="Calibri" pitchFamily="34" charset="0"/>
                <a:ea typeface="Calibri" pitchFamily="34" charset="-122"/>
                <a:cs typeface="Calibri" pitchFamily="34" charset="-120"/>
              </a:rPr>
              <a:t>if the node crashes or loses power, the relay's normally-closed contact keeps lights and fans ON; OFF is confirmed with the power meter; mains wiring done under lab supervision.</a:t>
            </a:r>
            <a:endParaRPr lang="en-US" sz="1150" dirty="0"/>
          </a:p>
        </p:txBody>
      </p:sp>
      <p:sp>
        <p:nvSpPr>
          <p:cNvPr id="14" name="Card"/>
          <p:cNvSpPr/>
          <p:nvPr/>
        </p:nvSpPr>
        <p:spPr>
          <a:xfrm>
            <a:off x="6949440" y="1691640"/>
            <a:ext cx="4617720" cy="4617720"/>
          </a:xfrm>
          <a:prstGeom prst="roundRect">
            <a:avLst>
              <a:gd name="adj" fmla="val 1584"/>
            </a:avLst>
          </a:prstGeom>
          <a:solidFill>
            <a:srgbClr val="242A52"/>
          </a:solidFill>
          <a:ln/>
        </p:spPr>
      </p:sp>
      <p:sp>
        <p:nvSpPr>
          <p:cNvPr id="15" name="Text 11"/>
          <p:cNvSpPr txBox="1"/>
          <p:nvPr/>
        </p:nvSpPr>
        <p:spPr>
          <a:xfrm>
            <a:off x="7178040" y="1856232"/>
            <a:ext cx="2743200" cy="256032"/>
          </a:xfrm>
          <a:prstGeom prst="rect">
            <a:avLst/>
          </a:prstGeom>
          <a:noFill/>
          <a:ln/>
        </p:spPr>
        <p:txBody>
          <a:bodyPr wrap="square" lIns="0" tIns="0" rIns="0" bIns="0" rtlCol="0" anchor="ctr"/>
          <a:lstStyle/>
          <a:p>
            <a:pPr indent="0" marL="0">
              <a:buNone/>
            </a:pPr>
            <a:r>
              <a:rPr lang="en-US" sz="1000" b="1" spc="200" kern="0" dirty="0">
                <a:solidFill>
                  <a:srgbClr val="22D3EE"/>
                </a:solidFill>
              </a:rPr>
              <a:t>BUILD PLAN</a:t>
            </a:r>
            <a:endParaRPr lang="en-US" sz="1000" dirty="0"/>
          </a:p>
        </p:txBody>
      </p:sp>
      <p:sp>
        <p:nvSpPr>
          <p:cNvPr id="16" name="Shape 12"/>
          <p:cNvSpPr/>
          <p:nvPr/>
        </p:nvSpPr>
        <p:spPr>
          <a:xfrm>
            <a:off x="7178040" y="2240280"/>
            <a:ext cx="438912" cy="438912"/>
          </a:xfrm>
          <a:prstGeom prst="ellipse">
            <a:avLst/>
          </a:prstGeom>
          <a:solidFill>
            <a:srgbClr val="3774DD"/>
          </a:solidFill>
          <a:ln/>
        </p:spPr>
      </p:sp>
      <p:sp>
        <p:nvSpPr>
          <p:cNvPr id="17" name="Text 13"/>
          <p:cNvSpPr txBox="1"/>
          <p:nvPr/>
        </p:nvSpPr>
        <p:spPr>
          <a:xfrm>
            <a:off x="7178040" y="224028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18" name="Text 14"/>
          <p:cNvSpPr txBox="1"/>
          <p:nvPr/>
        </p:nvSpPr>
        <p:spPr>
          <a:xfrm>
            <a:off x="7772400" y="2185416"/>
            <a:ext cx="3657600" cy="914400"/>
          </a:xfrm>
          <a:prstGeom prst="rect">
            <a:avLst/>
          </a:prstGeom>
          <a:noFill/>
          <a:ln/>
        </p:spPr>
        <p:txBody>
          <a:bodyPr wrap="square" lIns="0" tIns="0" rIns="0" bIns="0" rtlCol="0" anchor="t"/>
          <a:lstStyle/>
          <a:p>
            <a:pPr indent="0" marL="0">
              <a:buNone/>
            </a:pPr>
            <a:r>
              <a:rPr lang="en-US" sz="1150" b="1" dirty="0">
                <a:solidFill>
                  <a:srgbClr val="22D3EE"/>
                </a:solidFill>
                <a:latin typeface="Calibri" pitchFamily="34" charset="0"/>
                <a:ea typeface="Calibri" pitchFamily="34" charset="-122"/>
                <a:cs typeface="Calibri" pitchFamily="34" charset="-120"/>
              </a:rPr>
              <a:t>Procure</a:t>
            </a:r>
            <a:endParaRPr lang="en-US" sz="1150" dirty="0"/>
          </a:p>
          <a:p>
            <a:pPr indent="0" marL="0">
              <a:buNone/>
            </a:pPr>
            <a:r>
              <a:rPr lang="en-US" sz="1150" dirty="0">
                <a:solidFill>
                  <a:srgbClr val="E2E8F0"/>
                </a:solidFill>
                <a:latin typeface="Calibri" pitchFamily="34" charset="0"/>
                <a:ea typeface="Calibri" pitchFamily="34" charset="-122"/>
                <a:cs typeface="Calibri" pitchFamily="34" charset="-120"/>
              </a:rPr>
              <a:t>Buy ESP32, sensors, relay board and power supply</a:t>
            </a:r>
            <a:endParaRPr lang="en-US" sz="1150" dirty="0"/>
          </a:p>
        </p:txBody>
      </p:sp>
      <p:sp>
        <p:nvSpPr>
          <p:cNvPr id="19" name="Shape 15"/>
          <p:cNvSpPr/>
          <p:nvPr/>
        </p:nvSpPr>
        <p:spPr>
          <a:xfrm>
            <a:off x="7178040" y="3246120"/>
            <a:ext cx="438912" cy="438912"/>
          </a:xfrm>
          <a:prstGeom prst="ellipse">
            <a:avLst/>
          </a:prstGeom>
          <a:solidFill>
            <a:srgbClr val="3774DD"/>
          </a:solidFill>
          <a:ln/>
        </p:spPr>
      </p:sp>
      <p:sp>
        <p:nvSpPr>
          <p:cNvPr id="20" name="Text 16"/>
          <p:cNvSpPr txBox="1"/>
          <p:nvPr/>
        </p:nvSpPr>
        <p:spPr>
          <a:xfrm>
            <a:off x="7178040" y="324612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21" name="Text 17"/>
          <p:cNvSpPr txBox="1"/>
          <p:nvPr/>
        </p:nvSpPr>
        <p:spPr>
          <a:xfrm>
            <a:off x="7772400" y="3191256"/>
            <a:ext cx="3657600" cy="914400"/>
          </a:xfrm>
          <a:prstGeom prst="rect">
            <a:avLst/>
          </a:prstGeom>
          <a:noFill/>
          <a:ln/>
        </p:spPr>
        <p:txBody>
          <a:bodyPr wrap="square" lIns="0" tIns="0" rIns="0" bIns="0" rtlCol="0" anchor="t"/>
          <a:lstStyle/>
          <a:p>
            <a:pPr indent="0" marL="0">
              <a:buNone/>
            </a:pPr>
            <a:r>
              <a:rPr lang="en-US" sz="1150" b="1" dirty="0">
                <a:solidFill>
                  <a:srgbClr val="22D3EE"/>
                </a:solidFill>
                <a:latin typeface="Calibri" pitchFamily="34" charset="0"/>
                <a:ea typeface="Calibri" pitchFamily="34" charset="-122"/>
                <a:cs typeface="Calibri" pitchFamily="34" charset="-120"/>
              </a:rPr>
              <a:t>Assemble &amp; flash</a:t>
            </a:r>
            <a:endParaRPr lang="en-US" sz="1150" dirty="0"/>
          </a:p>
          <a:p>
            <a:pPr indent="0" marL="0">
              <a:buNone/>
            </a:pPr>
            <a:r>
              <a:rPr lang="en-US" sz="1150" dirty="0">
                <a:solidFill>
                  <a:srgbClr val="E2E8F0"/>
                </a:solidFill>
                <a:latin typeface="Calibri" pitchFamily="34" charset="0"/>
                <a:ea typeface="Calibri" pitchFamily="34" charset="-122"/>
                <a:cs typeface="Calibri" pitchFamily="34" charset="-120"/>
              </a:rPr>
              <a:t>Wire one node; flash firmware; bench-test boot, Wi-Fi loss, relay check</a:t>
            </a:r>
            <a:endParaRPr lang="en-US" sz="1150" dirty="0"/>
          </a:p>
        </p:txBody>
      </p:sp>
      <p:sp>
        <p:nvSpPr>
          <p:cNvPr id="22" name="Shape 18"/>
          <p:cNvSpPr/>
          <p:nvPr/>
        </p:nvSpPr>
        <p:spPr>
          <a:xfrm>
            <a:off x="7178040" y="4251960"/>
            <a:ext cx="438912" cy="438912"/>
          </a:xfrm>
          <a:prstGeom prst="ellipse">
            <a:avLst/>
          </a:prstGeom>
          <a:solidFill>
            <a:srgbClr val="3774DD"/>
          </a:solidFill>
          <a:ln/>
        </p:spPr>
      </p:sp>
      <p:sp>
        <p:nvSpPr>
          <p:cNvPr id="23" name="Text 19"/>
          <p:cNvSpPr txBox="1"/>
          <p:nvPr/>
        </p:nvSpPr>
        <p:spPr>
          <a:xfrm>
            <a:off x="7178040" y="425196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4" name="Text 20"/>
          <p:cNvSpPr txBox="1"/>
          <p:nvPr/>
        </p:nvSpPr>
        <p:spPr>
          <a:xfrm>
            <a:off x="7772400" y="4197096"/>
            <a:ext cx="3657600" cy="914400"/>
          </a:xfrm>
          <a:prstGeom prst="rect">
            <a:avLst/>
          </a:prstGeom>
          <a:noFill/>
          <a:ln/>
        </p:spPr>
        <p:txBody>
          <a:bodyPr wrap="square" lIns="0" tIns="0" rIns="0" bIns="0" rtlCol="0" anchor="t"/>
          <a:lstStyle/>
          <a:p>
            <a:pPr indent="0" marL="0">
              <a:buNone/>
            </a:pPr>
            <a:r>
              <a:rPr lang="en-US" sz="1150" b="1" dirty="0">
                <a:solidFill>
                  <a:srgbClr val="22D3EE"/>
                </a:solidFill>
                <a:latin typeface="Calibri" pitchFamily="34" charset="0"/>
                <a:ea typeface="Calibri" pitchFamily="34" charset="-122"/>
                <a:cs typeface="Calibri" pitchFamily="34" charset="-120"/>
              </a:rPr>
              <a:t>Connect</a:t>
            </a:r>
            <a:endParaRPr lang="en-US" sz="1150" dirty="0"/>
          </a:p>
          <a:p>
            <a:pPr indent="0" marL="0">
              <a:buNone/>
            </a:pPr>
            <a:r>
              <a:rPr lang="en-US" sz="1150" dirty="0">
                <a:solidFill>
                  <a:srgbClr val="E2E8F0"/>
                </a:solidFill>
                <a:latin typeface="Calibri" pitchFamily="34" charset="0"/>
                <a:ea typeface="Calibri" pitchFamily="34" charset="-122"/>
                <a:cs typeface="Calibri" pitchFamily="34" charset="-120"/>
              </a:rPr>
              <a:t>Register the ESP32 on the dashboard; run in dry-run mode</a:t>
            </a:r>
            <a:endParaRPr lang="en-US" sz="1150" dirty="0"/>
          </a:p>
        </p:txBody>
      </p:sp>
      <p:sp>
        <p:nvSpPr>
          <p:cNvPr id="25" name="Shape 21"/>
          <p:cNvSpPr/>
          <p:nvPr/>
        </p:nvSpPr>
        <p:spPr>
          <a:xfrm>
            <a:off x="7178040" y="5257800"/>
            <a:ext cx="438912" cy="438912"/>
          </a:xfrm>
          <a:prstGeom prst="ellipse">
            <a:avLst/>
          </a:prstGeom>
          <a:solidFill>
            <a:srgbClr val="3774DD"/>
          </a:solidFill>
          <a:ln/>
        </p:spPr>
      </p:sp>
      <p:sp>
        <p:nvSpPr>
          <p:cNvPr id="26" name="Text 22"/>
          <p:cNvSpPr txBox="1"/>
          <p:nvPr/>
        </p:nvSpPr>
        <p:spPr>
          <a:xfrm>
            <a:off x="7178040" y="5257800"/>
            <a:ext cx="438912" cy="43891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4</a:t>
            </a:r>
            <a:endParaRPr lang="en-US" sz="1700" dirty="0"/>
          </a:p>
        </p:txBody>
      </p:sp>
      <p:sp>
        <p:nvSpPr>
          <p:cNvPr id="27" name="Text 23"/>
          <p:cNvSpPr txBox="1"/>
          <p:nvPr/>
        </p:nvSpPr>
        <p:spPr>
          <a:xfrm>
            <a:off x="7772400" y="5202936"/>
            <a:ext cx="3657600" cy="914400"/>
          </a:xfrm>
          <a:prstGeom prst="rect">
            <a:avLst/>
          </a:prstGeom>
          <a:noFill/>
          <a:ln/>
        </p:spPr>
        <p:txBody>
          <a:bodyPr wrap="square" lIns="0" tIns="0" rIns="0" bIns="0" rtlCol="0" anchor="t"/>
          <a:lstStyle/>
          <a:p>
            <a:pPr indent="0" marL="0">
              <a:buNone/>
            </a:pPr>
            <a:r>
              <a:rPr lang="en-US" sz="1150" b="1" dirty="0">
                <a:solidFill>
                  <a:srgbClr val="22D3EE"/>
                </a:solidFill>
                <a:latin typeface="Calibri" pitchFamily="34" charset="0"/>
                <a:ea typeface="Calibri" pitchFamily="34" charset="-122"/>
                <a:cs typeface="Calibri" pitchFamily="34" charset="-120"/>
              </a:rPr>
              <a:t>Live demo</a:t>
            </a:r>
            <a:endParaRPr lang="en-US" sz="1150" dirty="0"/>
          </a:p>
          <a:p>
            <a:pPr indent="0" marL="0">
              <a:buNone/>
            </a:pPr>
            <a:r>
              <a:rPr lang="en-US" sz="1150" dirty="0">
                <a:solidFill>
                  <a:srgbClr val="E2E8F0"/>
                </a:solidFill>
                <a:latin typeface="Calibri" pitchFamily="34" charset="0"/>
                <a:ea typeface="Calibri" pitchFamily="34" charset="-122"/>
                <a:cs typeface="Calibri" pitchFamily="34" charset="-120"/>
              </a:rPr>
              <a:t>Real room: vacant → alert → relay OFF → savings, at the Final Review</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13</a:t>
            </a:r>
            <a:endParaRPr lang="en-US" sz="700" dirty="0"/>
          </a:p>
        </p:txBody>
      </p:sp>
      <p:sp>
        <p:nvSpPr>
          <p:cNvPr id="6"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Meet the Team</a:t>
            </a:r>
            <a:endParaRPr lang="en-US" sz="3000" dirty="0"/>
          </a:p>
        </p:txBody>
      </p:sp>
      <p:sp>
        <p:nvSpPr>
          <p:cNvPr id="7"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Cross-disciplinary skills behind the idea</a:t>
            </a:r>
            <a:endParaRPr lang="en-US" sz="1200" dirty="0"/>
          </a:p>
        </p:txBody>
      </p:sp>
      <p:pic>
        <p:nvPicPr>
          <p:cNvPr id="8" name="Image 0" descr="preencoded.png">    </p:cNvPr>
          <p:cNvPicPr>
            <a:picLocks noChangeAspect="1"/>
          </p:cNvPicPr>
          <p:nvPr/>
        </p:nvPicPr>
        <p:blipFill>
          <a:blip r:embed="rId1"/>
          <a:stretch>
            <a:fillRect/>
          </a:stretch>
        </p:blipFill>
        <p:spPr>
          <a:xfrm>
            <a:off x="9784080" y="685800"/>
            <a:ext cx="1783080" cy="1325880"/>
          </a:xfrm>
          <a:prstGeom prst="rect">
            <a:avLst/>
          </a:prstGeom>
        </p:spPr>
      </p:pic>
      <p:sp>
        <p:nvSpPr>
          <p:cNvPr id="9" name="Card"/>
          <p:cNvSpPr/>
          <p:nvPr/>
        </p:nvSpPr>
        <p:spPr>
          <a:xfrm>
            <a:off x="2130552" y="1874520"/>
            <a:ext cx="2514600" cy="3291840"/>
          </a:xfrm>
          <a:prstGeom prst="roundRect">
            <a:avLst>
              <a:gd name="adj" fmla="val 2909"/>
            </a:avLst>
          </a:prstGeom>
          <a:solidFill>
            <a:srgbClr val="242A52"/>
          </a:solidFill>
          <a:ln/>
        </p:spPr>
      </p:sp>
      <p:sp>
        <p:nvSpPr>
          <p:cNvPr id="10" name="Shape 7"/>
          <p:cNvSpPr/>
          <p:nvPr/>
        </p:nvSpPr>
        <p:spPr>
          <a:xfrm>
            <a:off x="2926080" y="2130552"/>
            <a:ext cx="914400" cy="914400"/>
          </a:xfrm>
          <a:prstGeom prst="ellipse">
            <a:avLst/>
          </a:prstGeom>
          <a:solidFill>
            <a:srgbClr val="2C3260"/>
          </a:solidFill>
          <a:ln w="15875">
            <a:solidFill>
              <a:srgbClr val="3B82F6"/>
            </a:solidFill>
            <a:prstDash val="solid"/>
          </a:ln>
        </p:spPr>
      </p:sp>
      <p:pic>
        <p:nvPicPr>
          <p:cNvPr id="11" name="Image 1" descr="preencoded.png">    </p:cNvPr>
          <p:cNvPicPr>
            <a:picLocks noChangeAspect="1"/>
          </p:cNvPicPr>
          <p:nvPr/>
        </p:nvPicPr>
        <p:blipFill>
          <a:blip r:embed="rId2"/>
          <a:stretch>
            <a:fillRect/>
          </a:stretch>
        </p:blipFill>
        <p:spPr>
          <a:xfrm>
            <a:off x="3154680" y="2359152"/>
            <a:ext cx="457200" cy="457200"/>
          </a:xfrm>
          <a:prstGeom prst="rect">
            <a:avLst/>
          </a:prstGeom>
        </p:spPr>
      </p:pic>
      <p:sp>
        <p:nvSpPr>
          <p:cNvPr id="12" name="Text 8"/>
          <p:cNvSpPr txBox="1"/>
          <p:nvPr/>
        </p:nvSpPr>
        <p:spPr>
          <a:xfrm>
            <a:off x="2130552" y="3200400"/>
            <a:ext cx="2514600" cy="320040"/>
          </a:xfrm>
          <a:prstGeom prst="rect">
            <a:avLst/>
          </a:prstGeom>
          <a:noFill/>
          <a:ln/>
        </p:spPr>
        <p:txBody>
          <a:bodyPr wrap="square" lIns="0" tIns="0" rIns="0" bIns="0" rtlCol="0" anchor="ctr"/>
          <a:lstStyle/>
          <a:p>
            <a:pPr algn="ctr" indent="0" marL="0">
              <a:buNone/>
            </a:pPr>
            <a:r>
              <a:rPr lang="en-US" sz="1300" b="1" dirty="0">
                <a:solidFill>
                  <a:srgbClr val="FFFFFF"/>
                </a:solidFill>
              </a:rPr>
              <a:t>Suyash Tatiya</a:t>
            </a:r>
            <a:endParaRPr lang="en-US" sz="1300" dirty="0"/>
          </a:p>
        </p:txBody>
      </p:sp>
      <p:sp>
        <p:nvSpPr>
          <p:cNvPr id="13" name="Text 9"/>
          <p:cNvSpPr txBox="1"/>
          <p:nvPr/>
        </p:nvSpPr>
        <p:spPr>
          <a:xfrm>
            <a:off x="2130552" y="3520440"/>
            <a:ext cx="2514600" cy="274320"/>
          </a:xfrm>
          <a:prstGeom prst="rect">
            <a:avLst/>
          </a:prstGeom>
          <a:noFill/>
          <a:ln/>
        </p:spPr>
        <p:txBody>
          <a:bodyPr wrap="square" lIns="0" tIns="0" rIns="0" bIns="0" rtlCol="0" anchor="ctr"/>
          <a:lstStyle/>
          <a:p>
            <a:pPr algn="ctr" indent="0" marL="0">
              <a:buNone/>
            </a:pPr>
            <a:r>
              <a:rPr lang="en-US" sz="1100" i="1" dirty="0">
                <a:solidFill>
                  <a:srgbClr val="22D3EE"/>
                </a:solidFill>
              </a:rPr>
              <a:t>24BEE0087</a:t>
            </a:r>
            <a:endParaRPr lang="en-US" sz="1100" dirty="0"/>
          </a:p>
        </p:txBody>
      </p:sp>
      <p:sp>
        <p:nvSpPr>
          <p:cNvPr id="14" name="Text 10"/>
          <p:cNvSpPr txBox="1"/>
          <p:nvPr/>
        </p:nvSpPr>
        <p:spPr>
          <a:xfrm>
            <a:off x="2130552" y="3840480"/>
            <a:ext cx="2514600" cy="274320"/>
          </a:xfrm>
          <a:prstGeom prst="rect">
            <a:avLst/>
          </a:prstGeom>
          <a:noFill/>
          <a:ln/>
        </p:spPr>
        <p:txBody>
          <a:bodyPr wrap="square" lIns="0" tIns="0" rIns="0" bIns="0" rtlCol="0" anchor="ctr"/>
          <a:lstStyle/>
          <a:p>
            <a:pPr algn="ctr" indent="0" marL="0">
              <a:buNone/>
            </a:pPr>
            <a:r>
              <a:rPr lang="en-US" sz="1150" b="1" dirty="0">
                <a:solidFill>
                  <a:srgbClr val="CBD5E1"/>
                </a:solidFill>
              </a:rPr>
              <a:t>Team Lead</a:t>
            </a:r>
            <a:endParaRPr lang="en-US" sz="1150" dirty="0"/>
          </a:p>
        </p:txBody>
      </p:sp>
      <p:sp>
        <p:nvSpPr>
          <p:cNvPr id="15" name="Text 11"/>
          <p:cNvSpPr txBox="1"/>
          <p:nvPr/>
        </p:nvSpPr>
        <p:spPr>
          <a:xfrm>
            <a:off x="2313432" y="4133088"/>
            <a:ext cx="2148840" cy="822960"/>
          </a:xfrm>
          <a:prstGeom prst="rect">
            <a:avLst/>
          </a:prstGeom>
          <a:noFill/>
          <a:ln/>
        </p:spPr>
        <p:txBody>
          <a:bodyPr wrap="square" lIns="0" tIns="0" rIns="0" bIns="0" rtlCol="0" anchor="t"/>
          <a:lstStyle/>
          <a:p>
            <a:pPr algn="ctr" indent="0" marL="0">
              <a:buNone/>
            </a:pPr>
            <a:r>
              <a:rPr lang="en-US" sz="1100" dirty="0">
                <a:solidFill>
                  <a:srgbClr val="94A3B8"/>
                </a:solidFill>
              </a:rPr>
              <a:t>Backend, decision engine &amp; ML model</a:t>
            </a:r>
            <a:endParaRPr lang="en-US" sz="1100" dirty="0"/>
          </a:p>
        </p:txBody>
      </p:sp>
      <p:sp>
        <p:nvSpPr>
          <p:cNvPr id="16" name="Card"/>
          <p:cNvSpPr/>
          <p:nvPr/>
        </p:nvSpPr>
        <p:spPr>
          <a:xfrm>
            <a:off x="4828032" y="1874520"/>
            <a:ext cx="2514600" cy="3291840"/>
          </a:xfrm>
          <a:prstGeom prst="roundRect">
            <a:avLst>
              <a:gd name="adj" fmla="val 2909"/>
            </a:avLst>
          </a:prstGeom>
          <a:solidFill>
            <a:srgbClr val="242A52"/>
          </a:solidFill>
          <a:ln/>
        </p:spPr>
      </p:sp>
      <p:sp>
        <p:nvSpPr>
          <p:cNvPr id="17" name="Shape 13"/>
          <p:cNvSpPr/>
          <p:nvPr/>
        </p:nvSpPr>
        <p:spPr>
          <a:xfrm>
            <a:off x="5623560" y="2130552"/>
            <a:ext cx="914400" cy="914400"/>
          </a:xfrm>
          <a:prstGeom prst="ellipse">
            <a:avLst/>
          </a:prstGeom>
          <a:solidFill>
            <a:srgbClr val="2C3260"/>
          </a:solidFill>
          <a:ln w="15875">
            <a:solidFill>
              <a:srgbClr val="3B82F6"/>
            </a:solidFill>
            <a:prstDash val="solid"/>
          </a:ln>
        </p:spPr>
      </p:sp>
      <p:pic>
        <p:nvPicPr>
          <p:cNvPr id="18" name="Image 2" descr="preencoded.png">    </p:cNvPr>
          <p:cNvPicPr>
            <a:picLocks noChangeAspect="1"/>
          </p:cNvPicPr>
          <p:nvPr/>
        </p:nvPicPr>
        <p:blipFill>
          <a:blip r:embed="rId3"/>
          <a:stretch>
            <a:fillRect/>
          </a:stretch>
        </p:blipFill>
        <p:spPr>
          <a:xfrm>
            <a:off x="5852160" y="2359152"/>
            <a:ext cx="457200" cy="457200"/>
          </a:xfrm>
          <a:prstGeom prst="rect">
            <a:avLst/>
          </a:prstGeom>
        </p:spPr>
      </p:pic>
      <p:sp>
        <p:nvSpPr>
          <p:cNvPr id="19" name="Text 14"/>
          <p:cNvSpPr txBox="1"/>
          <p:nvPr/>
        </p:nvSpPr>
        <p:spPr>
          <a:xfrm>
            <a:off x="4828032" y="3200400"/>
            <a:ext cx="2514600" cy="320040"/>
          </a:xfrm>
          <a:prstGeom prst="rect">
            <a:avLst/>
          </a:prstGeom>
          <a:noFill/>
          <a:ln/>
        </p:spPr>
        <p:txBody>
          <a:bodyPr wrap="square" lIns="0" tIns="0" rIns="0" bIns="0" rtlCol="0" anchor="ctr"/>
          <a:lstStyle/>
          <a:p>
            <a:pPr algn="ctr" indent="0" marL="0">
              <a:buNone/>
            </a:pPr>
            <a:r>
              <a:rPr lang="en-US" sz="1300" b="1" dirty="0">
                <a:solidFill>
                  <a:srgbClr val="FFFFFF"/>
                </a:solidFill>
              </a:rPr>
              <a:t>Arjun Gupta</a:t>
            </a:r>
            <a:endParaRPr lang="en-US" sz="1300" dirty="0"/>
          </a:p>
        </p:txBody>
      </p:sp>
      <p:sp>
        <p:nvSpPr>
          <p:cNvPr id="20" name="Text 15"/>
          <p:cNvSpPr txBox="1"/>
          <p:nvPr/>
        </p:nvSpPr>
        <p:spPr>
          <a:xfrm>
            <a:off x="4828032" y="3520440"/>
            <a:ext cx="2514600" cy="274320"/>
          </a:xfrm>
          <a:prstGeom prst="rect">
            <a:avLst/>
          </a:prstGeom>
          <a:noFill/>
          <a:ln/>
        </p:spPr>
        <p:txBody>
          <a:bodyPr wrap="square" lIns="0" tIns="0" rIns="0" bIns="0" rtlCol="0" anchor="ctr"/>
          <a:lstStyle/>
          <a:p>
            <a:pPr algn="ctr" indent="0" marL="0">
              <a:buNone/>
            </a:pPr>
            <a:r>
              <a:rPr lang="en-US" sz="1100" i="1" dirty="0">
                <a:solidFill>
                  <a:srgbClr val="22D3EE"/>
                </a:solidFill>
              </a:rPr>
              <a:t>24BEE0064</a:t>
            </a:r>
            <a:endParaRPr lang="en-US" sz="1100" dirty="0"/>
          </a:p>
        </p:txBody>
      </p:sp>
      <p:sp>
        <p:nvSpPr>
          <p:cNvPr id="21" name="Text 16"/>
          <p:cNvSpPr txBox="1"/>
          <p:nvPr/>
        </p:nvSpPr>
        <p:spPr>
          <a:xfrm>
            <a:off x="4828032" y="3840480"/>
            <a:ext cx="2514600" cy="274320"/>
          </a:xfrm>
          <a:prstGeom prst="rect">
            <a:avLst/>
          </a:prstGeom>
          <a:noFill/>
          <a:ln/>
        </p:spPr>
        <p:txBody>
          <a:bodyPr wrap="square" lIns="0" tIns="0" rIns="0" bIns="0" rtlCol="0" anchor="ctr"/>
          <a:lstStyle/>
          <a:p>
            <a:pPr algn="ctr" indent="0" marL="0">
              <a:buNone/>
            </a:pPr>
            <a:r>
              <a:rPr lang="en-US" sz="1150" b="1" dirty="0">
                <a:solidFill>
                  <a:srgbClr val="CBD5E1"/>
                </a:solidFill>
              </a:rPr>
              <a:t>Software &amp; Testing</a:t>
            </a:r>
            <a:endParaRPr lang="en-US" sz="1150" dirty="0"/>
          </a:p>
        </p:txBody>
      </p:sp>
      <p:sp>
        <p:nvSpPr>
          <p:cNvPr id="22" name="Text 17"/>
          <p:cNvSpPr txBox="1"/>
          <p:nvPr/>
        </p:nvSpPr>
        <p:spPr>
          <a:xfrm>
            <a:off x="5010912" y="4133088"/>
            <a:ext cx="2148840" cy="822960"/>
          </a:xfrm>
          <a:prstGeom prst="rect">
            <a:avLst/>
          </a:prstGeom>
          <a:noFill/>
          <a:ln/>
        </p:spPr>
        <p:txBody>
          <a:bodyPr wrap="square" lIns="0" tIns="0" rIns="0" bIns="0" rtlCol="0" anchor="t"/>
          <a:lstStyle/>
          <a:p>
            <a:pPr algn="ctr" indent="0" marL="0">
              <a:buNone/>
            </a:pPr>
            <a:r>
              <a:rPr lang="en-US" sz="1100" dirty="0">
                <a:solidFill>
                  <a:srgbClr val="94A3B8"/>
                </a:solidFill>
              </a:rPr>
              <a:t>React dashboard, simulation, testing &amp; deployment</a:t>
            </a:r>
            <a:endParaRPr lang="en-US" sz="1100" dirty="0"/>
          </a:p>
        </p:txBody>
      </p:sp>
      <p:sp>
        <p:nvSpPr>
          <p:cNvPr id="23" name="Card"/>
          <p:cNvSpPr/>
          <p:nvPr/>
        </p:nvSpPr>
        <p:spPr>
          <a:xfrm>
            <a:off x="7525512" y="1874520"/>
            <a:ext cx="2514600" cy="3291840"/>
          </a:xfrm>
          <a:prstGeom prst="roundRect">
            <a:avLst>
              <a:gd name="adj" fmla="val 2909"/>
            </a:avLst>
          </a:prstGeom>
          <a:solidFill>
            <a:srgbClr val="242A52"/>
          </a:solidFill>
          <a:ln/>
        </p:spPr>
      </p:sp>
      <p:sp>
        <p:nvSpPr>
          <p:cNvPr id="24" name="Shape 19"/>
          <p:cNvSpPr/>
          <p:nvPr/>
        </p:nvSpPr>
        <p:spPr>
          <a:xfrm>
            <a:off x="8321040" y="2130552"/>
            <a:ext cx="914400" cy="914400"/>
          </a:xfrm>
          <a:prstGeom prst="ellipse">
            <a:avLst/>
          </a:prstGeom>
          <a:solidFill>
            <a:srgbClr val="2C3260"/>
          </a:solidFill>
          <a:ln w="15875">
            <a:solidFill>
              <a:srgbClr val="3B82F6"/>
            </a:solidFill>
            <a:prstDash val="solid"/>
          </a:ln>
        </p:spPr>
      </p:sp>
      <p:pic>
        <p:nvPicPr>
          <p:cNvPr id="25" name="Image 3" descr="preencoded.png">    </p:cNvPr>
          <p:cNvPicPr>
            <a:picLocks noChangeAspect="1"/>
          </p:cNvPicPr>
          <p:nvPr/>
        </p:nvPicPr>
        <p:blipFill>
          <a:blip r:embed="rId4"/>
          <a:stretch>
            <a:fillRect/>
          </a:stretch>
        </p:blipFill>
        <p:spPr>
          <a:xfrm>
            <a:off x="8549640" y="2359152"/>
            <a:ext cx="457200" cy="457200"/>
          </a:xfrm>
          <a:prstGeom prst="rect">
            <a:avLst/>
          </a:prstGeom>
        </p:spPr>
      </p:pic>
      <p:sp>
        <p:nvSpPr>
          <p:cNvPr id="26" name="Text 20"/>
          <p:cNvSpPr txBox="1"/>
          <p:nvPr/>
        </p:nvSpPr>
        <p:spPr>
          <a:xfrm>
            <a:off x="7525512" y="3200400"/>
            <a:ext cx="2514600" cy="320040"/>
          </a:xfrm>
          <a:prstGeom prst="rect">
            <a:avLst/>
          </a:prstGeom>
          <a:noFill/>
          <a:ln/>
        </p:spPr>
        <p:txBody>
          <a:bodyPr wrap="square" lIns="0" tIns="0" rIns="0" bIns="0" rtlCol="0" anchor="ctr"/>
          <a:lstStyle/>
          <a:p>
            <a:pPr algn="ctr" indent="0" marL="0">
              <a:buNone/>
            </a:pPr>
            <a:r>
              <a:rPr lang="en-US" sz="1300" b="1" dirty="0">
                <a:solidFill>
                  <a:srgbClr val="FFFFFF"/>
                </a:solidFill>
              </a:rPr>
              <a:t>Arya Suman</a:t>
            </a:r>
            <a:endParaRPr lang="en-US" sz="1300" dirty="0"/>
          </a:p>
        </p:txBody>
      </p:sp>
      <p:sp>
        <p:nvSpPr>
          <p:cNvPr id="27" name="Text 21"/>
          <p:cNvSpPr txBox="1"/>
          <p:nvPr/>
        </p:nvSpPr>
        <p:spPr>
          <a:xfrm>
            <a:off x="7525512" y="3520440"/>
            <a:ext cx="2514600" cy="274320"/>
          </a:xfrm>
          <a:prstGeom prst="rect">
            <a:avLst/>
          </a:prstGeom>
          <a:noFill/>
          <a:ln/>
        </p:spPr>
        <p:txBody>
          <a:bodyPr wrap="square" lIns="0" tIns="0" rIns="0" bIns="0" rtlCol="0" anchor="ctr"/>
          <a:lstStyle/>
          <a:p>
            <a:pPr algn="ctr" indent="0" marL="0">
              <a:buNone/>
            </a:pPr>
            <a:r>
              <a:rPr lang="en-US" sz="1100" i="1" dirty="0">
                <a:solidFill>
                  <a:srgbClr val="22D3EE"/>
                </a:solidFill>
              </a:rPr>
              <a:t>24BEE0032</a:t>
            </a:r>
            <a:endParaRPr lang="en-US" sz="1100" dirty="0"/>
          </a:p>
        </p:txBody>
      </p:sp>
      <p:sp>
        <p:nvSpPr>
          <p:cNvPr id="28" name="Text 22"/>
          <p:cNvSpPr txBox="1"/>
          <p:nvPr/>
        </p:nvSpPr>
        <p:spPr>
          <a:xfrm>
            <a:off x="7525512" y="3840480"/>
            <a:ext cx="2514600" cy="274320"/>
          </a:xfrm>
          <a:prstGeom prst="rect">
            <a:avLst/>
          </a:prstGeom>
          <a:noFill/>
          <a:ln/>
        </p:spPr>
        <p:txBody>
          <a:bodyPr wrap="square" lIns="0" tIns="0" rIns="0" bIns="0" rtlCol="0" anchor="ctr"/>
          <a:lstStyle/>
          <a:p>
            <a:pPr algn="ctr" indent="0" marL="0">
              <a:buNone/>
            </a:pPr>
            <a:r>
              <a:rPr lang="en-US" sz="1150" b="1" dirty="0">
                <a:solidFill>
                  <a:srgbClr val="CBD5E1"/>
                </a:solidFill>
              </a:rPr>
              <a:t>Research &amp; Hardware</a:t>
            </a:r>
            <a:endParaRPr lang="en-US" sz="1150" dirty="0"/>
          </a:p>
        </p:txBody>
      </p:sp>
      <p:sp>
        <p:nvSpPr>
          <p:cNvPr id="29" name="Text 23"/>
          <p:cNvSpPr txBox="1"/>
          <p:nvPr/>
        </p:nvSpPr>
        <p:spPr>
          <a:xfrm>
            <a:off x="7708392" y="4133088"/>
            <a:ext cx="2148840" cy="822960"/>
          </a:xfrm>
          <a:prstGeom prst="rect">
            <a:avLst/>
          </a:prstGeom>
          <a:noFill/>
          <a:ln/>
        </p:spPr>
        <p:txBody>
          <a:bodyPr wrap="square" lIns="0" tIns="0" rIns="0" bIns="0" rtlCol="0" anchor="t"/>
          <a:lstStyle/>
          <a:p>
            <a:pPr algn="ctr" indent="0" marL="0">
              <a:buNone/>
            </a:pPr>
            <a:r>
              <a:rPr lang="en-US" sz="1100" dirty="0">
                <a:solidFill>
                  <a:srgbClr val="94A3B8"/>
                </a:solidFill>
              </a:rPr>
              <a:t>Problem research, energy analysis &amp; hardware design</a:t>
            </a:r>
            <a:endParaRPr lang="en-US" sz="1100" dirty="0"/>
          </a:p>
        </p:txBody>
      </p:sp>
      <p:sp>
        <p:nvSpPr>
          <p:cNvPr id="30" name="Text 24"/>
          <p:cNvSpPr txBox="1"/>
          <p:nvPr/>
        </p:nvSpPr>
        <p:spPr>
          <a:xfrm>
            <a:off x="640080" y="5532120"/>
            <a:ext cx="9144000" cy="320040"/>
          </a:xfrm>
          <a:prstGeom prst="rect">
            <a:avLst/>
          </a:prstGeom>
          <a:noFill/>
          <a:ln/>
        </p:spPr>
        <p:txBody>
          <a:bodyPr wrap="square" lIns="0" tIns="0" rIns="0" bIns="0" rtlCol="0" anchor="ctr"/>
          <a:lstStyle/>
          <a:p>
            <a:pPr indent="0" marL="0">
              <a:buNone/>
            </a:pPr>
            <a:r>
              <a:rPr lang="en-US" sz="1200" i="1" dirty="0">
                <a:solidFill>
                  <a:srgbClr val="94A3B8"/>
                </a:solidFill>
              </a:rPr>
              <a:t>Faculty Mentor: </a:t>
            </a:r>
            <a:pPr indent="0" marL="0">
              <a:buNone/>
            </a:pPr>
            <a:r>
              <a:rPr lang="en-US" sz="1200" b="1" i="1" dirty="0">
                <a:solidFill>
                  <a:srgbClr val="FFFFFF"/>
                </a:solidFill>
              </a:rPr>
              <a:t>Ravichandra Halagatti</a:t>
            </a:r>
            <a:pPr indent="0" marL="0">
              <a:buNone/>
            </a:pPr>
            <a:r>
              <a:rPr lang="en-US" sz="1200" i="1" dirty="0">
                <a:solidFill>
                  <a:srgbClr val="94A3B8"/>
                </a:solidFill>
              </a:rPr>
              <a:t>        Schneider Mentor: </a:t>
            </a:r>
            <a:pPr indent="0" marL="0">
              <a:buNone/>
            </a:pPr>
            <a:r>
              <a:rPr lang="en-US" sz="1200" i="1" dirty="0">
                <a:solidFill>
                  <a:srgbClr val="94A3B8"/>
                </a:solidFill>
              </a:rPr>
              <a:t>assigned during mentoring phase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14</a:t>
            </a:r>
            <a:endParaRPr lang="en-US" sz="700" dirty="0"/>
          </a:p>
        </p:txBody>
      </p:sp>
      <p:sp>
        <p:nvSpPr>
          <p:cNvPr id="6"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Who Did What</a:t>
            </a:r>
            <a:endParaRPr lang="en-US" sz="3000" dirty="0"/>
          </a:p>
        </p:txBody>
      </p:sp>
      <p:sp>
        <p:nvSpPr>
          <p:cNvPr id="7"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Specific tasks owned by each team member</a:t>
            </a:r>
            <a:endParaRPr lang="en-US" sz="1200" dirty="0"/>
          </a:p>
        </p:txBody>
      </p:sp>
      <p:sp>
        <p:nvSpPr>
          <p:cNvPr id="8" name="Criteria pill"/>
          <p:cNvSpPr/>
          <p:nvPr/>
        </p:nvSpPr>
        <p:spPr>
          <a:xfrm>
            <a:off x="8869680" y="512064"/>
            <a:ext cx="2377440" cy="365760"/>
          </a:xfrm>
          <a:prstGeom prst="roundRect">
            <a:avLst>
              <a:gd name="adj" fmla="val 50000"/>
            </a:avLst>
          </a:prstGeom>
          <a:solidFill>
            <a:srgbClr val="1C3955"/>
          </a:solidFill>
          <a:ln w="15875">
            <a:solidFill>
              <a:srgbClr val="22D3EE"/>
            </a:solidFill>
            <a:prstDash val="solid"/>
          </a:ln>
        </p:spPr>
      </p:sp>
      <p:sp>
        <p:nvSpPr>
          <p:cNvPr id="9" name="Text 7"/>
          <p:cNvSpPr txBox="1"/>
          <p:nvPr/>
        </p:nvSpPr>
        <p:spPr>
          <a:xfrm>
            <a:off x="8869680" y="512064"/>
            <a:ext cx="2377440" cy="365760"/>
          </a:xfrm>
          <a:prstGeom prst="rect">
            <a:avLst/>
          </a:prstGeom>
          <a:noFill/>
          <a:ln/>
        </p:spPr>
        <p:txBody>
          <a:bodyPr wrap="square" lIns="0" tIns="0" rIns="0" bIns="0" rtlCol="0" anchor="ctr"/>
          <a:lstStyle/>
          <a:p>
            <a:pPr algn="ctr" indent="0" marL="0">
              <a:buNone/>
            </a:pPr>
            <a:r>
              <a:rPr lang="en-US" sz="900" b="1" spc="100" kern="0" dirty="0">
                <a:solidFill>
                  <a:srgbClr val="22D3EE"/>
                </a:solidFill>
              </a:rPr>
              <a:t>TEAM CONTRIBUTIONS</a:t>
            </a:r>
            <a:endParaRPr lang="en-US" sz="900" dirty="0"/>
          </a:p>
        </p:txBody>
      </p:sp>
      <p:sp>
        <p:nvSpPr>
          <p:cNvPr id="10" name="Card"/>
          <p:cNvSpPr/>
          <p:nvPr/>
        </p:nvSpPr>
        <p:spPr>
          <a:xfrm>
            <a:off x="640080" y="1691640"/>
            <a:ext cx="3520440" cy="4617720"/>
          </a:xfrm>
          <a:prstGeom prst="roundRect">
            <a:avLst>
              <a:gd name="adj" fmla="val 2078"/>
            </a:avLst>
          </a:prstGeom>
          <a:solidFill>
            <a:srgbClr val="2C3260"/>
          </a:solidFill>
          <a:ln/>
        </p:spPr>
      </p:sp>
      <p:sp>
        <p:nvSpPr>
          <p:cNvPr id="11" name="Shape 9"/>
          <p:cNvSpPr/>
          <p:nvPr/>
        </p:nvSpPr>
        <p:spPr>
          <a:xfrm>
            <a:off x="841248" y="1874520"/>
            <a:ext cx="640080" cy="640080"/>
          </a:xfrm>
          <a:prstGeom prst="ellipse">
            <a:avLst/>
          </a:prstGeom>
          <a:solidFill>
            <a:srgbClr val="242A52"/>
          </a:solidFill>
          <a:ln w="15875">
            <a:solidFill>
              <a:srgbClr val="3B82F6"/>
            </a:solidFill>
            <a:prstDash val="solid"/>
          </a:ln>
        </p:spPr>
      </p:sp>
      <p:pic>
        <p:nvPicPr>
          <p:cNvPr id="12" name="Image 0" descr="preencoded.png">    </p:cNvPr>
          <p:cNvPicPr>
            <a:picLocks noChangeAspect="1"/>
          </p:cNvPicPr>
          <p:nvPr/>
        </p:nvPicPr>
        <p:blipFill>
          <a:blip r:embed="rId1"/>
          <a:stretch>
            <a:fillRect/>
          </a:stretch>
        </p:blipFill>
        <p:spPr>
          <a:xfrm>
            <a:off x="1001268" y="2034540"/>
            <a:ext cx="320040" cy="320040"/>
          </a:xfrm>
          <a:prstGeom prst="rect">
            <a:avLst/>
          </a:prstGeom>
        </p:spPr>
      </p:pic>
      <p:sp>
        <p:nvSpPr>
          <p:cNvPr id="13" name="Text 10"/>
          <p:cNvSpPr txBox="1"/>
          <p:nvPr/>
        </p:nvSpPr>
        <p:spPr>
          <a:xfrm>
            <a:off x="1600200" y="1874520"/>
            <a:ext cx="246888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Suyash Tatiya</a:t>
            </a:r>
            <a:endParaRPr lang="en-US" sz="1400" dirty="0"/>
          </a:p>
          <a:p>
            <a:pPr indent="0" marL="0">
              <a:buNone/>
            </a:pPr>
            <a:r>
              <a:rPr lang="en-US" sz="1100" dirty="0">
                <a:solidFill>
                  <a:srgbClr val="22D3EE"/>
                </a:solidFill>
                <a:latin typeface="Calibri" pitchFamily="34" charset="0"/>
                <a:ea typeface="Calibri" pitchFamily="34" charset="-122"/>
                <a:cs typeface="Calibri" pitchFamily="34" charset="-120"/>
              </a:rPr>
              <a:t>Team Lead · Backend &amp; ML</a:t>
            </a:r>
            <a:endParaRPr lang="en-US" sz="1400" dirty="0"/>
          </a:p>
        </p:txBody>
      </p:sp>
      <p:sp>
        <p:nvSpPr>
          <p:cNvPr id="14" name="Text 11"/>
          <p:cNvSpPr txBox="1"/>
          <p:nvPr/>
        </p:nvSpPr>
        <p:spPr>
          <a:xfrm>
            <a:off x="841248" y="2743200"/>
            <a:ext cx="3154680" cy="2788920"/>
          </a:xfrm>
          <a:prstGeom prst="rect">
            <a:avLst/>
          </a:prstGeom>
          <a:noFill/>
          <a:ln/>
        </p:spPr>
        <p:txBody>
          <a:bodyPr wrap="square" rtlCol="0" anchor="t"/>
          <a:lstStyle/>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System architecture &amp; database design</a:t>
            </a:r>
            <a:endParaRPr lang="en-US" sz="1300" dirty="0"/>
          </a:p>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FastAPI backend and 57 REST APIs</a:t>
            </a:r>
            <a:endParaRPr lang="en-US" sz="1300" dirty="0"/>
          </a:p>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Safety-first decision engine (20 checks)</a:t>
            </a:r>
            <a:endParaRPr lang="en-US" sz="1300" dirty="0"/>
          </a:p>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Isolation Forest pipeline: data, training, metrics</a:t>
            </a:r>
            <a:endParaRPr lang="en-US" sz="1300" dirty="0"/>
          </a:p>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Command flow: acknowledgement &amp; timeouts</a:t>
            </a:r>
            <a:endParaRPr lang="en-US" sz="1300" dirty="0"/>
          </a:p>
        </p:txBody>
      </p:sp>
      <p:sp>
        <p:nvSpPr>
          <p:cNvPr id="15" name="Card"/>
          <p:cNvSpPr/>
          <p:nvPr/>
        </p:nvSpPr>
        <p:spPr>
          <a:xfrm>
            <a:off x="841248" y="5669280"/>
            <a:ext cx="3118104" cy="411480"/>
          </a:xfrm>
          <a:prstGeom prst="roundRect">
            <a:avLst>
              <a:gd name="adj" fmla="val 48889"/>
            </a:avLst>
          </a:prstGeom>
          <a:solidFill>
            <a:srgbClr val="1C3955"/>
          </a:solidFill>
          <a:ln w="15875">
            <a:solidFill>
              <a:srgbClr val="22D3EE"/>
            </a:solidFill>
            <a:prstDash val="solid"/>
          </a:ln>
        </p:spPr>
      </p:sp>
      <p:sp>
        <p:nvSpPr>
          <p:cNvPr id="16" name="Text 13"/>
          <p:cNvSpPr txBox="1"/>
          <p:nvPr/>
        </p:nvSpPr>
        <p:spPr>
          <a:xfrm>
            <a:off x="841248" y="5669280"/>
            <a:ext cx="3118104" cy="411480"/>
          </a:xfrm>
          <a:prstGeom prst="rect">
            <a:avLst/>
          </a:prstGeom>
          <a:noFill/>
          <a:ln/>
        </p:spPr>
        <p:txBody>
          <a:bodyPr wrap="square" lIns="0" tIns="0" rIns="0" bIns="0" rtlCol="0" anchor="ctr"/>
          <a:lstStyle/>
          <a:p>
            <a:pPr algn="ctr" indent="0" marL="0">
              <a:buNone/>
            </a:pPr>
            <a:r>
              <a:rPr lang="en-US" sz="1050" b="1" dirty="0">
                <a:solidFill>
                  <a:srgbClr val="22D3EE"/>
                </a:solidFill>
              </a:rPr>
              <a:t>Presents Part 2: How it works</a:t>
            </a:r>
            <a:endParaRPr lang="en-US" sz="1050" dirty="0"/>
          </a:p>
        </p:txBody>
      </p:sp>
      <p:sp>
        <p:nvSpPr>
          <p:cNvPr id="17" name="Card"/>
          <p:cNvSpPr/>
          <p:nvPr/>
        </p:nvSpPr>
        <p:spPr>
          <a:xfrm>
            <a:off x="4370832" y="1691640"/>
            <a:ext cx="3520440" cy="4617720"/>
          </a:xfrm>
          <a:prstGeom prst="roundRect">
            <a:avLst>
              <a:gd name="adj" fmla="val 2078"/>
            </a:avLst>
          </a:prstGeom>
          <a:solidFill>
            <a:srgbClr val="2C3260"/>
          </a:solidFill>
          <a:ln/>
        </p:spPr>
      </p:sp>
      <p:sp>
        <p:nvSpPr>
          <p:cNvPr id="18" name="Shape 15"/>
          <p:cNvSpPr/>
          <p:nvPr/>
        </p:nvSpPr>
        <p:spPr>
          <a:xfrm>
            <a:off x="4572000" y="1874520"/>
            <a:ext cx="640080" cy="640080"/>
          </a:xfrm>
          <a:prstGeom prst="ellipse">
            <a:avLst/>
          </a:prstGeom>
          <a:solidFill>
            <a:srgbClr val="242A52"/>
          </a:solidFill>
          <a:ln w="15875">
            <a:solidFill>
              <a:srgbClr val="3B82F6"/>
            </a:solidFill>
            <a:prstDash val="solid"/>
          </a:ln>
        </p:spPr>
      </p:sp>
      <p:pic>
        <p:nvPicPr>
          <p:cNvPr id="19" name="Image 1" descr="preencoded.png">    </p:cNvPr>
          <p:cNvPicPr>
            <a:picLocks noChangeAspect="1"/>
          </p:cNvPicPr>
          <p:nvPr/>
        </p:nvPicPr>
        <p:blipFill>
          <a:blip r:embed="rId2"/>
          <a:stretch>
            <a:fillRect/>
          </a:stretch>
        </p:blipFill>
        <p:spPr>
          <a:xfrm>
            <a:off x="4732020" y="2034540"/>
            <a:ext cx="320040" cy="320040"/>
          </a:xfrm>
          <a:prstGeom prst="rect">
            <a:avLst/>
          </a:prstGeom>
        </p:spPr>
      </p:pic>
      <p:sp>
        <p:nvSpPr>
          <p:cNvPr id="20" name="Text 16"/>
          <p:cNvSpPr txBox="1"/>
          <p:nvPr/>
        </p:nvSpPr>
        <p:spPr>
          <a:xfrm>
            <a:off x="5330952" y="1874520"/>
            <a:ext cx="246888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Arjun Gupta</a:t>
            </a:r>
            <a:endParaRPr lang="en-US" sz="1400" dirty="0"/>
          </a:p>
          <a:p>
            <a:pPr indent="0" marL="0">
              <a:buNone/>
            </a:pPr>
            <a:r>
              <a:rPr lang="en-US" sz="1100" dirty="0">
                <a:solidFill>
                  <a:srgbClr val="22D3EE"/>
                </a:solidFill>
                <a:latin typeface="Calibri" pitchFamily="34" charset="0"/>
                <a:ea typeface="Calibri" pitchFamily="34" charset="-122"/>
                <a:cs typeface="Calibri" pitchFamily="34" charset="-120"/>
              </a:rPr>
              <a:t>Frontend, Testing &amp; Deployment</a:t>
            </a:r>
            <a:endParaRPr lang="en-US" sz="1400" dirty="0"/>
          </a:p>
        </p:txBody>
      </p:sp>
      <p:sp>
        <p:nvSpPr>
          <p:cNvPr id="21" name="Text 17"/>
          <p:cNvSpPr txBox="1"/>
          <p:nvPr/>
        </p:nvSpPr>
        <p:spPr>
          <a:xfrm>
            <a:off x="4572000" y="2743200"/>
            <a:ext cx="3154680" cy="2788920"/>
          </a:xfrm>
          <a:prstGeom prst="rect">
            <a:avLst/>
          </a:prstGeom>
          <a:noFill/>
          <a:ln/>
        </p:spPr>
        <p:txBody>
          <a:bodyPr wrap="square" rtlCol="0" anchor="t"/>
          <a:lstStyle/>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React + TypeScript dashboard (12 pages)</a:t>
            </a:r>
            <a:endParaRPr lang="en-US" sz="1300" dirty="0"/>
          </a:p>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Live WebSocket updates &amp; charts</a:t>
            </a:r>
            <a:endParaRPr lang="en-US" sz="1300" dirty="0"/>
          </a:p>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Simulation scenarios &amp; ESP32 emulator runs</a:t>
            </a:r>
            <a:endParaRPr lang="en-US" sz="1300" dirty="0"/>
          </a:p>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Unit + end-to-end (Playwright) tests</a:t>
            </a:r>
            <a:endParaRPr lang="en-US" sz="1300" dirty="0"/>
          </a:p>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Docker &amp; cloud deployment (Vercel, Render)</a:t>
            </a:r>
            <a:endParaRPr lang="en-US" sz="1300" dirty="0"/>
          </a:p>
        </p:txBody>
      </p:sp>
      <p:sp>
        <p:nvSpPr>
          <p:cNvPr id="22" name="Card"/>
          <p:cNvSpPr/>
          <p:nvPr/>
        </p:nvSpPr>
        <p:spPr>
          <a:xfrm>
            <a:off x="4572000" y="5669280"/>
            <a:ext cx="3118104" cy="411480"/>
          </a:xfrm>
          <a:prstGeom prst="roundRect">
            <a:avLst>
              <a:gd name="adj" fmla="val 48889"/>
            </a:avLst>
          </a:prstGeom>
          <a:solidFill>
            <a:srgbClr val="1C3955"/>
          </a:solidFill>
          <a:ln w="15875">
            <a:solidFill>
              <a:srgbClr val="22D3EE"/>
            </a:solidFill>
            <a:prstDash val="solid"/>
          </a:ln>
        </p:spPr>
      </p:sp>
      <p:sp>
        <p:nvSpPr>
          <p:cNvPr id="23" name="Text 19"/>
          <p:cNvSpPr txBox="1"/>
          <p:nvPr/>
        </p:nvSpPr>
        <p:spPr>
          <a:xfrm>
            <a:off x="4572000" y="5669280"/>
            <a:ext cx="3118104" cy="411480"/>
          </a:xfrm>
          <a:prstGeom prst="rect">
            <a:avLst/>
          </a:prstGeom>
          <a:noFill/>
          <a:ln/>
        </p:spPr>
        <p:txBody>
          <a:bodyPr wrap="square" lIns="0" tIns="0" rIns="0" bIns="0" rtlCol="0" anchor="ctr"/>
          <a:lstStyle/>
          <a:p>
            <a:pPr algn="ctr" indent="0" marL="0">
              <a:buNone/>
            </a:pPr>
            <a:r>
              <a:rPr lang="en-US" sz="1050" b="1" dirty="0">
                <a:solidFill>
                  <a:srgbClr val="22D3EE"/>
                </a:solidFill>
              </a:rPr>
              <a:t>Presents Part 3: Software &amp; status</a:t>
            </a:r>
            <a:endParaRPr lang="en-US" sz="1050" dirty="0"/>
          </a:p>
        </p:txBody>
      </p:sp>
      <p:sp>
        <p:nvSpPr>
          <p:cNvPr id="24" name="Card"/>
          <p:cNvSpPr/>
          <p:nvPr/>
        </p:nvSpPr>
        <p:spPr>
          <a:xfrm>
            <a:off x="8101584" y="1691640"/>
            <a:ext cx="3520440" cy="4617720"/>
          </a:xfrm>
          <a:prstGeom prst="roundRect">
            <a:avLst>
              <a:gd name="adj" fmla="val 2078"/>
            </a:avLst>
          </a:prstGeom>
          <a:solidFill>
            <a:srgbClr val="2C3260"/>
          </a:solidFill>
          <a:ln/>
        </p:spPr>
      </p:sp>
      <p:sp>
        <p:nvSpPr>
          <p:cNvPr id="25" name="Shape 21"/>
          <p:cNvSpPr/>
          <p:nvPr/>
        </p:nvSpPr>
        <p:spPr>
          <a:xfrm>
            <a:off x="8302752" y="1874520"/>
            <a:ext cx="640080" cy="640080"/>
          </a:xfrm>
          <a:prstGeom prst="ellipse">
            <a:avLst/>
          </a:prstGeom>
          <a:solidFill>
            <a:srgbClr val="242A52"/>
          </a:solidFill>
          <a:ln w="15875">
            <a:solidFill>
              <a:srgbClr val="3B82F6"/>
            </a:solidFill>
            <a:prstDash val="solid"/>
          </a:ln>
        </p:spPr>
      </p:sp>
      <p:pic>
        <p:nvPicPr>
          <p:cNvPr id="26" name="Image 2" descr="preencoded.png">    </p:cNvPr>
          <p:cNvPicPr>
            <a:picLocks noChangeAspect="1"/>
          </p:cNvPicPr>
          <p:nvPr/>
        </p:nvPicPr>
        <p:blipFill>
          <a:blip r:embed="rId3"/>
          <a:stretch>
            <a:fillRect/>
          </a:stretch>
        </p:blipFill>
        <p:spPr>
          <a:xfrm>
            <a:off x="8462772" y="2034540"/>
            <a:ext cx="320040" cy="320040"/>
          </a:xfrm>
          <a:prstGeom prst="rect">
            <a:avLst/>
          </a:prstGeom>
        </p:spPr>
      </p:pic>
      <p:sp>
        <p:nvSpPr>
          <p:cNvPr id="27" name="Text 22"/>
          <p:cNvSpPr txBox="1"/>
          <p:nvPr/>
        </p:nvSpPr>
        <p:spPr>
          <a:xfrm>
            <a:off x="9061704" y="1874520"/>
            <a:ext cx="2468880" cy="64008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Arya Suman</a:t>
            </a:r>
            <a:endParaRPr lang="en-US" sz="1400" dirty="0"/>
          </a:p>
          <a:p>
            <a:pPr indent="0" marL="0">
              <a:buNone/>
            </a:pPr>
            <a:r>
              <a:rPr lang="en-US" sz="1100" dirty="0">
                <a:solidFill>
                  <a:srgbClr val="22D3EE"/>
                </a:solidFill>
                <a:latin typeface="Calibri" pitchFamily="34" charset="0"/>
                <a:ea typeface="Calibri" pitchFamily="34" charset="-122"/>
                <a:cs typeface="Calibri" pitchFamily="34" charset="-120"/>
              </a:rPr>
              <a:t>Research, Energy &amp; Hardware</a:t>
            </a:r>
            <a:endParaRPr lang="en-US" sz="1400" dirty="0"/>
          </a:p>
        </p:txBody>
      </p:sp>
      <p:sp>
        <p:nvSpPr>
          <p:cNvPr id="28" name="Text 23"/>
          <p:cNvSpPr txBox="1"/>
          <p:nvPr/>
        </p:nvSpPr>
        <p:spPr>
          <a:xfrm>
            <a:off x="8302752" y="2743200"/>
            <a:ext cx="3154680" cy="2788920"/>
          </a:xfrm>
          <a:prstGeom prst="rect">
            <a:avLst/>
          </a:prstGeom>
          <a:noFill/>
          <a:ln/>
        </p:spPr>
        <p:txBody>
          <a:bodyPr wrap="square" rtlCol="0" anchor="t"/>
          <a:lstStyle/>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Problem research &amp; campus energy study</a:t>
            </a:r>
            <a:endParaRPr lang="en-US" sz="1300" dirty="0"/>
          </a:p>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Energy, cost &amp; CO₂ calculation model</a:t>
            </a:r>
            <a:endParaRPr lang="en-US" sz="1300" dirty="0"/>
          </a:p>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Sensor selection &amp; bill of materials</a:t>
            </a:r>
            <a:endParaRPr lang="en-US" sz="1300" dirty="0"/>
          </a:p>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ESP32 wiring plan &amp; firmware protocol</a:t>
            </a:r>
            <a:endParaRPr lang="en-US" sz="1300" dirty="0"/>
          </a:p>
          <a:p>
            <a:pPr marL="152400" indent="-152400">
              <a:spcAft>
                <a:spcPts val="1200"/>
              </a:spcAft>
              <a:buSzPct val="100000"/>
              <a:buChar char="•"/>
            </a:pPr>
            <a:r>
              <a:rPr lang="en-US" sz="1300" dirty="0">
                <a:solidFill>
                  <a:srgbClr val="E2E8F0"/>
                </a:solidFill>
                <a:latin typeface="Calibri" pitchFamily="34" charset="0"/>
                <a:ea typeface="Calibri" pitchFamily="34" charset="-122"/>
                <a:cs typeface="Calibri" pitchFamily="34" charset="-120"/>
              </a:rPr>
              <a:t>Leads hardware build for Final Review</a:t>
            </a:r>
            <a:endParaRPr lang="en-US" sz="1300" dirty="0"/>
          </a:p>
        </p:txBody>
      </p:sp>
      <p:sp>
        <p:nvSpPr>
          <p:cNvPr id="29" name="Card"/>
          <p:cNvSpPr/>
          <p:nvPr/>
        </p:nvSpPr>
        <p:spPr>
          <a:xfrm>
            <a:off x="8302752" y="5669280"/>
            <a:ext cx="3118104" cy="411480"/>
          </a:xfrm>
          <a:prstGeom prst="roundRect">
            <a:avLst>
              <a:gd name="adj" fmla="val 48889"/>
            </a:avLst>
          </a:prstGeom>
          <a:solidFill>
            <a:srgbClr val="1C3955"/>
          </a:solidFill>
          <a:ln w="15875">
            <a:solidFill>
              <a:srgbClr val="22D3EE"/>
            </a:solidFill>
            <a:prstDash val="solid"/>
          </a:ln>
        </p:spPr>
      </p:sp>
      <p:sp>
        <p:nvSpPr>
          <p:cNvPr id="30" name="Text 25"/>
          <p:cNvSpPr txBox="1"/>
          <p:nvPr/>
        </p:nvSpPr>
        <p:spPr>
          <a:xfrm>
            <a:off x="8302752" y="5669280"/>
            <a:ext cx="3118104" cy="411480"/>
          </a:xfrm>
          <a:prstGeom prst="rect">
            <a:avLst/>
          </a:prstGeom>
          <a:noFill/>
          <a:ln/>
        </p:spPr>
        <p:txBody>
          <a:bodyPr wrap="square" lIns="0" tIns="0" rIns="0" bIns="0" rtlCol="0" anchor="ctr"/>
          <a:lstStyle/>
          <a:p>
            <a:pPr algn="ctr" indent="0" marL="0">
              <a:buNone/>
            </a:pPr>
            <a:r>
              <a:rPr lang="en-US" sz="1050" b="1" dirty="0">
                <a:solidFill>
                  <a:srgbClr val="22D3EE"/>
                </a:solidFill>
              </a:rPr>
              <a:t>Presents Part 1: The pitch</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15</a:t>
            </a:r>
            <a:endParaRPr lang="en-US" sz="700" dirty="0"/>
          </a:p>
        </p:txBody>
      </p:sp>
      <p:sp>
        <p:nvSpPr>
          <p:cNvPr id="6" name="Title"/>
          <p:cNvSpPr txBox="1"/>
          <p:nvPr/>
        </p:nvSpPr>
        <p:spPr>
          <a:xfrm>
            <a:off x="640080" y="457200"/>
            <a:ext cx="8229600" cy="594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Roadmap &amp; Next Steps</a:t>
            </a:r>
            <a:endParaRPr lang="en-US" sz="3000" dirty="0"/>
          </a:p>
        </p:txBody>
      </p:sp>
      <p:sp>
        <p:nvSpPr>
          <p:cNvPr id="7" name="Subtitle"/>
          <p:cNvSpPr txBox="1"/>
          <p:nvPr/>
        </p:nvSpPr>
        <p:spPr>
          <a:xfrm>
            <a:off x="640080" y="1069848"/>
            <a:ext cx="8229600" cy="292608"/>
          </a:xfrm>
          <a:prstGeom prst="rect">
            <a:avLst/>
          </a:prstGeom>
          <a:noFill/>
          <a:ln/>
        </p:spPr>
        <p:txBody>
          <a:bodyPr wrap="square" lIns="0" tIns="0" rIns="0" bIns="0" rtlCol="0" anchor="ctr"/>
          <a:lstStyle/>
          <a:p>
            <a:pPr indent="0" marL="0">
              <a:buNone/>
            </a:pPr>
            <a:r>
              <a:rPr lang="en-US" sz="1200" i="1" dirty="0">
                <a:solidFill>
                  <a:srgbClr val="94A3B8"/>
                </a:solidFill>
                <a:latin typeface="Calibri" pitchFamily="34" charset="0"/>
                <a:ea typeface="Calibri" pitchFamily="34" charset="-122"/>
                <a:cs typeface="Calibri" pitchFamily="34" charset="-120"/>
              </a:rPr>
              <a:t>Where this goes beyond the hackathon</a:t>
            </a:r>
            <a:endParaRPr lang="en-US" sz="1200" dirty="0"/>
          </a:p>
        </p:txBody>
      </p:sp>
      <p:pic>
        <p:nvPicPr>
          <p:cNvPr id="8" name="Image 0" descr="preencoded.png">    </p:cNvPr>
          <p:cNvPicPr>
            <a:picLocks noChangeAspect="1"/>
          </p:cNvPicPr>
          <p:nvPr/>
        </p:nvPicPr>
        <p:blipFill>
          <a:blip r:embed="rId1"/>
          <a:stretch>
            <a:fillRect/>
          </a:stretch>
        </p:blipFill>
        <p:spPr>
          <a:xfrm>
            <a:off x="9784080" y="457200"/>
            <a:ext cx="1783080" cy="1508760"/>
          </a:xfrm>
          <a:prstGeom prst="rect">
            <a:avLst/>
          </a:prstGeom>
        </p:spPr>
      </p:pic>
      <p:sp>
        <p:nvSpPr>
          <p:cNvPr id="9" name="Card"/>
          <p:cNvSpPr/>
          <p:nvPr/>
        </p:nvSpPr>
        <p:spPr>
          <a:xfrm>
            <a:off x="640080" y="1828800"/>
            <a:ext cx="10927080" cy="1188720"/>
          </a:xfrm>
          <a:prstGeom prst="roundRect">
            <a:avLst>
              <a:gd name="adj" fmla="val 6154"/>
            </a:avLst>
          </a:prstGeom>
          <a:solidFill>
            <a:srgbClr val="242A52"/>
          </a:solidFill>
          <a:ln/>
        </p:spPr>
      </p:sp>
      <p:sp>
        <p:nvSpPr>
          <p:cNvPr id="10" name="Shape 7"/>
          <p:cNvSpPr/>
          <p:nvPr/>
        </p:nvSpPr>
        <p:spPr>
          <a:xfrm>
            <a:off x="868680" y="2157984"/>
            <a:ext cx="530352" cy="530352"/>
          </a:xfrm>
          <a:prstGeom prst="ellipse">
            <a:avLst/>
          </a:prstGeom>
          <a:solidFill>
            <a:srgbClr val="3774DD"/>
          </a:solidFill>
          <a:ln/>
        </p:spPr>
      </p:sp>
      <p:sp>
        <p:nvSpPr>
          <p:cNvPr id="11" name="Text 8"/>
          <p:cNvSpPr txBox="1"/>
          <p:nvPr/>
        </p:nvSpPr>
        <p:spPr>
          <a:xfrm>
            <a:off x="868680" y="2157984"/>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1</a:t>
            </a:r>
            <a:endParaRPr lang="en-US" sz="1700" dirty="0"/>
          </a:p>
        </p:txBody>
      </p:sp>
      <p:sp>
        <p:nvSpPr>
          <p:cNvPr id="12" name="Text 9"/>
          <p:cNvSpPr txBox="1"/>
          <p:nvPr/>
        </p:nvSpPr>
        <p:spPr>
          <a:xfrm>
            <a:off x="1600200" y="1828800"/>
            <a:ext cx="3017520" cy="1188720"/>
          </a:xfrm>
          <a:prstGeom prst="rect">
            <a:avLst/>
          </a:prstGeom>
          <a:noFill/>
          <a:ln/>
        </p:spPr>
        <p:txBody>
          <a:bodyPr wrap="square" lIns="0" tIns="0" rIns="0" bIns="0" rtlCol="0" anchor="ctr"/>
          <a:lstStyle/>
          <a:p>
            <a:pPr indent="0" marL="0">
              <a:buNone/>
            </a:pPr>
            <a:r>
              <a:rPr lang="en-US" sz="1400" b="1" dirty="0">
                <a:solidFill>
                  <a:srgbClr val="22D3EE"/>
                </a:solidFill>
              </a:rPr>
              <a:t>If Shortlisted</a:t>
            </a:r>
            <a:endParaRPr lang="en-US" sz="1400" dirty="0"/>
          </a:p>
        </p:txBody>
      </p:sp>
      <p:sp>
        <p:nvSpPr>
          <p:cNvPr id="13" name="Text 10"/>
          <p:cNvSpPr txBox="1"/>
          <p:nvPr/>
        </p:nvSpPr>
        <p:spPr>
          <a:xfrm>
            <a:off x="4846320" y="1828800"/>
            <a:ext cx="6492240" cy="1188720"/>
          </a:xfrm>
          <a:prstGeom prst="rect">
            <a:avLst/>
          </a:prstGeom>
          <a:noFill/>
          <a:ln/>
        </p:spPr>
        <p:txBody>
          <a:bodyPr wrap="square" rtlCol="0" anchor="ctr"/>
          <a:lstStyle/>
          <a:p>
            <a:pPr indent="0" marL="0">
              <a:buNone/>
            </a:pPr>
            <a:r>
              <a:rPr lang="en-US" sz="1250" dirty="0">
                <a:solidFill>
                  <a:srgbClr val="E2E8F0"/>
                </a:solidFill>
                <a:latin typeface="Calibri" pitchFamily="34" charset="0"/>
                <a:ea typeface="Calibri" pitchFamily="34" charset="-122"/>
                <a:cs typeface="Calibri" pitchFamily="34" charset="-120"/>
              </a:rPr>
              <a:t>Build and bench-test the ESP32 room node, calibrate the anomaly model on real room-level consumption data, harden the relay and alert logic, and polish the dashboard for the final pitch.</a:t>
            </a:r>
            <a:endParaRPr lang="en-US" sz="1250" dirty="0"/>
          </a:p>
        </p:txBody>
      </p:sp>
      <p:sp>
        <p:nvSpPr>
          <p:cNvPr id="14" name="Card"/>
          <p:cNvSpPr/>
          <p:nvPr/>
        </p:nvSpPr>
        <p:spPr>
          <a:xfrm>
            <a:off x="640080" y="3291840"/>
            <a:ext cx="10927080" cy="1188720"/>
          </a:xfrm>
          <a:prstGeom prst="roundRect">
            <a:avLst>
              <a:gd name="adj" fmla="val 6154"/>
            </a:avLst>
          </a:prstGeom>
          <a:solidFill>
            <a:srgbClr val="242A52"/>
          </a:solidFill>
          <a:ln/>
        </p:spPr>
      </p:sp>
      <p:sp>
        <p:nvSpPr>
          <p:cNvPr id="15" name="Shape 12"/>
          <p:cNvSpPr/>
          <p:nvPr/>
        </p:nvSpPr>
        <p:spPr>
          <a:xfrm>
            <a:off x="868680" y="3621024"/>
            <a:ext cx="530352" cy="530352"/>
          </a:xfrm>
          <a:prstGeom prst="ellipse">
            <a:avLst/>
          </a:prstGeom>
          <a:solidFill>
            <a:srgbClr val="3774DD"/>
          </a:solidFill>
          <a:ln/>
        </p:spPr>
      </p:sp>
      <p:sp>
        <p:nvSpPr>
          <p:cNvPr id="16" name="Text 13"/>
          <p:cNvSpPr txBox="1"/>
          <p:nvPr/>
        </p:nvSpPr>
        <p:spPr>
          <a:xfrm>
            <a:off x="868680" y="3621024"/>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2</a:t>
            </a:r>
            <a:endParaRPr lang="en-US" sz="1700" dirty="0"/>
          </a:p>
        </p:txBody>
      </p:sp>
      <p:sp>
        <p:nvSpPr>
          <p:cNvPr id="17" name="Text 14"/>
          <p:cNvSpPr txBox="1"/>
          <p:nvPr/>
        </p:nvSpPr>
        <p:spPr>
          <a:xfrm>
            <a:off x="1600200" y="3291840"/>
            <a:ext cx="3017520" cy="1188720"/>
          </a:xfrm>
          <a:prstGeom prst="rect">
            <a:avLst/>
          </a:prstGeom>
          <a:noFill/>
          <a:ln/>
        </p:spPr>
        <p:txBody>
          <a:bodyPr wrap="square" lIns="0" tIns="0" rIns="0" bIns="0" rtlCol="0" anchor="ctr"/>
          <a:lstStyle/>
          <a:p>
            <a:pPr indent="0" marL="0">
              <a:buNone/>
            </a:pPr>
            <a:r>
              <a:rPr lang="en-US" sz="1400" b="1" dirty="0">
                <a:solidFill>
                  <a:srgbClr val="22D3EE"/>
                </a:solidFill>
              </a:rPr>
              <a:t>If Selected as Winner</a:t>
            </a:r>
            <a:endParaRPr lang="en-US" sz="1400" dirty="0"/>
          </a:p>
        </p:txBody>
      </p:sp>
      <p:sp>
        <p:nvSpPr>
          <p:cNvPr id="18" name="Text 15"/>
          <p:cNvSpPr txBox="1"/>
          <p:nvPr/>
        </p:nvSpPr>
        <p:spPr>
          <a:xfrm>
            <a:off x="4846320" y="3291840"/>
            <a:ext cx="6492240" cy="1188720"/>
          </a:xfrm>
          <a:prstGeom prst="rect">
            <a:avLst/>
          </a:prstGeom>
          <a:noFill/>
          <a:ln/>
        </p:spPr>
        <p:txBody>
          <a:bodyPr wrap="square" rtlCol="0" anchor="ctr"/>
          <a:lstStyle/>
          <a:p>
            <a:pPr indent="0" marL="0">
              <a:buNone/>
            </a:pPr>
            <a:r>
              <a:rPr lang="en-US" sz="1250" dirty="0">
                <a:solidFill>
                  <a:srgbClr val="E2E8F0"/>
                </a:solidFill>
                <a:latin typeface="Calibri" pitchFamily="34" charset="0"/>
                <a:ea typeface="Calibri" pitchFamily="34" charset="-122"/>
                <a:cs typeface="Calibri" pitchFamily="34" charset="-120"/>
              </a:rPr>
              <a:t>Use the Schneider internship to pilot Smart Energy Guardian in live campus buildings and align it with professional energy-management practice.</a:t>
            </a:r>
            <a:endParaRPr lang="en-US" sz="1250" dirty="0"/>
          </a:p>
        </p:txBody>
      </p:sp>
      <p:sp>
        <p:nvSpPr>
          <p:cNvPr id="19" name="Card"/>
          <p:cNvSpPr/>
          <p:nvPr/>
        </p:nvSpPr>
        <p:spPr>
          <a:xfrm>
            <a:off x="640080" y="4754880"/>
            <a:ext cx="10927080" cy="1188720"/>
          </a:xfrm>
          <a:prstGeom prst="roundRect">
            <a:avLst>
              <a:gd name="adj" fmla="val 6154"/>
            </a:avLst>
          </a:prstGeom>
          <a:solidFill>
            <a:srgbClr val="242A52"/>
          </a:solidFill>
          <a:ln/>
        </p:spPr>
      </p:sp>
      <p:sp>
        <p:nvSpPr>
          <p:cNvPr id="20" name="Shape 17"/>
          <p:cNvSpPr/>
          <p:nvPr/>
        </p:nvSpPr>
        <p:spPr>
          <a:xfrm>
            <a:off x="868680" y="5084064"/>
            <a:ext cx="530352" cy="530352"/>
          </a:xfrm>
          <a:prstGeom prst="ellipse">
            <a:avLst/>
          </a:prstGeom>
          <a:solidFill>
            <a:srgbClr val="3774DD"/>
          </a:solidFill>
          <a:ln/>
        </p:spPr>
      </p:sp>
      <p:sp>
        <p:nvSpPr>
          <p:cNvPr id="21" name="Text 18"/>
          <p:cNvSpPr txBox="1"/>
          <p:nvPr/>
        </p:nvSpPr>
        <p:spPr>
          <a:xfrm>
            <a:off x="868680" y="5084064"/>
            <a:ext cx="530352" cy="530352"/>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3</a:t>
            </a:r>
            <a:endParaRPr lang="en-US" sz="1700" dirty="0"/>
          </a:p>
        </p:txBody>
      </p:sp>
      <p:sp>
        <p:nvSpPr>
          <p:cNvPr id="22" name="Text 19"/>
          <p:cNvSpPr txBox="1"/>
          <p:nvPr/>
        </p:nvSpPr>
        <p:spPr>
          <a:xfrm>
            <a:off x="1600200" y="4754880"/>
            <a:ext cx="3017520" cy="1188720"/>
          </a:xfrm>
          <a:prstGeom prst="rect">
            <a:avLst/>
          </a:prstGeom>
          <a:noFill/>
          <a:ln/>
        </p:spPr>
        <p:txBody>
          <a:bodyPr wrap="square" lIns="0" tIns="0" rIns="0" bIns="0" rtlCol="0" anchor="ctr"/>
          <a:lstStyle/>
          <a:p>
            <a:pPr indent="0" marL="0">
              <a:buNone/>
            </a:pPr>
            <a:r>
              <a:rPr lang="en-US" sz="1400" b="1" dirty="0">
                <a:solidFill>
                  <a:srgbClr val="22D3EE"/>
                </a:solidFill>
              </a:rPr>
              <a:t>Long-Term Vision</a:t>
            </a:r>
            <a:endParaRPr lang="en-US" sz="1400" dirty="0"/>
          </a:p>
        </p:txBody>
      </p:sp>
      <p:sp>
        <p:nvSpPr>
          <p:cNvPr id="23" name="Text 20"/>
          <p:cNvSpPr txBox="1"/>
          <p:nvPr/>
        </p:nvSpPr>
        <p:spPr>
          <a:xfrm>
            <a:off x="4846320" y="4754880"/>
            <a:ext cx="6492240" cy="1188720"/>
          </a:xfrm>
          <a:prstGeom prst="rect">
            <a:avLst/>
          </a:prstGeom>
          <a:noFill/>
          <a:ln/>
        </p:spPr>
        <p:txBody>
          <a:bodyPr wrap="square" rtlCol="0" anchor="ctr"/>
          <a:lstStyle/>
          <a:p>
            <a:pPr indent="0" marL="0">
              <a:buNone/>
            </a:pPr>
            <a:r>
              <a:rPr lang="en-US" sz="1250" dirty="0">
                <a:solidFill>
                  <a:srgbClr val="E2E8F0"/>
                </a:solidFill>
                <a:latin typeface="Calibri" pitchFamily="34" charset="0"/>
                <a:ea typeface="Calibri" pitchFamily="34" charset="-122"/>
                <a:cs typeface="Calibri" pitchFamily="34" charset="-120"/>
              </a:rPr>
              <a:t>Scale into a deployable blueprint for smart campuses, hostels and commercial buildings — with mobile alerts, people counting and multi-building reports — to achieve measurable net-zero goals.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B1F3B"/>
        </a:solidFill>
      </p:bgPr>
    </p:bg>
    <p:spTree>
      <p:nvGrpSpPr>
        <p:cNvPr id="1" name=""/>
        <p:cNvGrpSpPr/>
        <p:nvPr/>
      </p:nvGrpSpPr>
      <p:grpSpPr>
        <a:xfrm>
          <a:off x="0" y="0"/>
          <a:ext cx="0" cy="0"/>
          <a:chOff x="0" y="0"/>
          <a:chExt cx="0" cy="0"/>
        </a:xfrm>
      </p:grpSpPr>
      <p:sp>
        <p:nvSpPr>
          <p:cNvPr id="2" name="Deco circle top"/>
          <p:cNvSpPr/>
          <p:nvPr/>
        </p:nvSpPr>
        <p:spPr>
          <a:xfrm>
            <a:off x="10241280" y="-1417320"/>
            <a:ext cx="3931920" cy="3931920"/>
          </a:xfrm>
          <a:prstGeom prst="ellipse">
            <a:avLst/>
          </a:prstGeom>
          <a:solidFill>
            <a:srgbClr val="1E2B51"/>
          </a:solidFill>
          <a:ln/>
        </p:spPr>
      </p:sp>
      <p:sp>
        <p:nvSpPr>
          <p:cNvPr id="3" name="Deco circle bottom"/>
          <p:cNvSpPr/>
          <p:nvPr/>
        </p:nvSpPr>
        <p:spPr>
          <a:xfrm>
            <a:off x="-1188720" y="4846320"/>
            <a:ext cx="3383280" cy="3383280"/>
          </a:xfrm>
          <a:prstGeom prst="ellipse">
            <a:avLst/>
          </a:prstGeom>
          <a:solidFill>
            <a:srgbClr val="1B314D"/>
          </a:solidFill>
          <a:ln/>
        </p:spPr>
      </p:sp>
      <p:sp>
        <p:nvSpPr>
          <p:cNvPr id="4" name="Text 2"/>
          <p:cNvSpPr txBox="1"/>
          <p:nvPr/>
        </p:nvSpPr>
        <p:spPr>
          <a:xfrm>
            <a:off x="502920" y="6583680"/>
            <a:ext cx="4572000" cy="182880"/>
          </a:xfrm>
          <a:prstGeom prst="rect">
            <a:avLst/>
          </a:prstGeom>
          <a:noFill/>
          <a:ln/>
        </p:spPr>
        <p:txBody>
          <a:bodyPr wrap="square" lIns="0" tIns="0" rIns="0" bIns="0" rtlCol="0" anchor="ctr"/>
          <a:lstStyle/>
          <a:p>
            <a:pPr indent="0" marL="0">
              <a:buNone/>
            </a:pPr>
            <a:r>
              <a:rPr lang="en-US" sz="700" dirty="0">
                <a:solidFill>
                  <a:srgbClr val="94A3B8"/>
                </a:solidFill>
                <a:latin typeface="Calibri" pitchFamily="34" charset="0"/>
                <a:ea typeface="Calibri" pitchFamily="34" charset="-122"/>
                <a:cs typeface="Calibri" pitchFamily="34" charset="-120"/>
              </a:rPr>
              <a:t>Jack Schneider  ·  PredictX Campus Hackathon</a:t>
            </a:r>
            <a:endParaRPr lang="en-US" sz="700" dirty="0"/>
          </a:p>
        </p:txBody>
      </p:sp>
      <p:sp>
        <p:nvSpPr>
          <p:cNvPr id="5" name="Text 3"/>
          <p:cNvSpPr txBox="1"/>
          <p:nvPr/>
        </p:nvSpPr>
        <p:spPr>
          <a:xfrm>
            <a:off x="11247120" y="6583680"/>
            <a:ext cx="457200" cy="182880"/>
          </a:xfrm>
          <a:prstGeom prst="rect">
            <a:avLst/>
          </a:prstGeom>
          <a:noFill/>
          <a:ln/>
        </p:spPr>
        <p:txBody>
          <a:bodyPr wrap="square" lIns="0" tIns="0" rIns="0" bIns="0" rtlCol="0" anchor="ctr"/>
          <a:lstStyle/>
          <a:p>
            <a:pPr algn="r" indent="0" marL="0">
              <a:buNone/>
            </a:pPr>
            <a:r>
              <a:rPr lang="en-US" sz="700" dirty="0">
                <a:solidFill>
                  <a:srgbClr val="94A3B8"/>
                </a:solidFill>
                <a:latin typeface="Calibri" pitchFamily="34" charset="0"/>
                <a:ea typeface="Calibri" pitchFamily="34" charset="-122"/>
                <a:cs typeface="Calibri" pitchFamily="34" charset="-120"/>
              </a:rPr>
              <a:t>16</a:t>
            </a:r>
            <a:endParaRPr lang="en-US" sz="700" dirty="0"/>
          </a:p>
        </p:txBody>
      </p:sp>
      <p:pic>
        <p:nvPicPr>
          <p:cNvPr id="6" name="Image 0" descr="preencoded.png">    </p:cNvPr>
          <p:cNvPicPr>
            <a:picLocks noChangeAspect="1"/>
          </p:cNvPicPr>
          <p:nvPr/>
        </p:nvPicPr>
        <p:blipFill>
          <a:blip r:embed="rId1"/>
          <a:stretch>
            <a:fillRect/>
          </a:stretch>
        </p:blipFill>
        <p:spPr>
          <a:xfrm>
            <a:off x="5349240" y="1600200"/>
            <a:ext cx="1508760" cy="1051560"/>
          </a:xfrm>
          <a:prstGeom prst="rect">
            <a:avLst/>
          </a:prstGeom>
        </p:spPr>
      </p:pic>
      <p:sp>
        <p:nvSpPr>
          <p:cNvPr id="7" name="Text 4"/>
          <p:cNvSpPr txBox="1"/>
          <p:nvPr/>
        </p:nvSpPr>
        <p:spPr>
          <a:xfrm>
            <a:off x="1828800" y="3063240"/>
            <a:ext cx="8531352" cy="77724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8" name="Text 5"/>
          <p:cNvSpPr txBox="1"/>
          <p:nvPr/>
        </p:nvSpPr>
        <p:spPr>
          <a:xfrm>
            <a:off x="1828800" y="3931920"/>
            <a:ext cx="8531352" cy="365760"/>
          </a:xfrm>
          <a:prstGeom prst="rect">
            <a:avLst/>
          </a:prstGeom>
          <a:noFill/>
          <a:ln/>
        </p:spPr>
        <p:txBody>
          <a:bodyPr wrap="square" lIns="0" tIns="0" rIns="0" bIns="0" rtlCol="0" anchor="ctr"/>
          <a:lstStyle/>
          <a:p>
            <a:pPr algn="ctr" indent="0" marL="0">
              <a:buNone/>
            </a:pPr>
            <a:r>
              <a:rPr lang="en-US" sz="1500" i="1" dirty="0">
                <a:solidFill>
                  <a:srgbClr val="22D3EE"/>
                </a:solidFill>
              </a:rPr>
              <a:t>Jack Schneider  ·  Questions Welcome</a:t>
            </a:r>
            <a:endParaRPr lang="en-US" sz="1500" dirty="0"/>
          </a:p>
        </p:txBody>
      </p:sp>
      <p:sp>
        <p:nvSpPr>
          <p:cNvPr id="9" name="Text 6"/>
          <p:cNvSpPr txBox="1"/>
          <p:nvPr/>
        </p:nvSpPr>
        <p:spPr>
          <a:xfrm>
            <a:off x="1828800" y="4434840"/>
            <a:ext cx="8531352" cy="320040"/>
          </a:xfrm>
          <a:prstGeom prst="rect">
            <a:avLst/>
          </a:prstGeom>
          <a:noFill/>
          <a:ln/>
        </p:spPr>
        <p:txBody>
          <a:bodyPr wrap="square" lIns="0" tIns="0" rIns="0" bIns="0" rtlCol="0" anchor="ctr"/>
          <a:lstStyle/>
          <a:p>
            <a:pPr algn="ctr" indent="0" marL="0">
              <a:buNone/>
            </a:pPr>
            <a:r>
              <a:rPr lang="en-US" sz="1200" dirty="0">
                <a:solidFill>
                  <a:srgbClr val="CBD5E1"/>
                </a:solidFill>
              </a:rPr>
              <a:t>Suyash Tatiya  ·  Arjun Gupta  ·  Arya Suman     |     Faculty Mentor: Ravichandra Halagatti</a:t>
            </a:r>
            <a:endParaRPr lang="en-US" sz="1200" dirty="0"/>
          </a:p>
        </p:txBody>
      </p:sp>
      <p:sp>
        <p:nvSpPr>
          <p:cNvPr id="10" name="Text 7"/>
          <p:cNvSpPr txBox="1"/>
          <p:nvPr/>
        </p:nvSpPr>
        <p:spPr>
          <a:xfrm>
            <a:off x="1828800" y="4846320"/>
            <a:ext cx="8531352" cy="320040"/>
          </a:xfrm>
          <a:prstGeom prst="rect">
            <a:avLst/>
          </a:prstGeom>
          <a:noFill/>
          <a:ln/>
        </p:spPr>
        <p:txBody>
          <a:bodyPr wrap="square" lIns="0" tIns="0" rIns="0" bIns="0" rtlCol="0" anchor="ctr"/>
          <a:lstStyle/>
          <a:p>
            <a:pPr algn="ctr" indent="0" marL="0">
              <a:buNone/>
            </a:pPr>
            <a:r>
              <a:rPr lang="en-US" sz="1200" i="1" dirty="0">
                <a:solidFill>
                  <a:srgbClr val="94A3B8"/>
                </a:solidFill>
              </a:rPr>
              <a:t>suyash.tatiya2024@vitstudent.ac.in</a:t>
            </a:r>
            <a:endParaRPr lang="en-US" sz="1200" dirty="0"/>
          </a:p>
        </p:txBody>
      </p:sp>
    </p:spTree>
  </p:cSld>
  <p:clrMapOvr>
    <a:masterClrMapping/>
  </p:clrMapOvr>
</p:sld>
</file>

<file path=ppt/theme/theme1.xml><?xml version="1.0" encoding="utf-8"?>
<a:theme xmlns:a="http://schemas.openxmlformats.org/drawingml/2006/main" name="PredictX Navy">
  <a:themeElements>
    <a:clrScheme name="PredictX Navy">
      <a:dk1>
        <a:srgbClr val="1B1F3B"/>
      </a:dk1>
      <a:lt1>
        <a:srgbClr val="FFFFFF"/>
      </a:lt1>
      <a:dk2>
        <a:srgbClr val="242A52"/>
      </a:dk2>
      <a:lt2>
        <a:srgbClr val="E2E8F0"/>
      </a:lt2>
      <a:accent1>
        <a:srgbClr val="22D3EE"/>
      </a:accent1>
      <a:accent2>
        <a:srgbClr val="3B82F6"/>
      </a:accent2>
      <a:accent3>
        <a:srgbClr val="34D399"/>
      </a:accent3>
      <a:accent4>
        <a:srgbClr val="FBBF24"/>
      </a:accent4>
      <a:accent5>
        <a:srgbClr val="2C3260"/>
      </a:accent5>
      <a:accent6>
        <a:srgbClr val="94A3B8"/>
      </a:accent6>
      <a:hlink>
        <a:srgbClr val="22D3EE"/>
      </a:hlink>
      <a:folHlink>
        <a:srgbClr val="94A3B8"/>
      </a:folHlink>
    </a:clrScheme>
    <a:fontScheme name="PredictX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Energy Guardian — PredictX Pitch Deck</dc:title>
  <dc:subject>PptxGenJS Presentation</dc:subject>
  <dc:creator>Suyash Tatiya, Arjun Gupta, Arya Suman</dc:creator>
  <cp:lastModifiedBy>Suyash Tatiya, Arjun Gupta, Arya Suman</cp:lastModifiedBy>
  <cp:revision>1</cp:revision>
  <dcterms:created xsi:type="dcterms:W3CDTF">2026-10-14T04:07:55Z</dcterms:created>
  <dcterms:modified xsi:type="dcterms:W3CDTF">2026-10-14T04:07:55Z</dcterms:modified>
</cp:coreProperties>
</file>